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2" r:id="rId3"/>
    <p:sldId id="273" r:id="rId4"/>
    <p:sldId id="302" r:id="rId5"/>
    <p:sldId id="303" r:id="rId6"/>
    <p:sldId id="274" r:id="rId7"/>
    <p:sldId id="285" r:id="rId8"/>
    <p:sldId id="281" r:id="rId9"/>
    <p:sldId id="278" r:id="rId10"/>
    <p:sldId id="280" r:id="rId11"/>
    <p:sldId id="282" r:id="rId12"/>
    <p:sldId id="296" r:id="rId13"/>
    <p:sldId id="297" r:id="rId14"/>
    <p:sldId id="283" r:id="rId15"/>
    <p:sldId id="284" r:id="rId16"/>
    <p:sldId id="290" r:id="rId17"/>
    <p:sldId id="291" r:id="rId18"/>
    <p:sldId id="287" r:id="rId19"/>
    <p:sldId id="289" r:id="rId20"/>
    <p:sldId id="295" r:id="rId21"/>
    <p:sldId id="294" r:id="rId22"/>
    <p:sldId id="304" r:id="rId23"/>
    <p:sldId id="305" r:id="rId24"/>
    <p:sldId id="276" r:id="rId25"/>
    <p:sldId id="306" r:id="rId26"/>
    <p:sldId id="298" r:id="rId27"/>
    <p:sldId id="307" r:id="rId28"/>
    <p:sldId id="300" r:id="rId29"/>
    <p:sldId id="308" r:id="rId30"/>
    <p:sldId id="275" r:id="rId31"/>
    <p:sldId id="301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BB61EF0-53F3-4F4D-BAF7-AB04C08333C4}">
          <p14:sldIdLst>
            <p14:sldId id="256"/>
            <p14:sldId id="272"/>
            <p14:sldId id="273"/>
            <p14:sldId id="302"/>
            <p14:sldId id="303"/>
            <p14:sldId id="274"/>
            <p14:sldId id="285"/>
            <p14:sldId id="281"/>
            <p14:sldId id="278"/>
            <p14:sldId id="280"/>
            <p14:sldId id="282"/>
            <p14:sldId id="296"/>
            <p14:sldId id="297"/>
            <p14:sldId id="283"/>
            <p14:sldId id="284"/>
            <p14:sldId id="290"/>
            <p14:sldId id="291"/>
            <p14:sldId id="287"/>
            <p14:sldId id="289"/>
            <p14:sldId id="295"/>
            <p14:sldId id="294"/>
            <p14:sldId id="304"/>
            <p14:sldId id="305"/>
            <p14:sldId id="276"/>
            <p14:sldId id="306"/>
            <p14:sldId id="298"/>
            <p14:sldId id="307"/>
            <p14:sldId id="300"/>
            <p14:sldId id="308"/>
            <p14:sldId id="275"/>
            <p14:sldId id="30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EF19DC9-01FA-43AF-9A6A-DDF421BDA219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8B72BDD-ED7B-4A53-B4EB-44D9A8AD02F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dirty="0"/>
            <a:t>Flexcube is developed by CITIL (Citicorp Information Technologies Industrial Limited) at it’s Bangalore Center in mid 90’s</a:t>
          </a:r>
        </a:p>
      </dgm:t>
    </dgm:pt>
    <dgm:pt modelId="{83A67A18-0432-44BD-9906-2A95D60D7DEF}" type="parTrans" cxnId="{001A3C94-7BD9-45E3-9C34-5D86A31BC950}">
      <dgm:prSet/>
      <dgm:spPr/>
      <dgm:t>
        <a:bodyPr/>
        <a:lstStyle/>
        <a:p>
          <a:endParaRPr lang="en-US"/>
        </a:p>
      </dgm:t>
    </dgm:pt>
    <dgm:pt modelId="{4D3E46D4-3409-46D3-A1F7-C680F17446D3}" type="sibTrans" cxnId="{001A3C94-7BD9-45E3-9C34-5D86A31BC95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BB7967E-E00F-40C6-9542-17214CD4967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dirty="0"/>
            <a:t>Company name changed from CITIL to I-Flex in mid 90s after launch of Flexcube</a:t>
          </a:r>
        </a:p>
      </dgm:t>
    </dgm:pt>
    <dgm:pt modelId="{9054AE92-3E1A-46E5-83C5-F9CEBA3F9E1E}" type="parTrans" cxnId="{E5CC16C6-7F5E-4829-B866-AEC2F6C2FF30}">
      <dgm:prSet/>
      <dgm:spPr/>
      <dgm:t>
        <a:bodyPr/>
        <a:lstStyle/>
        <a:p>
          <a:endParaRPr lang="en-US"/>
        </a:p>
      </dgm:t>
    </dgm:pt>
    <dgm:pt modelId="{49426F5D-F945-419C-9A12-1DF52A9E5C70}" type="sibTrans" cxnId="{E5CC16C6-7F5E-4829-B866-AEC2F6C2FF3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B7EA399-05C0-4ADA-957B-96E951D899DB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dirty="0"/>
            <a:t>I-Flex was acquired by Oracle named OFSS (Oracle Financial Services Limited) in 2008</a:t>
          </a:r>
        </a:p>
      </dgm:t>
    </dgm:pt>
    <dgm:pt modelId="{E61EEE15-86B2-4D09-9DC6-385AB60C3FF5}" type="parTrans" cxnId="{DA527A62-C054-456C-8A8B-61DACB2E0CF1}">
      <dgm:prSet/>
      <dgm:spPr/>
      <dgm:t>
        <a:bodyPr/>
        <a:lstStyle/>
        <a:p>
          <a:endParaRPr lang="en-US"/>
        </a:p>
      </dgm:t>
    </dgm:pt>
    <dgm:pt modelId="{65230F5D-B580-4EDC-8BCE-44088F6CA0F7}" type="sibTrans" cxnId="{DA527A62-C054-456C-8A8B-61DACB2E0CF1}">
      <dgm:prSet/>
      <dgm:spPr/>
      <dgm:t>
        <a:bodyPr/>
        <a:lstStyle/>
        <a:p>
          <a:endParaRPr lang="en-US"/>
        </a:p>
      </dgm:t>
    </dgm:pt>
    <dgm:pt modelId="{78F32E76-1546-4A8F-9622-E4411BAC28B6}" type="pres">
      <dgm:prSet presAssocID="{AEF19DC9-01FA-43AF-9A6A-DDF421BDA219}" presName="root" presStyleCnt="0">
        <dgm:presLayoutVars>
          <dgm:dir/>
          <dgm:resizeHandles val="exact"/>
        </dgm:presLayoutVars>
      </dgm:prSet>
      <dgm:spPr/>
    </dgm:pt>
    <dgm:pt modelId="{0D93060C-6117-4C51-B8A3-1F7D3F3EFFAB}" type="pres">
      <dgm:prSet presAssocID="{AEF19DC9-01FA-43AF-9A6A-DDF421BDA219}" presName="container" presStyleCnt="0">
        <dgm:presLayoutVars>
          <dgm:dir/>
          <dgm:resizeHandles val="exact"/>
        </dgm:presLayoutVars>
      </dgm:prSet>
      <dgm:spPr/>
    </dgm:pt>
    <dgm:pt modelId="{34128B4C-B375-4CCC-BAC5-BFFF7407CB15}" type="pres">
      <dgm:prSet presAssocID="{38B72BDD-ED7B-4A53-B4EB-44D9A8AD02FE}" presName="compNode" presStyleCnt="0"/>
      <dgm:spPr/>
    </dgm:pt>
    <dgm:pt modelId="{AD312651-0BE1-4C95-B802-9BFCD732BDB1}" type="pres">
      <dgm:prSet presAssocID="{38B72BDD-ED7B-4A53-B4EB-44D9A8AD02FE}" presName="iconBgRect" presStyleLbl="bgShp" presStyleIdx="0" presStyleCnt="3"/>
      <dgm:spPr/>
    </dgm:pt>
    <dgm:pt modelId="{5B7709E2-5BC1-45A8-88FD-3D8968BFB648}" type="pres">
      <dgm:prSet presAssocID="{38B72BDD-ED7B-4A53-B4EB-44D9A8AD02FE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actory"/>
        </a:ext>
      </dgm:extLst>
    </dgm:pt>
    <dgm:pt modelId="{950E6FCB-A607-451A-A1B8-4B9D406099EC}" type="pres">
      <dgm:prSet presAssocID="{38B72BDD-ED7B-4A53-B4EB-44D9A8AD02FE}" presName="spaceRect" presStyleCnt="0"/>
      <dgm:spPr/>
    </dgm:pt>
    <dgm:pt modelId="{1E861BEB-6DCD-4564-B4EC-FD5AA6683936}" type="pres">
      <dgm:prSet presAssocID="{38B72BDD-ED7B-4A53-B4EB-44D9A8AD02FE}" presName="textRect" presStyleLbl="revTx" presStyleIdx="0" presStyleCnt="3">
        <dgm:presLayoutVars>
          <dgm:chMax val="1"/>
          <dgm:chPref val="1"/>
        </dgm:presLayoutVars>
      </dgm:prSet>
      <dgm:spPr/>
    </dgm:pt>
    <dgm:pt modelId="{6D02C6B1-79F2-4DB7-BF0E-C20F86716F4C}" type="pres">
      <dgm:prSet presAssocID="{4D3E46D4-3409-46D3-A1F7-C680F17446D3}" presName="sibTrans" presStyleLbl="sibTrans2D1" presStyleIdx="0" presStyleCnt="0"/>
      <dgm:spPr/>
    </dgm:pt>
    <dgm:pt modelId="{9D84BB13-5898-4466-A936-1B470640895D}" type="pres">
      <dgm:prSet presAssocID="{BBB7967E-E00F-40C6-9542-17214CD49673}" presName="compNode" presStyleCnt="0"/>
      <dgm:spPr/>
    </dgm:pt>
    <dgm:pt modelId="{6D14B36B-F5A8-44A1-B84B-6363FE15929B}" type="pres">
      <dgm:prSet presAssocID="{BBB7967E-E00F-40C6-9542-17214CD49673}" presName="iconBgRect" presStyleLbl="bgShp" presStyleIdx="1" presStyleCnt="3"/>
      <dgm:spPr/>
    </dgm:pt>
    <dgm:pt modelId="{87B7B1FE-4511-43EE-80C8-B50A3A1DAF3A}" type="pres">
      <dgm:prSet presAssocID="{BBB7967E-E00F-40C6-9542-17214CD49673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75DD6A7C-838F-4AB3-B8DF-A97B237D403D}" type="pres">
      <dgm:prSet presAssocID="{BBB7967E-E00F-40C6-9542-17214CD49673}" presName="spaceRect" presStyleCnt="0"/>
      <dgm:spPr/>
    </dgm:pt>
    <dgm:pt modelId="{4F2F27AE-2CDB-4F2C-90C9-0BDDC4075ADB}" type="pres">
      <dgm:prSet presAssocID="{BBB7967E-E00F-40C6-9542-17214CD49673}" presName="textRect" presStyleLbl="revTx" presStyleIdx="1" presStyleCnt="3">
        <dgm:presLayoutVars>
          <dgm:chMax val="1"/>
          <dgm:chPref val="1"/>
        </dgm:presLayoutVars>
      </dgm:prSet>
      <dgm:spPr/>
    </dgm:pt>
    <dgm:pt modelId="{534B4E2E-2AA4-4FE8-8319-FE59B3B277B7}" type="pres">
      <dgm:prSet presAssocID="{49426F5D-F945-419C-9A12-1DF52A9E5C70}" presName="sibTrans" presStyleLbl="sibTrans2D1" presStyleIdx="0" presStyleCnt="0"/>
      <dgm:spPr/>
    </dgm:pt>
    <dgm:pt modelId="{D4E022C5-51B0-4DED-9813-7B4DB1B3B4E3}" type="pres">
      <dgm:prSet presAssocID="{0B7EA399-05C0-4ADA-957B-96E951D899DB}" presName="compNode" presStyleCnt="0"/>
      <dgm:spPr/>
    </dgm:pt>
    <dgm:pt modelId="{2CD14FE6-2390-4A94-A8FC-2FDA3CB7C0BC}" type="pres">
      <dgm:prSet presAssocID="{0B7EA399-05C0-4ADA-957B-96E951D899DB}" presName="iconBgRect" presStyleLbl="bgShp" presStyleIdx="2" presStyleCnt="3"/>
      <dgm:spPr/>
    </dgm:pt>
    <dgm:pt modelId="{EC6CA3FC-2182-4141-B72D-5A39F0EF2045}" type="pres">
      <dgm:prSet presAssocID="{0B7EA399-05C0-4ADA-957B-96E951D899DB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FFDBCD50-280F-42D2-81A1-EC3976C02363}" type="pres">
      <dgm:prSet presAssocID="{0B7EA399-05C0-4ADA-957B-96E951D899DB}" presName="spaceRect" presStyleCnt="0"/>
      <dgm:spPr/>
    </dgm:pt>
    <dgm:pt modelId="{57C4DE2E-F0DF-4A41-BC90-8AE3BE702128}" type="pres">
      <dgm:prSet presAssocID="{0B7EA399-05C0-4ADA-957B-96E951D899DB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1C8F4C1F-14A8-4959-96B3-FDD82C102D25}" type="presOf" srcId="{38B72BDD-ED7B-4A53-B4EB-44D9A8AD02FE}" destId="{1E861BEB-6DCD-4564-B4EC-FD5AA6683936}" srcOrd="0" destOrd="0" presId="urn:microsoft.com/office/officeart/2018/2/layout/IconCircleList"/>
    <dgm:cxn modelId="{13C43C36-EEB0-4128-B673-A9F5C82B7DE0}" type="presOf" srcId="{AEF19DC9-01FA-43AF-9A6A-DDF421BDA219}" destId="{78F32E76-1546-4A8F-9622-E4411BAC28B6}" srcOrd="0" destOrd="0" presId="urn:microsoft.com/office/officeart/2018/2/layout/IconCircleList"/>
    <dgm:cxn modelId="{ECFE5D3E-6F1C-4831-980F-9767FBE13D60}" type="presOf" srcId="{0B7EA399-05C0-4ADA-957B-96E951D899DB}" destId="{57C4DE2E-F0DF-4A41-BC90-8AE3BE702128}" srcOrd="0" destOrd="0" presId="urn:microsoft.com/office/officeart/2018/2/layout/IconCircleList"/>
    <dgm:cxn modelId="{B9F5FA3E-1BF5-4B37-9AE9-C754541F51A9}" type="presOf" srcId="{49426F5D-F945-419C-9A12-1DF52A9E5C70}" destId="{534B4E2E-2AA4-4FE8-8319-FE59B3B277B7}" srcOrd="0" destOrd="0" presId="urn:microsoft.com/office/officeart/2018/2/layout/IconCircleList"/>
    <dgm:cxn modelId="{DA527A62-C054-456C-8A8B-61DACB2E0CF1}" srcId="{AEF19DC9-01FA-43AF-9A6A-DDF421BDA219}" destId="{0B7EA399-05C0-4ADA-957B-96E951D899DB}" srcOrd="2" destOrd="0" parTransId="{E61EEE15-86B2-4D09-9DC6-385AB60C3FF5}" sibTransId="{65230F5D-B580-4EDC-8BCE-44088F6CA0F7}"/>
    <dgm:cxn modelId="{A37CF76D-4C42-42D5-B6B8-5822B5BDACA0}" type="presOf" srcId="{BBB7967E-E00F-40C6-9542-17214CD49673}" destId="{4F2F27AE-2CDB-4F2C-90C9-0BDDC4075ADB}" srcOrd="0" destOrd="0" presId="urn:microsoft.com/office/officeart/2018/2/layout/IconCircleList"/>
    <dgm:cxn modelId="{E7BFB257-B700-4E62-966C-C77B0AE3B4BF}" type="presOf" srcId="{4D3E46D4-3409-46D3-A1F7-C680F17446D3}" destId="{6D02C6B1-79F2-4DB7-BF0E-C20F86716F4C}" srcOrd="0" destOrd="0" presId="urn:microsoft.com/office/officeart/2018/2/layout/IconCircleList"/>
    <dgm:cxn modelId="{001A3C94-7BD9-45E3-9C34-5D86A31BC950}" srcId="{AEF19DC9-01FA-43AF-9A6A-DDF421BDA219}" destId="{38B72BDD-ED7B-4A53-B4EB-44D9A8AD02FE}" srcOrd="0" destOrd="0" parTransId="{83A67A18-0432-44BD-9906-2A95D60D7DEF}" sibTransId="{4D3E46D4-3409-46D3-A1F7-C680F17446D3}"/>
    <dgm:cxn modelId="{E5CC16C6-7F5E-4829-B866-AEC2F6C2FF30}" srcId="{AEF19DC9-01FA-43AF-9A6A-DDF421BDA219}" destId="{BBB7967E-E00F-40C6-9542-17214CD49673}" srcOrd="1" destOrd="0" parTransId="{9054AE92-3E1A-46E5-83C5-F9CEBA3F9E1E}" sibTransId="{49426F5D-F945-419C-9A12-1DF52A9E5C70}"/>
    <dgm:cxn modelId="{C900E3CC-EB36-4112-9369-B77768F542AA}" type="presParOf" srcId="{78F32E76-1546-4A8F-9622-E4411BAC28B6}" destId="{0D93060C-6117-4C51-B8A3-1F7D3F3EFFAB}" srcOrd="0" destOrd="0" presId="urn:microsoft.com/office/officeart/2018/2/layout/IconCircleList"/>
    <dgm:cxn modelId="{D660AE82-2A5E-4C75-94C7-D0504F0037E7}" type="presParOf" srcId="{0D93060C-6117-4C51-B8A3-1F7D3F3EFFAB}" destId="{34128B4C-B375-4CCC-BAC5-BFFF7407CB15}" srcOrd="0" destOrd="0" presId="urn:microsoft.com/office/officeart/2018/2/layout/IconCircleList"/>
    <dgm:cxn modelId="{03398C26-90A4-409B-9886-CE1303EA41D8}" type="presParOf" srcId="{34128B4C-B375-4CCC-BAC5-BFFF7407CB15}" destId="{AD312651-0BE1-4C95-B802-9BFCD732BDB1}" srcOrd="0" destOrd="0" presId="urn:microsoft.com/office/officeart/2018/2/layout/IconCircleList"/>
    <dgm:cxn modelId="{C19B0AA6-07B3-435E-BD83-67234CA1CBF8}" type="presParOf" srcId="{34128B4C-B375-4CCC-BAC5-BFFF7407CB15}" destId="{5B7709E2-5BC1-45A8-88FD-3D8968BFB648}" srcOrd="1" destOrd="0" presId="urn:microsoft.com/office/officeart/2018/2/layout/IconCircleList"/>
    <dgm:cxn modelId="{2C1B9A49-07A5-49CF-9A04-C1D30399E62D}" type="presParOf" srcId="{34128B4C-B375-4CCC-BAC5-BFFF7407CB15}" destId="{950E6FCB-A607-451A-A1B8-4B9D406099EC}" srcOrd="2" destOrd="0" presId="urn:microsoft.com/office/officeart/2018/2/layout/IconCircleList"/>
    <dgm:cxn modelId="{8BE2DFA4-9CAD-4901-AA22-A80D4CA1B389}" type="presParOf" srcId="{34128B4C-B375-4CCC-BAC5-BFFF7407CB15}" destId="{1E861BEB-6DCD-4564-B4EC-FD5AA6683936}" srcOrd="3" destOrd="0" presId="urn:microsoft.com/office/officeart/2018/2/layout/IconCircleList"/>
    <dgm:cxn modelId="{94A38AEA-5E40-4CA9-BD09-443071FDD4BC}" type="presParOf" srcId="{0D93060C-6117-4C51-B8A3-1F7D3F3EFFAB}" destId="{6D02C6B1-79F2-4DB7-BF0E-C20F86716F4C}" srcOrd="1" destOrd="0" presId="urn:microsoft.com/office/officeart/2018/2/layout/IconCircleList"/>
    <dgm:cxn modelId="{8E0CC9CE-0B8A-4AC8-81F9-C4C913237BDD}" type="presParOf" srcId="{0D93060C-6117-4C51-B8A3-1F7D3F3EFFAB}" destId="{9D84BB13-5898-4466-A936-1B470640895D}" srcOrd="2" destOrd="0" presId="urn:microsoft.com/office/officeart/2018/2/layout/IconCircleList"/>
    <dgm:cxn modelId="{F2B49808-89C0-4A78-BA5B-674E84057EC1}" type="presParOf" srcId="{9D84BB13-5898-4466-A936-1B470640895D}" destId="{6D14B36B-F5A8-44A1-B84B-6363FE15929B}" srcOrd="0" destOrd="0" presId="urn:microsoft.com/office/officeart/2018/2/layout/IconCircleList"/>
    <dgm:cxn modelId="{08598D81-44E4-4EA6-BCBF-99C6789DFB95}" type="presParOf" srcId="{9D84BB13-5898-4466-A936-1B470640895D}" destId="{87B7B1FE-4511-43EE-80C8-B50A3A1DAF3A}" srcOrd="1" destOrd="0" presId="urn:microsoft.com/office/officeart/2018/2/layout/IconCircleList"/>
    <dgm:cxn modelId="{FE98C4C5-DDE6-4801-B1D7-5C6B97A9E697}" type="presParOf" srcId="{9D84BB13-5898-4466-A936-1B470640895D}" destId="{75DD6A7C-838F-4AB3-B8DF-A97B237D403D}" srcOrd="2" destOrd="0" presId="urn:microsoft.com/office/officeart/2018/2/layout/IconCircleList"/>
    <dgm:cxn modelId="{848D79CC-7685-4A70-9E18-45BEB1D35182}" type="presParOf" srcId="{9D84BB13-5898-4466-A936-1B470640895D}" destId="{4F2F27AE-2CDB-4F2C-90C9-0BDDC4075ADB}" srcOrd="3" destOrd="0" presId="urn:microsoft.com/office/officeart/2018/2/layout/IconCircleList"/>
    <dgm:cxn modelId="{85C6A348-7577-48B2-B5A4-A3FC5E364325}" type="presParOf" srcId="{0D93060C-6117-4C51-B8A3-1F7D3F3EFFAB}" destId="{534B4E2E-2AA4-4FE8-8319-FE59B3B277B7}" srcOrd="3" destOrd="0" presId="urn:microsoft.com/office/officeart/2018/2/layout/IconCircleList"/>
    <dgm:cxn modelId="{FA9F9A9B-D052-420B-813F-4B34CDC89058}" type="presParOf" srcId="{0D93060C-6117-4C51-B8A3-1F7D3F3EFFAB}" destId="{D4E022C5-51B0-4DED-9813-7B4DB1B3B4E3}" srcOrd="4" destOrd="0" presId="urn:microsoft.com/office/officeart/2018/2/layout/IconCircleList"/>
    <dgm:cxn modelId="{2CACA7BD-A4EF-4DE9-BE12-32D1DCA80C74}" type="presParOf" srcId="{D4E022C5-51B0-4DED-9813-7B4DB1B3B4E3}" destId="{2CD14FE6-2390-4A94-A8FC-2FDA3CB7C0BC}" srcOrd="0" destOrd="0" presId="urn:microsoft.com/office/officeart/2018/2/layout/IconCircleList"/>
    <dgm:cxn modelId="{529DBE81-9F13-421A-92AB-B15842C6A8BE}" type="presParOf" srcId="{D4E022C5-51B0-4DED-9813-7B4DB1B3B4E3}" destId="{EC6CA3FC-2182-4141-B72D-5A39F0EF2045}" srcOrd="1" destOrd="0" presId="urn:microsoft.com/office/officeart/2018/2/layout/IconCircleList"/>
    <dgm:cxn modelId="{C275EB0F-AD25-445A-822D-3464F805B586}" type="presParOf" srcId="{D4E022C5-51B0-4DED-9813-7B4DB1B3B4E3}" destId="{FFDBCD50-280F-42D2-81A1-EC3976C02363}" srcOrd="2" destOrd="0" presId="urn:microsoft.com/office/officeart/2018/2/layout/IconCircleList"/>
    <dgm:cxn modelId="{EB0E885F-2FAC-4654-AD9B-6EE5556D1667}" type="presParOf" srcId="{D4E022C5-51B0-4DED-9813-7B4DB1B3B4E3}" destId="{57C4DE2E-F0DF-4A41-BC90-8AE3BE702128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312651-0BE1-4C95-B802-9BFCD732BDB1}">
      <dsp:nvSpPr>
        <dsp:cNvPr id="0" name=""/>
        <dsp:cNvSpPr/>
      </dsp:nvSpPr>
      <dsp:spPr>
        <a:xfrm>
          <a:off x="176973" y="893060"/>
          <a:ext cx="908323" cy="90832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7709E2-5BC1-45A8-88FD-3D8968BFB648}">
      <dsp:nvSpPr>
        <dsp:cNvPr id="0" name=""/>
        <dsp:cNvSpPr/>
      </dsp:nvSpPr>
      <dsp:spPr>
        <a:xfrm>
          <a:off x="367721" y="1083808"/>
          <a:ext cx="526827" cy="52682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861BEB-6DCD-4564-B4EC-FD5AA6683936}">
      <dsp:nvSpPr>
        <dsp:cNvPr id="0" name=""/>
        <dsp:cNvSpPr/>
      </dsp:nvSpPr>
      <dsp:spPr>
        <a:xfrm>
          <a:off x="1279938" y="893060"/>
          <a:ext cx="2141049" cy="9083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Flexcube is developed by CITIL (Citicorp Information Technologies Industrial Limited) at it’s Bangalore Center in mid 90’s</a:t>
          </a:r>
        </a:p>
      </dsp:txBody>
      <dsp:txXfrm>
        <a:off x="1279938" y="893060"/>
        <a:ext cx="2141049" cy="908323"/>
      </dsp:txXfrm>
    </dsp:sp>
    <dsp:sp modelId="{6D14B36B-F5A8-44A1-B84B-6363FE15929B}">
      <dsp:nvSpPr>
        <dsp:cNvPr id="0" name=""/>
        <dsp:cNvSpPr/>
      </dsp:nvSpPr>
      <dsp:spPr>
        <a:xfrm>
          <a:off x="3794049" y="893060"/>
          <a:ext cx="908323" cy="90832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B7B1FE-4511-43EE-80C8-B50A3A1DAF3A}">
      <dsp:nvSpPr>
        <dsp:cNvPr id="0" name=""/>
        <dsp:cNvSpPr/>
      </dsp:nvSpPr>
      <dsp:spPr>
        <a:xfrm>
          <a:off x="3984797" y="1083808"/>
          <a:ext cx="526827" cy="52682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2F27AE-2CDB-4F2C-90C9-0BDDC4075ADB}">
      <dsp:nvSpPr>
        <dsp:cNvPr id="0" name=""/>
        <dsp:cNvSpPr/>
      </dsp:nvSpPr>
      <dsp:spPr>
        <a:xfrm>
          <a:off x="4897014" y="893060"/>
          <a:ext cx="2141049" cy="9083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Company name changed from CITIL to I-Flex in mid 90s after launch of Flexcube</a:t>
          </a:r>
        </a:p>
      </dsp:txBody>
      <dsp:txXfrm>
        <a:off x="4897014" y="893060"/>
        <a:ext cx="2141049" cy="908323"/>
      </dsp:txXfrm>
    </dsp:sp>
    <dsp:sp modelId="{2CD14FE6-2390-4A94-A8FC-2FDA3CB7C0BC}">
      <dsp:nvSpPr>
        <dsp:cNvPr id="0" name=""/>
        <dsp:cNvSpPr/>
      </dsp:nvSpPr>
      <dsp:spPr>
        <a:xfrm>
          <a:off x="7411125" y="893060"/>
          <a:ext cx="908323" cy="90832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6CA3FC-2182-4141-B72D-5A39F0EF2045}">
      <dsp:nvSpPr>
        <dsp:cNvPr id="0" name=""/>
        <dsp:cNvSpPr/>
      </dsp:nvSpPr>
      <dsp:spPr>
        <a:xfrm>
          <a:off x="7601873" y="1083808"/>
          <a:ext cx="526827" cy="52682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C4DE2E-F0DF-4A41-BC90-8AE3BE702128}">
      <dsp:nvSpPr>
        <dsp:cNvPr id="0" name=""/>
        <dsp:cNvSpPr/>
      </dsp:nvSpPr>
      <dsp:spPr>
        <a:xfrm>
          <a:off x="8514089" y="893060"/>
          <a:ext cx="2141049" cy="9083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I-Flex was acquired by Oracle named OFSS (Oracle Financial Services Limited) in 2008</a:t>
          </a:r>
        </a:p>
      </dsp:txBody>
      <dsp:txXfrm>
        <a:off x="8514089" y="893060"/>
        <a:ext cx="2141049" cy="90832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A4B07-7D14-A118-DEDB-BAEFB20284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CA4639-AE6E-D6E2-B393-A445AD0E5A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8C87B8-B069-3936-6E5A-7C9BFF197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AE4DA-19C7-44B9-B0B2-71CB0088D61F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58B793-CA1B-9E37-ED83-D22D78AF5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4D95E5-B0C1-2C88-A201-D845DDBA8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C054A-226D-48FF-A9A2-9661AE4D2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872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E477C-B492-3BE5-D82C-3BBE2D942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E4986D-7FC0-241A-87C5-8AEF1F6C0D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899626-9E85-568C-5A4A-FA7759112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AE4DA-19C7-44B9-B0B2-71CB0088D61F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240CA3-9B38-857B-EC92-71892998B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F007AF-F77E-B98E-3087-523B868A1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C054A-226D-48FF-A9A2-9661AE4D2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105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4F4A8-E294-7A23-7490-AB899EE23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CC7294-B3C8-CF80-F011-A0529472DF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645D5F-5605-CCF5-A3E5-62DBDF138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AE4DA-19C7-44B9-B0B2-71CB0088D61F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48FCFC-A83C-20A3-3170-D332966B3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9E3657-B3A9-FBDC-19FF-8852EB3CB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C054A-226D-48FF-A9A2-9661AE4D2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769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34FAD-474E-498D-56FA-29EBFB826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9BCC70-6A91-4CD9-0286-EBF246EAED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3B0908-B773-1288-2531-889D745C90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BDD7AA-9D74-40B1-3D08-38CD8B95E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AE4DA-19C7-44B9-B0B2-71CB0088D61F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DB1001-3C1D-779B-601B-4E02ED790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C57AB5-B262-BD4F-548C-CFC2BF69E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C054A-226D-48FF-A9A2-9661AE4D2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308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58318-AD8F-F333-1CB1-6CECD7A35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77C016-3B27-F5CA-DC4F-5A95F6238B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CEB656-E895-624C-BE34-E0C499861C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F9DB50-0B59-C45B-6930-10655824D5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471AEC-A9E2-150A-CA0D-564FEA820C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77EA1D-6C45-196E-0D73-400A68FF9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AE4DA-19C7-44B9-B0B2-71CB0088D61F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246CC0-6AD5-59D7-7763-9D9C46022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7B43909-BF0D-5A65-F614-0A7F61024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C054A-226D-48FF-A9A2-9661AE4D2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0073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998A9-C213-CB65-1ABA-0790466DD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5BCED9-8761-E73A-282B-C8021F24B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AE4DA-19C7-44B9-B0B2-71CB0088D61F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818EBB-0DB7-C5D7-F1F3-7E9CC8F46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E84A6C-7DC2-EA35-36F0-E13E4557A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C054A-226D-48FF-A9A2-9661AE4D2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805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A67C00-2B9E-04A4-CD86-EE8F14DAA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AE4DA-19C7-44B9-B0B2-71CB0088D61F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C95871-3F16-4D0D-4FEF-754E4A5D9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063B89-0B09-5ADF-E8BF-FAB167A0D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C054A-226D-48FF-A9A2-9661AE4D2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389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64912-E2D6-5F54-3528-BE69CD40A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849F75-246E-BC3F-CAE0-F4DBD4F848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5222CF-8293-77BB-BE42-18733C3110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02E8DA-C1F5-EC20-D6B8-F87CAAC94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AE4DA-19C7-44B9-B0B2-71CB0088D61F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6023F6-6FA7-23D2-7792-A463506A4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A84F89-971C-0DC3-BE3E-AB834D178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C054A-226D-48FF-A9A2-9661AE4D2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923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B965A-4170-4838-E63B-06EEB9289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215886-B4F4-59D3-B181-DE319DE979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1225EC-9236-1181-DD38-1672AA0853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2C14E2-E077-CC20-5D76-6AEC6D089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AE4DA-19C7-44B9-B0B2-71CB0088D61F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9CAC4F-D6B4-F062-7E2E-545446F68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379E7A-3714-FF67-86E4-1AED51E05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C054A-226D-48FF-A9A2-9661AE4D2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0275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E5C52-8EB2-7BD1-E5D2-5F46DE3E7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6B3D00-FF24-BCC6-830A-FB309238BF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ECBA50-46B7-E94F-CB21-D4747B029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AE4DA-19C7-44B9-B0B2-71CB0088D61F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DB6BAB-F715-A7B0-5713-82390F312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D01E4C-3894-B132-8A5D-CF8B4A9D1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C054A-226D-48FF-A9A2-9661AE4D2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1183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DF7240-AE39-856C-6107-5F2E29BF04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EC9C82-C0D1-705F-BB61-A4EE10512E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F4A35A-3AFB-F6F3-DFEA-5B6B0A822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AE4DA-19C7-44B9-B0B2-71CB0088D61F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FBD917-E224-9C6A-35B9-8C6CC6B4D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AC5C12-6EDB-492E-8BA2-A07D14AA5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C054A-226D-48FF-A9A2-9661AE4D2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2508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22C015-CD45-F51D-3724-E5F71790C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9019FE-B8DA-1E45-C78D-F22E22B001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1D20D5-36AA-A8CC-47CF-A87C4E4F49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0AE4DA-19C7-44B9-B0B2-71CB0088D61F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7AAF56-35F0-4891-6113-89D997B824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9D91D5-9575-7658-DDD4-DAE71AA665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0C054A-226D-48FF-A9A2-9661AE4D2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503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sv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9" name="Rectangle 98">
            <a:extLst>
              <a:ext uri="{FF2B5EF4-FFF2-40B4-BE49-F238E27FC236}">
                <a16:creationId xmlns:a16="http://schemas.microsoft.com/office/drawing/2014/main" id="{73A25D70-4A55-4F72-B9C5-A69CDBF4D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54957100-6D8B-4161-9F2F-C0A949EC8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0BD8B065-EE51-4AE2-A94C-86249998FD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DBD6D4-56EA-CB58-AF6C-34F879ECD4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71787" y="1741337"/>
            <a:ext cx="5448730" cy="2387918"/>
          </a:xfrm>
        </p:spPr>
        <p:txBody>
          <a:bodyPr anchor="b">
            <a:normAutofit/>
          </a:bodyPr>
          <a:lstStyle/>
          <a:p>
            <a:r>
              <a:rPr lang="en-US" sz="5200" b="1" dirty="0">
                <a:solidFill>
                  <a:schemeClr val="tx2"/>
                </a:solidFill>
              </a:rPr>
              <a:t>Oracle Flexcube Core Banking</a:t>
            </a:r>
          </a:p>
        </p:txBody>
      </p: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18999293-B054-4B57-A26F-D04C2BB113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43336"/>
            <a:ext cx="5163047" cy="2657478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5E505D8A-F41A-450D-A648-E77DF6B8D8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E2BD6DCE-6A81-4F34-9958-67B578EA16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5C462BE8-CD72-48CF-8A7B-C716D2B99E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C2CDB70-40F1-4D00-8F17-A532E732EB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761945C4-D997-42F3-B59A-984CF0066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4651FE4A-9487-43BE-A388-134535743B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F44B0EF3-9992-4B95-8A43-6206B3FC3F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041B1C1F-C2FE-4C47-9D74-ADB9B53F4B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1048177B-A49E-4E24-9007-07A0EDD6A2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0706987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27A352-487B-4CEB-9135-D9A49AA7D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977976" cy="1454051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tx2"/>
                </a:solidFill>
              </a:rPr>
              <a:t>What is Flexcube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631BDB-7569-4199-9D8C-8772EFB633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421682"/>
            <a:ext cx="4977578" cy="3639289"/>
          </a:xfrm>
        </p:spPr>
        <p:txBody>
          <a:bodyPr anchor="ctr">
            <a:normAutofit/>
          </a:bodyPr>
          <a:lstStyle/>
          <a:p>
            <a:r>
              <a:rPr lang="en-US" sz="1800" dirty="0">
                <a:solidFill>
                  <a:schemeClr val="tx2"/>
                </a:solidFill>
              </a:rPr>
              <a:t>FLEXCUBE is an automated universal core banking software developed and introduced by Oracle Financial Services.</a:t>
            </a:r>
          </a:p>
          <a:p>
            <a:endParaRPr lang="en-US" sz="1800" dirty="0">
              <a:solidFill>
                <a:schemeClr val="tx2"/>
              </a:solidFill>
            </a:endParaRPr>
          </a:p>
          <a:p>
            <a:r>
              <a:rPr lang="en-US" sz="1800" dirty="0">
                <a:solidFill>
                  <a:schemeClr val="tx2"/>
                </a:solidFill>
              </a:rPr>
              <a:t>Used in more than 140+ countries</a:t>
            </a:r>
          </a:p>
          <a:p>
            <a:pPr marL="0" indent="0">
              <a:buNone/>
            </a:pPr>
            <a:endParaRPr lang="en-US" sz="1800" dirty="0">
              <a:solidFill>
                <a:schemeClr val="tx2"/>
              </a:solidFill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69897" y="0"/>
            <a:ext cx="5822103" cy="6685267"/>
            <a:chOff x="6357228" y="0"/>
            <a:chExt cx="5822103" cy="6685267"/>
          </a:xfrm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1" name="Graphic 40" descr="Bank">
            <a:extLst>
              <a:ext uri="{FF2B5EF4-FFF2-40B4-BE49-F238E27FC236}">
                <a16:creationId xmlns:a16="http://schemas.microsoft.com/office/drawing/2014/main" id="{90F1D52D-474F-F560-BC69-7EC65584EDF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21726" y="1629089"/>
            <a:ext cx="3620021" cy="362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3094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3C823D3-D619-407C-89E0-C6F6B1E7A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7F8E3E-2FFA-4A0F-B3C7-E57ADDCFB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48C955-465D-41C7-B6F9-B32735A93C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769" y="904964"/>
            <a:ext cx="2881329" cy="985829"/>
          </a:xfrm>
        </p:spPr>
        <p:txBody>
          <a:bodyPr anchor="b">
            <a:normAutofit/>
          </a:bodyPr>
          <a:lstStyle/>
          <a:p>
            <a:pPr algn="ctr"/>
            <a:r>
              <a:rPr lang="en-US" sz="3600" dirty="0">
                <a:solidFill>
                  <a:schemeClr val="tx2"/>
                </a:solidFill>
              </a:rPr>
              <a:t>History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3D939F1-7ABE-4D0E-946A-43F37F556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3346103" cy="2510866"/>
            <a:chOff x="-305" y="-1"/>
            <a:chExt cx="3832880" cy="2876136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3FE0426-0FE4-451E-A8BB-08DA6A6AC2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A32F7E8-35B4-451F-AA07-AECF7CA1D5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097796-C3C8-4772-9EBD-9F5CA368F5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C4BC137-BB50-4235-A83F-4B4EEE1590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54" name="Content Placeholder 2">
            <a:extLst>
              <a:ext uri="{FF2B5EF4-FFF2-40B4-BE49-F238E27FC236}">
                <a16:creationId xmlns:a16="http://schemas.microsoft.com/office/drawing/2014/main" id="{741D8CF4-D6BC-9590-A3BB-514949E83E8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90734240"/>
              </p:ext>
            </p:extLst>
          </p:nvPr>
        </p:nvGraphicFramePr>
        <p:xfrm>
          <a:off x="435153" y="2795755"/>
          <a:ext cx="10832113" cy="26944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18" name="Group 17">
            <a:extLst>
              <a:ext uri="{FF2B5EF4-FFF2-40B4-BE49-F238E27FC236}">
                <a16:creationId xmlns:a16="http://schemas.microsoft.com/office/drawing/2014/main" id="{9DB3963A-4187-4A72-9DA4-CA6BADE22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9072780" y="3734338"/>
            <a:ext cx="3878664" cy="236865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428E75E-001A-4568-B035-574F1303EF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4AC8CFC-1164-4525-82A0-25F75ADCF4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F35C856-5B70-4CA2-BB8F-A37197D8F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50FD8B0-DE97-47B1-84ED-67A3BD00F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385683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0A171-2B3E-47E8-85EB-AC271E56F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0979" y="789371"/>
            <a:ext cx="5754696" cy="658429"/>
          </a:xfrm>
        </p:spPr>
        <p:txBody>
          <a:bodyPr anchor="b">
            <a:normAutofit/>
          </a:bodyPr>
          <a:lstStyle/>
          <a:p>
            <a:pPr algn="ctr"/>
            <a:r>
              <a:rPr lang="en-US" sz="3600" dirty="0">
                <a:solidFill>
                  <a:schemeClr val="tx2"/>
                </a:solidFill>
              </a:rPr>
              <a:t>Banks using </a:t>
            </a:r>
            <a:r>
              <a:rPr lang="en-US" sz="3600" dirty="0" err="1">
                <a:solidFill>
                  <a:schemeClr val="tx2"/>
                </a:solidFill>
              </a:rPr>
              <a:t>Flexcube</a:t>
            </a:r>
            <a:endParaRPr lang="en-US" sz="3600" dirty="0">
              <a:solidFill>
                <a:schemeClr val="tx2"/>
              </a:solidFill>
            </a:endParaRPr>
          </a:p>
        </p:txBody>
      </p:sp>
      <p:pic>
        <p:nvPicPr>
          <p:cNvPr id="5" name="Picture 4" descr="Logo, qr code&#10;&#10;Description automatically generated">
            <a:extLst>
              <a:ext uri="{FF2B5EF4-FFF2-40B4-BE49-F238E27FC236}">
                <a16:creationId xmlns:a16="http://schemas.microsoft.com/office/drawing/2014/main" id="{5DFAAD72-43AB-88EF-C5CB-48F317A7CC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213" y="1809308"/>
            <a:ext cx="1895475" cy="2409825"/>
          </a:xfrm>
          <a:prstGeom prst="rect">
            <a:avLst/>
          </a:prstGeom>
        </p:spPr>
      </p:pic>
      <p:pic>
        <p:nvPicPr>
          <p:cNvPr id="7" name="Picture 6" descr="Text&#10;&#10;Description automatically generated with low confidence">
            <a:extLst>
              <a:ext uri="{FF2B5EF4-FFF2-40B4-BE49-F238E27FC236}">
                <a16:creationId xmlns:a16="http://schemas.microsoft.com/office/drawing/2014/main" id="{343CEE9C-9F50-847A-7C5D-67EF2423D1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1514" y="2034859"/>
            <a:ext cx="2867025" cy="1590675"/>
          </a:xfrm>
          <a:prstGeom prst="rect">
            <a:avLst/>
          </a:prstGeom>
        </p:spPr>
      </p:pic>
      <p:pic>
        <p:nvPicPr>
          <p:cNvPr id="19" name="Picture 18" descr="Logo, company name&#10;&#10;Description automatically generated">
            <a:extLst>
              <a:ext uri="{FF2B5EF4-FFF2-40B4-BE49-F238E27FC236}">
                <a16:creationId xmlns:a16="http://schemas.microsoft.com/office/drawing/2014/main" id="{55FFCC45-CF12-30A5-D5DE-C4FB8266D46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0805" y="1955468"/>
            <a:ext cx="2783443" cy="1670066"/>
          </a:xfrm>
          <a:prstGeom prst="rect">
            <a:avLst/>
          </a:prstGeom>
        </p:spPr>
      </p:pic>
      <p:pic>
        <p:nvPicPr>
          <p:cNvPr id="21" name="Picture 20" descr="Shape&#10;&#10;Description automatically generated">
            <a:extLst>
              <a:ext uri="{FF2B5EF4-FFF2-40B4-BE49-F238E27FC236}">
                <a16:creationId xmlns:a16="http://schemas.microsoft.com/office/drawing/2014/main" id="{4D7D4BA5-98E4-976D-B607-4F6AA328B1F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1514" y="4618978"/>
            <a:ext cx="3231750" cy="1817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6952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84D0F-0D9F-464E-B124-E327C9316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8564" y="164104"/>
            <a:ext cx="9833548" cy="1007471"/>
          </a:xfrm>
        </p:spPr>
        <p:txBody>
          <a:bodyPr anchor="b">
            <a:normAutofit/>
          </a:bodyPr>
          <a:lstStyle/>
          <a:p>
            <a:pPr algn="ctr"/>
            <a:r>
              <a:rPr lang="en-US" sz="3600" dirty="0">
                <a:solidFill>
                  <a:schemeClr val="tx2"/>
                </a:solidFill>
              </a:rPr>
              <a:t>Other Banking Applications</a:t>
            </a:r>
          </a:p>
        </p:txBody>
      </p:sp>
      <p:pic>
        <p:nvPicPr>
          <p:cNvPr id="5" name="Picture 4" descr="Logo, company name&#10;&#10;Description automatically generated">
            <a:extLst>
              <a:ext uri="{FF2B5EF4-FFF2-40B4-BE49-F238E27FC236}">
                <a16:creationId xmlns:a16="http://schemas.microsoft.com/office/drawing/2014/main" id="{785C91C2-3FE3-D728-8312-068F93501A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0483" y="1603404"/>
            <a:ext cx="2143125" cy="2143125"/>
          </a:xfrm>
          <a:prstGeom prst="rect">
            <a:avLst/>
          </a:prstGeom>
        </p:spPr>
      </p:pic>
      <p:pic>
        <p:nvPicPr>
          <p:cNvPr id="7" name="Picture 6" descr="Logo, company name&#10;&#10;Description automatically generated">
            <a:extLst>
              <a:ext uri="{FF2B5EF4-FFF2-40B4-BE49-F238E27FC236}">
                <a16:creationId xmlns:a16="http://schemas.microsoft.com/office/drawing/2014/main" id="{5B40A58E-F6E8-0D8A-D08D-87ABE1EAB7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4045" y="1482165"/>
            <a:ext cx="2057400" cy="2057400"/>
          </a:xfrm>
          <a:prstGeom prst="rect">
            <a:avLst/>
          </a:prstGeom>
        </p:spPr>
      </p:pic>
      <p:pic>
        <p:nvPicPr>
          <p:cNvPr id="11" name="Picture 10" descr="Logo, company name&#10;&#10;Description automatically generated">
            <a:extLst>
              <a:ext uri="{FF2B5EF4-FFF2-40B4-BE49-F238E27FC236}">
                <a16:creationId xmlns:a16="http://schemas.microsoft.com/office/drawing/2014/main" id="{CBDD59DF-CB00-3B7D-69DC-3C967EBD40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8206" y="1844115"/>
            <a:ext cx="2695575" cy="1695450"/>
          </a:xfrm>
          <a:prstGeom prst="rect">
            <a:avLst/>
          </a:prstGeom>
        </p:spPr>
      </p:pic>
      <p:pic>
        <p:nvPicPr>
          <p:cNvPr id="23" name="Picture 22" descr="Logo&#10;&#10;Description automatically generated">
            <a:extLst>
              <a:ext uri="{FF2B5EF4-FFF2-40B4-BE49-F238E27FC236}">
                <a16:creationId xmlns:a16="http://schemas.microsoft.com/office/drawing/2014/main" id="{1C55464A-9257-692B-9308-AC5E7BBA966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0537" y="4074664"/>
            <a:ext cx="3038475" cy="8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6361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5F02642-E01D-4DD0-8AB5-D3B7831D8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tx2"/>
                </a:solidFill>
              </a:rPr>
              <a:t>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A9DDB3-836E-43DD-8725-E706774FF6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847" y="1411128"/>
            <a:ext cx="5190344" cy="5251354"/>
          </a:xfrm>
        </p:spPr>
        <p:txBody>
          <a:bodyPr anchor="ctr">
            <a:normAutofit lnSpcReduction="10000"/>
          </a:bodyPr>
          <a:lstStyle/>
          <a:p>
            <a:r>
              <a:rPr lang="en-US" sz="1800" dirty="0">
                <a:solidFill>
                  <a:schemeClr val="tx2"/>
                </a:solidFill>
              </a:rPr>
              <a:t>Core functionalities for Traditional and Non-Traditional Banking.</a:t>
            </a:r>
          </a:p>
          <a:p>
            <a:pPr marL="0" indent="0">
              <a:buNone/>
            </a:pPr>
            <a:endParaRPr lang="en-US" sz="1800" dirty="0">
              <a:solidFill>
                <a:schemeClr val="tx2"/>
              </a:solidFill>
            </a:endParaRPr>
          </a:p>
          <a:p>
            <a:r>
              <a:rPr lang="en-US" sz="1800" dirty="0">
                <a:solidFill>
                  <a:schemeClr val="tx2"/>
                </a:solidFill>
              </a:rPr>
              <a:t>Multi-language, Multi-currency, Multi-Branch</a:t>
            </a:r>
          </a:p>
          <a:p>
            <a:pPr marL="0" indent="0">
              <a:buNone/>
            </a:pPr>
            <a:endParaRPr lang="en-US" sz="1800" dirty="0">
              <a:solidFill>
                <a:schemeClr val="tx2"/>
              </a:solidFill>
            </a:endParaRPr>
          </a:p>
          <a:p>
            <a:r>
              <a:rPr lang="en-US" sz="1800" dirty="0">
                <a:solidFill>
                  <a:schemeClr val="tx2"/>
                </a:solidFill>
              </a:rPr>
              <a:t>Highly Modular</a:t>
            </a:r>
          </a:p>
          <a:p>
            <a:pPr marL="0" indent="0">
              <a:buNone/>
            </a:pPr>
            <a:endParaRPr lang="en-US" sz="1800" b="1" dirty="0">
              <a:solidFill>
                <a:schemeClr val="tx2"/>
              </a:solidFill>
            </a:endParaRPr>
          </a:p>
          <a:p>
            <a:r>
              <a:rPr lang="en-US" sz="1800" dirty="0">
                <a:solidFill>
                  <a:schemeClr val="tx2"/>
                </a:solidFill>
              </a:rPr>
              <a:t>Online Banking</a:t>
            </a:r>
          </a:p>
          <a:p>
            <a:endParaRPr lang="en-US" sz="1800" dirty="0">
              <a:solidFill>
                <a:schemeClr val="tx2"/>
              </a:solidFill>
            </a:endParaRPr>
          </a:p>
          <a:p>
            <a:r>
              <a:rPr lang="en-US" sz="1800" dirty="0">
                <a:solidFill>
                  <a:schemeClr val="tx2"/>
                </a:solidFill>
              </a:rPr>
              <a:t>Universal Banking suits like core banking, Investment Banking, Direct Banking (Internet, Mobile, SMS)</a:t>
            </a:r>
          </a:p>
          <a:p>
            <a:pPr marL="0" indent="0">
              <a:buNone/>
            </a:pPr>
            <a:endParaRPr lang="en-US" sz="1800" dirty="0">
              <a:solidFill>
                <a:schemeClr val="tx2"/>
              </a:solidFill>
            </a:endParaRPr>
          </a:p>
          <a:p>
            <a:r>
              <a:rPr lang="en-US" sz="1800" dirty="0">
                <a:solidFill>
                  <a:schemeClr val="tx2"/>
                </a:solidFill>
              </a:rPr>
              <a:t>Securities Management</a:t>
            </a:r>
          </a:p>
          <a:p>
            <a:pPr marL="0" indent="0">
              <a:buNone/>
            </a:pPr>
            <a:endParaRPr lang="en-US" sz="1800" dirty="0">
              <a:solidFill>
                <a:schemeClr val="tx2"/>
              </a:solidFill>
            </a:endParaRPr>
          </a:p>
          <a:p>
            <a:r>
              <a:rPr lang="en-US" sz="1800" dirty="0">
                <a:solidFill>
                  <a:schemeClr val="tx2"/>
                </a:solidFill>
              </a:rPr>
              <a:t>Transaction management</a:t>
            </a:r>
          </a:p>
          <a:p>
            <a:pPr marL="0" indent="0">
              <a:buNone/>
            </a:pPr>
            <a:endParaRPr lang="en-US" sz="1800" dirty="0">
              <a:solidFill>
                <a:schemeClr val="tx2"/>
              </a:solidFill>
            </a:endParaRPr>
          </a:p>
          <a:p>
            <a:endParaRPr lang="en-US" sz="1800" dirty="0">
              <a:solidFill>
                <a:schemeClr val="tx2"/>
              </a:solidFill>
            </a:endParaRPr>
          </a:p>
          <a:p>
            <a:endParaRPr lang="en-US" sz="1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46544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1E5D2E0-196F-488D-BE7A-994D1FA05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</a:rPr>
              <a:t>Specifications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BC0D6-BD1B-4169-8A07-7C1243708A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r>
              <a:rPr lang="en-US" sz="1800" dirty="0">
                <a:solidFill>
                  <a:schemeClr val="tx2"/>
                </a:solidFill>
              </a:rPr>
              <a:t>Supported Platform : Windows</a:t>
            </a:r>
          </a:p>
          <a:p>
            <a:pPr marL="0" indent="0">
              <a:buNone/>
            </a:pPr>
            <a:endParaRPr lang="en-US" sz="1800" dirty="0">
              <a:solidFill>
                <a:schemeClr val="tx2"/>
              </a:solidFill>
            </a:endParaRPr>
          </a:p>
          <a:p>
            <a:r>
              <a:rPr lang="en-US" sz="1800" dirty="0">
                <a:solidFill>
                  <a:schemeClr val="tx2"/>
                </a:solidFill>
              </a:rPr>
              <a:t>Device : Desktop / Laptop</a:t>
            </a:r>
          </a:p>
          <a:p>
            <a:pPr marL="0" indent="0">
              <a:buNone/>
            </a:pPr>
            <a:endParaRPr lang="en-US" sz="1800" dirty="0">
              <a:solidFill>
                <a:schemeClr val="tx2"/>
              </a:solidFill>
            </a:endParaRPr>
          </a:p>
          <a:p>
            <a:r>
              <a:rPr lang="en-US" sz="1800" dirty="0">
                <a:solidFill>
                  <a:schemeClr val="tx2"/>
                </a:solidFill>
              </a:rPr>
              <a:t>Web Based Application</a:t>
            </a:r>
          </a:p>
          <a:p>
            <a:pPr marL="0" indent="0">
              <a:buNone/>
            </a:pPr>
            <a:endParaRPr lang="en-US" sz="1800" dirty="0">
              <a:solidFill>
                <a:schemeClr val="tx2"/>
              </a:solidFill>
            </a:endParaRPr>
          </a:p>
          <a:p>
            <a:r>
              <a:rPr lang="en-US" sz="1800" dirty="0">
                <a:solidFill>
                  <a:schemeClr val="tx2"/>
                </a:solidFill>
              </a:rPr>
              <a:t>Latest version :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	UBS-14.7</a:t>
            </a:r>
          </a:p>
        </p:txBody>
      </p:sp>
    </p:spTree>
    <p:extLst>
      <p:ext uri="{BB962C8B-B14F-4D97-AF65-F5344CB8AC3E}">
        <p14:creationId xmlns:p14="http://schemas.microsoft.com/office/powerpoint/2010/main" val="42506502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1" name="Rectangle 64">
            <a:extLst>
              <a:ext uri="{FF2B5EF4-FFF2-40B4-BE49-F238E27FC236}">
                <a16:creationId xmlns:a16="http://schemas.microsoft.com/office/drawing/2014/main" id="{F9D96E3F-159B-4733-BE61-1AAB43A59A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66">
            <a:extLst>
              <a:ext uri="{FF2B5EF4-FFF2-40B4-BE49-F238E27FC236}">
                <a16:creationId xmlns:a16="http://schemas.microsoft.com/office/drawing/2014/main" id="{A5202B2A-E3B3-4965-8D55-B58E540593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DA3BB0-DB38-4B10-A017-035CAD3461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561" y="1532928"/>
            <a:ext cx="3585982" cy="66408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Flexcube Modules</a:t>
            </a:r>
          </a:p>
        </p:txBody>
      </p:sp>
      <p:grpSp>
        <p:nvGrpSpPr>
          <p:cNvPr id="83" name="Group 68">
            <a:extLst>
              <a:ext uri="{FF2B5EF4-FFF2-40B4-BE49-F238E27FC236}">
                <a16:creationId xmlns:a16="http://schemas.microsoft.com/office/drawing/2014/main" id="{EC505F6D-25F2-479B-AEEE-66F34B3FB1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298"/>
            <a:ext cx="2514948" cy="2174333"/>
            <a:chOff x="-305" y="-4155"/>
            <a:chExt cx="2514948" cy="2174333"/>
          </a:xfrm>
        </p:grpSpPr>
        <p:sp>
          <p:nvSpPr>
            <p:cNvPr id="84" name="Freeform: Shape 69">
              <a:extLst>
                <a:ext uri="{FF2B5EF4-FFF2-40B4-BE49-F238E27FC236}">
                  <a16:creationId xmlns:a16="http://schemas.microsoft.com/office/drawing/2014/main" id="{95C49ED7-EC50-4D2C-A945-D4907F081E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Freeform: Shape 70">
              <a:extLst>
                <a:ext uri="{FF2B5EF4-FFF2-40B4-BE49-F238E27FC236}">
                  <a16:creationId xmlns:a16="http://schemas.microsoft.com/office/drawing/2014/main" id="{29A8266C-3886-4618-B2EB-EA7FE32CE6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Freeform: Shape 71">
              <a:extLst>
                <a:ext uri="{FF2B5EF4-FFF2-40B4-BE49-F238E27FC236}">
                  <a16:creationId xmlns:a16="http://schemas.microsoft.com/office/drawing/2014/main" id="{AB4610CF-D689-4B1B-A7FB-1CE14209E6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87" name="Freeform: Shape 72">
              <a:extLst>
                <a:ext uri="{FF2B5EF4-FFF2-40B4-BE49-F238E27FC236}">
                  <a16:creationId xmlns:a16="http://schemas.microsoft.com/office/drawing/2014/main" id="{8DA7C44F-B555-41AC-95A7-6450152936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88" name="Group 74">
            <a:extLst>
              <a:ext uri="{FF2B5EF4-FFF2-40B4-BE49-F238E27FC236}">
                <a16:creationId xmlns:a16="http://schemas.microsoft.com/office/drawing/2014/main" id="{6C0A542E-DBAB-412E-9F06-247CFE5FB9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8304973" y="939510"/>
            <a:ext cx="4826538" cy="2947516"/>
            <a:chOff x="6867015" y="-1"/>
            <a:chExt cx="5324985" cy="3251912"/>
          </a:xfrm>
          <a:solidFill>
            <a:schemeClr val="accent5">
              <a:alpha val="5000"/>
            </a:schemeClr>
          </a:solidFill>
        </p:grpSpPr>
        <p:sp>
          <p:nvSpPr>
            <p:cNvPr id="89" name="Freeform: Shape 75">
              <a:extLst>
                <a:ext uri="{FF2B5EF4-FFF2-40B4-BE49-F238E27FC236}">
                  <a16:creationId xmlns:a16="http://schemas.microsoft.com/office/drawing/2014/main" id="{B41E2FAC-3A8F-4977-ACC1-92B455FD4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Freeform: Shape 76">
              <a:extLst>
                <a:ext uri="{FF2B5EF4-FFF2-40B4-BE49-F238E27FC236}">
                  <a16:creationId xmlns:a16="http://schemas.microsoft.com/office/drawing/2014/main" id="{5264E774-D8C6-4806-9911-955DD80397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Freeform: Shape 77">
              <a:extLst>
                <a:ext uri="{FF2B5EF4-FFF2-40B4-BE49-F238E27FC236}">
                  <a16:creationId xmlns:a16="http://schemas.microsoft.com/office/drawing/2014/main" id="{8450CBAC-6145-4598-BA48-1EB500923C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Freeform: Shape 78">
              <a:extLst>
                <a:ext uri="{FF2B5EF4-FFF2-40B4-BE49-F238E27FC236}">
                  <a16:creationId xmlns:a16="http://schemas.microsoft.com/office/drawing/2014/main" id="{C1451637-F91B-479F-8251-660E22819F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FE30555-659F-4A90-A9EB-6FC1093CA620}"/>
              </a:ext>
            </a:extLst>
          </p:cNvPr>
          <p:cNvSpPr/>
          <p:nvPr/>
        </p:nvSpPr>
        <p:spPr>
          <a:xfrm>
            <a:off x="5244494" y="2204445"/>
            <a:ext cx="1973705" cy="95937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Customer Information Filing (CIF)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2C8530A2-867B-402C-9B50-022C8D80D374}"/>
              </a:ext>
            </a:extLst>
          </p:cNvPr>
          <p:cNvSpPr/>
          <p:nvPr/>
        </p:nvSpPr>
        <p:spPr>
          <a:xfrm>
            <a:off x="5244493" y="3701559"/>
            <a:ext cx="2085697" cy="1075852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Current Account &amp;</a:t>
            </a:r>
          </a:p>
          <a:p>
            <a:pPr algn="ctr"/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Savings Account (CASA)</a:t>
            </a:r>
            <a:endParaRPr lang="en-US" dirty="0"/>
          </a:p>
        </p:txBody>
      </p: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028DB7E3-2DB2-425D-B59D-5B1975717826}"/>
              </a:ext>
            </a:extLst>
          </p:cNvPr>
          <p:cNvSpPr/>
          <p:nvPr/>
        </p:nvSpPr>
        <p:spPr>
          <a:xfrm>
            <a:off x="544566" y="5326449"/>
            <a:ext cx="1658986" cy="819515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Fund Transfer (FT)</a:t>
            </a:r>
            <a:endParaRPr lang="en-US" dirty="0"/>
          </a:p>
        </p:txBody>
      </p:sp>
      <p:sp>
        <p:nvSpPr>
          <p:cNvPr id="98" name="Rectangle: Rounded Corners 97">
            <a:extLst>
              <a:ext uri="{FF2B5EF4-FFF2-40B4-BE49-F238E27FC236}">
                <a16:creationId xmlns:a16="http://schemas.microsoft.com/office/drawing/2014/main" id="{A4ACB4E0-75CF-4FF9-A214-1408533F2A9C}"/>
              </a:ext>
            </a:extLst>
          </p:cNvPr>
          <p:cNvSpPr/>
          <p:nvPr/>
        </p:nvSpPr>
        <p:spPr>
          <a:xfrm>
            <a:off x="2449325" y="5326449"/>
            <a:ext cx="1658986" cy="819515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Payments</a:t>
            </a:r>
          </a:p>
          <a:p>
            <a:pPr algn="ctr"/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(PC)</a:t>
            </a:r>
            <a:endParaRPr lang="en-US" dirty="0"/>
          </a:p>
        </p:txBody>
      </p:sp>
      <p:sp>
        <p:nvSpPr>
          <p:cNvPr id="99" name="Rectangle: Rounded Corners 98">
            <a:extLst>
              <a:ext uri="{FF2B5EF4-FFF2-40B4-BE49-F238E27FC236}">
                <a16:creationId xmlns:a16="http://schemas.microsoft.com/office/drawing/2014/main" id="{01E388F1-7B37-4148-AB66-0A0F5E7506C0}"/>
              </a:ext>
            </a:extLst>
          </p:cNvPr>
          <p:cNvSpPr/>
          <p:nvPr/>
        </p:nvSpPr>
        <p:spPr>
          <a:xfrm>
            <a:off x="4354084" y="5328886"/>
            <a:ext cx="1658986" cy="819515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Loan</a:t>
            </a:r>
          </a:p>
          <a:p>
            <a:pPr algn="ctr"/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(CL)</a:t>
            </a:r>
            <a:endParaRPr lang="en-US" dirty="0"/>
          </a:p>
        </p:txBody>
      </p:sp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F1C4D405-88D6-4CAB-868F-DD8526FB12BD}"/>
              </a:ext>
            </a:extLst>
          </p:cNvPr>
          <p:cNvSpPr/>
          <p:nvPr/>
        </p:nvSpPr>
        <p:spPr>
          <a:xfrm>
            <a:off x="6258843" y="5326448"/>
            <a:ext cx="1658986" cy="819515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Trade</a:t>
            </a:r>
          </a:p>
          <a:p>
            <a:pPr algn="ctr"/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(LC &amp; BC)</a:t>
            </a:r>
            <a:endParaRPr lang="en-US" dirty="0"/>
          </a:p>
        </p:txBody>
      </p:sp>
      <p:sp>
        <p:nvSpPr>
          <p:cNvPr id="101" name="Rectangle: Rounded Corners 100">
            <a:extLst>
              <a:ext uri="{FF2B5EF4-FFF2-40B4-BE49-F238E27FC236}">
                <a16:creationId xmlns:a16="http://schemas.microsoft.com/office/drawing/2014/main" id="{95881085-E078-4B90-AFA9-ABE6815C21AF}"/>
              </a:ext>
            </a:extLst>
          </p:cNvPr>
          <p:cNvSpPr/>
          <p:nvPr/>
        </p:nvSpPr>
        <p:spPr>
          <a:xfrm>
            <a:off x="8162096" y="5326448"/>
            <a:ext cx="1658986" cy="819515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Term Deposit</a:t>
            </a:r>
          </a:p>
          <a:p>
            <a:pPr algn="ctr"/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(TD)</a:t>
            </a:r>
            <a:endParaRPr lang="en-US" dirty="0"/>
          </a:p>
        </p:txBody>
      </p:sp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A42D60A1-2FAD-42FA-9637-F7B7AC38F71B}"/>
              </a:ext>
            </a:extLst>
          </p:cNvPr>
          <p:cNvSpPr/>
          <p:nvPr/>
        </p:nvSpPr>
        <p:spPr>
          <a:xfrm>
            <a:off x="10065349" y="5308765"/>
            <a:ext cx="1658986" cy="819515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Retail Teller</a:t>
            </a:r>
          </a:p>
          <a:p>
            <a:pPr algn="ctr"/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(RT)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4371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F56BC67-044F-40A5-A7C9-0374F3635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tx2"/>
                </a:solidFill>
              </a:rPr>
              <a:t>About Application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75EF62-7B5C-41B3-AE34-9CF4226336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5110" y="584497"/>
            <a:ext cx="5996965" cy="6171437"/>
          </a:xfrm>
        </p:spPr>
        <p:txBody>
          <a:bodyPr anchor="ctr">
            <a:normAutofit/>
          </a:bodyPr>
          <a:lstStyle/>
          <a:p>
            <a:r>
              <a:rPr lang="en-US" sz="1800" dirty="0">
                <a:solidFill>
                  <a:schemeClr val="tx2"/>
                </a:solidFill>
              </a:rPr>
              <a:t>Different screens are maintained for each module.</a:t>
            </a:r>
          </a:p>
          <a:p>
            <a:r>
              <a:rPr lang="en-US" sz="1800" dirty="0">
                <a:solidFill>
                  <a:schemeClr val="tx2"/>
                </a:solidFill>
              </a:rPr>
              <a:t>Module name is of 2 letter</a:t>
            </a:r>
          </a:p>
          <a:p>
            <a:pPr marL="457200" lvl="1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e.g. PC- Payments and Collections</a:t>
            </a:r>
          </a:p>
          <a:p>
            <a:pPr marL="457200" lvl="1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        BC-Bills and collection</a:t>
            </a:r>
          </a:p>
          <a:p>
            <a:pPr marL="0" indent="0">
              <a:buNone/>
            </a:pPr>
            <a:endParaRPr lang="en-US" sz="1800" dirty="0">
              <a:solidFill>
                <a:schemeClr val="tx2"/>
              </a:solidFill>
            </a:endParaRPr>
          </a:p>
          <a:p>
            <a:r>
              <a:rPr lang="en-US" sz="1800" dirty="0">
                <a:solidFill>
                  <a:schemeClr val="tx2"/>
                </a:solidFill>
              </a:rPr>
              <a:t>Fast path for screen navigation: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800" dirty="0">
                <a:solidFill>
                  <a:schemeClr val="tx2"/>
                </a:solidFill>
              </a:rPr>
              <a:t>First 2 letters indicates </a:t>
            </a:r>
            <a:r>
              <a:rPr lang="en-US" sz="1800" b="1" dirty="0">
                <a:solidFill>
                  <a:schemeClr val="tx2"/>
                </a:solidFill>
              </a:rPr>
              <a:t>Module Name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800" dirty="0">
                <a:solidFill>
                  <a:schemeClr val="tx2"/>
                </a:solidFill>
              </a:rPr>
              <a:t>3</a:t>
            </a:r>
            <a:r>
              <a:rPr lang="en-US" sz="1800" baseline="30000" dirty="0">
                <a:solidFill>
                  <a:schemeClr val="tx2"/>
                </a:solidFill>
              </a:rPr>
              <a:t>rd</a:t>
            </a:r>
            <a:r>
              <a:rPr lang="en-US" sz="1800" dirty="0">
                <a:solidFill>
                  <a:schemeClr val="tx2"/>
                </a:solidFill>
              </a:rPr>
              <a:t> letter either </a:t>
            </a:r>
            <a:r>
              <a:rPr lang="en-US" sz="1800" b="1" dirty="0">
                <a:solidFill>
                  <a:schemeClr val="tx2"/>
                </a:solidFill>
              </a:rPr>
              <a:t>D</a:t>
            </a:r>
            <a:r>
              <a:rPr lang="en-US" sz="1800" dirty="0">
                <a:solidFill>
                  <a:schemeClr val="tx2"/>
                </a:solidFill>
              </a:rPr>
              <a:t> or </a:t>
            </a:r>
            <a:r>
              <a:rPr lang="en-US" sz="1800" b="1" dirty="0">
                <a:solidFill>
                  <a:schemeClr val="tx2"/>
                </a:solidFill>
              </a:rPr>
              <a:t>S</a:t>
            </a:r>
            <a:r>
              <a:rPr lang="en-US" sz="1800" dirty="0">
                <a:solidFill>
                  <a:schemeClr val="tx2"/>
                </a:solidFill>
              </a:rPr>
              <a:t> indicates </a:t>
            </a:r>
            <a:r>
              <a:rPr lang="en-US" sz="1800" b="1" dirty="0">
                <a:solidFill>
                  <a:schemeClr val="tx2"/>
                </a:solidFill>
              </a:rPr>
              <a:t>D</a:t>
            </a:r>
            <a:r>
              <a:rPr lang="en-US" sz="1800" dirty="0">
                <a:solidFill>
                  <a:schemeClr val="tx2"/>
                </a:solidFill>
              </a:rPr>
              <a:t>etail screen or </a:t>
            </a:r>
            <a:r>
              <a:rPr lang="en-US" sz="1800" b="1" dirty="0">
                <a:solidFill>
                  <a:schemeClr val="tx2"/>
                </a:solidFill>
              </a:rPr>
              <a:t>S</a:t>
            </a:r>
            <a:r>
              <a:rPr lang="en-US" sz="1800" dirty="0">
                <a:solidFill>
                  <a:schemeClr val="tx2"/>
                </a:solidFill>
              </a:rPr>
              <a:t>ummary screen.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	e.g. PCDTRONL &amp; PCSTRONL</a:t>
            </a:r>
          </a:p>
          <a:p>
            <a:pPr marL="0" indent="0">
              <a:buNone/>
            </a:pPr>
            <a:endParaRPr lang="en-US" sz="1800" dirty="0">
              <a:solidFill>
                <a:schemeClr val="tx2"/>
              </a:solidFill>
            </a:endParaRPr>
          </a:p>
          <a:p>
            <a:r>
              <a:rPr lang="en-US" sz="1800" dirty="0">
                <a:solidFill>
                  <a:schemeClr val="tx2"/>
                </a:solidFill>
              </a:rPr>
              <a:t>Each module is divided into,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800" dirty="0">
                <a:solidFill>
                  <a:schemeClr val="tx2"/>
                </a:solidFill>
              </a:rPr>
              <a:t>Maintenance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800" dirty="0">
                <a:solidFill>
                  <a:schemeClr val="tx2"/>
                </a:solidFill>
              </a:rPr>
              <a:t>Contract initiation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800" dirty="0">
                <a:solidFill>
                  <a:schemeClr val="tx2"/>
                </a:solidFill>
              </a:rPr>
              <a:t>View</a:t>
            </a:r>
          </a:p>
        </p:txBody>
      </p:sp>
    </p:spTree>
    <p:extLst>
      <p:ext uri="{BB962C8B-B14F-4D97-AF65-F5344CB8AC3E}">
        <p14:creationId xmlns:p14="http://schemas.microsoft.com/office/powerpoint/2010/main" val="476287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F56BC67-044F-40A5-A7C9-0374F3635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tx2"/>
                </a:solidFill>
              </a:rPr>
              <a:t>About Application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75EF62-7B5C-41B3-AE34-9CF4226336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21947" y="809568"/>
            <a:ext cx="5221224" cy="3482516"/>
          </a:xfrm>
        </p:spPr>
        <p:txBody>
          <a:bodyPr anchor="ctr">
            <a:normAutofit/>
          </a:bodyPr>
          <a:lstStyle/>
          <a:p>
            <a:r>
              <a:rPr lang="en-US" sz="1800" dirty="0">
                <a:solidFill>
                  <a:schemeClr val="tx2"/>
                </a:solidFill>
              </a:rPr>
              <a:t>Attributes are maintained at Product level and can be applied on group of Contracts.</a:t>
            </a:r>
          </a:p>
          <a:p>
            <a:r>
              <a:rPr lang="en-US" sz="1800" dirty="0">
                <a:solidFill>
                  <a:schemeClr val="tx2"/>
                </a:solidFill>
              </a:rPr>
              <a:t>Few attributes can be changed at contract level.</a:t>
            </a:r>
          </a:p>
          <a:p>
            <a:pPr marL="0" indent="0">
              <a:buNone/>
            </a:pPr>
            <a:r>
              <a:rPr lang="en-US" sz="1800" dirty="0" err="1">
                <a:solidFill>
                  <a:schemeClr val="tx2"/>
                </a:solidFill>
              </a:rPr>
              <a:t>e.g</a:t>
            </a:r>
            <a:r>
              <a:rPr lang="en-US" sz="1800" dirty="0">
                <a:solidFill>
                  <a:schemeClr val="tx2"/>
                </a:solidFill>
              </a:rPr>
              <a:t> Interest Rate, Charges, Fees, Restrictions.</a:t>
            </a:r>
          </a:p>
          <a:p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430B833-4AFC-4DA4-95C8-1E2018DC2CF9}"/>
              </a:ext>
            </a:extLst>
          </p:cNvPr>
          <p:cNvSpPr/>
          <p:nvPr/>
        </p:nvSpPr>
        <p:spPr>
          <a:xfrm>
            <a:off x="6760564" y="3462726"/>
            <a:ext cx="2038663" cy="88442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Product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4C4AEE7-7D29-4C37-AB30-61CADF97780A}"/>
              </a:ext>
            </a:extLst>
          </p:cNvPr>
          <p:cNvSpPr/>
          <p:nvPr/>
        </p:nvSpPr>
        <p:spPr>
          <a:xfrm>
            <a:off x="6793044" y="5219075"/>
            <a:ext cx="2038663" cy="88442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Contract</a:t>
            </a:r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4E4F2C62-4232-4F06-977A-A89E34C87A01}"/>
              </a:ext>
            </a:extLst>
          </p:cNvPr>
          <p:cNvSpPr/>
          <p:nvPr/>
        </p:nvSpPr>
        <p:spPr>
          <a:xfrm>
            <a:off x="7615004" y="4347146"/>
            <a:ext cx="389744" cy="871929"/>
          </a:xfrm>
          <a:prstGeom prst="down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4A6EB464-585B-4727-8643-CB82B59FDF8C}"/>
              </a:ext>
            </a:extLst>
          </p:cNvPr>
          <p:cNvSpPr txBox="1">
            <a:spLocks/>
          </p:cNvSpPr>
          <p:nvPr/>
        </p:nvSpPr>
        <p:spPr>
          <a:xfrm>
            <a:off x="5964165" y="761038"/>
            <a:ext cx="3404016" cy="8778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Product and Contract</a:t>
            </a:r>
          </a:p>
        </p:txBody>
      </p:sp>
    </p:spTree>
    <p:extLst>
      <p:ext uri="{BB962C8B-B14F-4D97-AF65-F5344CB8AC3E}">
        <p14:creationId xmlns:p14="http://schemas.microsoft.com/office/powerpoint/2010/main" val="14951083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F56BC67-044F-40A5-A7C9-0374F3635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tx2"/>
                </a:solidFill>
              </a:rPr>
              <a:t>About Application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75EF62-7B5C-41B3-AE34-9CF4226336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21947" y="809568"/>
            <a:ext cx="5221224" cy="3482516"/>
          </a:xfrm>
        </p:spPr>
        <p:txBody>
          <a:bodyPr anchor="ctr">
            <a:normAutofit/>
          </a:bodyPr>
          <a:lstStyle/>
          <a:p>
            <a:r>
              <a:rPr lang="en-US" sz="1800" dirty="0">
                <a:solidFill>
                  <a:schemeClr val="tx2"/>
                </a:solidFill>
              </a:rPr>
              <a:t>One Head Office Branch</a:t>
            </a:r>
          </a:p>
          <a:p>
            <a:r>
              <a:rPr lang="en-US" sz="1800" dirty="0">
                <a:solidFill>
                  <a:schemeClr val="tx2"/>
                </a:solidFill>
              </a:rPr>
              <a:t>Multiple Transaction Branches</a:t>
            </a:r>
          </a:p>
          <a:p>
            <a:r>
              <a:rPr lang="en-US" sz="1800" dirty="0">
                <a:solidFill>
                  <a:schemeClr val="tx2"/>
                </a:solidFill>
              </a:rPr>
              <a:t>Common maintenance is done at Head Office branch and then propagated to other branches.</a:t>
            </a:r>
          </a:p>
          <a:p>
            <a:endParaRPr lang="en-US" sz="1800" dirty="0">
              <a:solidFill>
                <a:schemeClr val="tx2"/>
              </a:solidFill>
            </a:endParaRPr>
          </a:p>
          <a:p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430B833-4AFC-4DA4-95C8-1E2018DC2CF9}"/>
              </a:ext>
            </a:extLst>
          </p:cNvPr>
          <p:cNvSpPr/>
          <p:nvPr/>
        </p:nvSpPr>
        <p:spPr>
          <a:xfrm>
            <a:off x="7358147" y="3443988"/>
            <a:ext cx="2038663" cy="88442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Head Office (HO)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4C4AEE7-7D29-4C37-AB30-61CADF97780A}"/>
              </a:ext>
            </a:extLst>
          </p:cNvPr>
          <p:cNvSpPr/>
          <p:nvPr/>
        </p:nvSpPr>
        <p:spPr>
          <a:xfrm>
            <a:off x="4833854" y="5286527"/>
            <a:ext cx="2038663" cy="88442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Branch 1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4A6EB464-585B-4727-8643-CB82B59FDF8C}"/>
              </a:ext>
            </a:extLst>
          </p:cNvPr>
          <p:cNvSpPr txBox="1">
            <a:spLocks/>
          </p:cNvSpPr>
          <p:nvPr/>
        </p:nvSpPr>
        <p:spPr>
          <a:xfrm>
            <a:off x="5964165" y="761038"/>
            <a:ext cx="3404016" cy="8778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Branch Structure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1426D53-0FA5-40DF-B13E-BE1AF19FDF14}"/>
              </a:ext>
            </a:extLst>
          </p:cNvPr>
          <p:cNvSpPr/>
          <p:nvPr/>
        </p:nvSpPr>
        <p:spPr>
          <a:xfrm>
            <a:off x="7358147" y="5274137"/>
            <a:ext cx="2038663" cy="88442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Branch 2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A1117DA-1287-4940-9280-331846562E8B}"/>
              </a:ext>
            </a:extLst>
          </p:cNvPr>
          <p:cNvSpPr/>
          <p:nvPr/>
        </p:nvSpPr>
        <p:spPr>
          <a:xfrm>
            <a:off x="9882440" y="5274137"/>
            <a:ext cx="2038663" cy="88442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Branch 3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424CB95-637F-4A32-93E4-254AD0F27799}"/>
              </a:ext>
            </a:extLst>
          </p:cNvPr>
          <p:cNvCxnSpPr>
            <a:stCxn id="11" idx="2"/>
            <a:endCxn id="20" idx="0"/>
          </p:cNvCxnSpPr>
          <p:nvPr/>
        </p:nvCxnSpPr>
        <p:spPr>
          <a:xfrm>
            <a:off x="8377479" y="4328408"/>
            <a:ext cx="0" cy="9457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DD45EB43-A9AE-4BAD-8670-E67513D4C773}"/>
              </a:ext>
            </a:extLst>
          </p:cNvPr>
          <p:cNvCxnSpPr>
            <a:endCxn id="21" idx="0"/>
          </p:cNvCxnSpPr>
          <p:nvPr/>
        </p:nvCxnSpPr>
        <p:spPr>
          <a:xfrm>
            <a:off x="8377478" y="4856813"/>
            <a:ext cx="2524294" cy="41732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47A1B03C-3BEC-4D99-A22D-EA2B766828B3}"/>
              </a:ext>
            </a:extLst>
          </p:cNvPr>
          <p:cNvCxnSpPr>
            <a:cxnSpLocks/>
            <a:endCxn id="17" idx="0"/>
          </p:cNvCxnSpPr>
          <p:nvPr/>
        </p:nvCxnSpPr>
        <p:spPr>
          <a:xfrm rot="10800000" flipV="1">
            <a:off x="5853187" y="4856813"/>
            <a:ext cx="2493533" cy="42971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82725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F56BC67-044F-40A5-A7C9-0374F3635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tx2"/>
                </a:solidFill>
              </a:rPr>
              <a:t>About Application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75EF62-7B5C-41B3-AE34-9CF4226336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68720" y="1432560"/>
            <a:ext cx="5130799" cy="396240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en-US" sz="1800" dirty="0">
              <a:solidFill>
                <a:schemeClr val="tx2"/>
              </a:solidFill>
            </a:endParaRPr>
          </a:p>
          <a:p>
            <a:r>
              <a:rPr lang="en-US" sz="1800" dirty="0">
                <a:solidFill>
                  <a:schemeClr val="tx2"/>
                </a:solidFill>
              </a:rPr>
              <a:t>Core Parameter Set Up Sequence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dirty="0">
                <a:solidFill>
                  <a:schemeClr val="tx2"/>
                </a:solidFill>
              </a:rPr>
              <a:t>  Bank Parameters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dirty="0">
                <a:solidFill>
                  <a:schemeClr val="tx2"/>
                </a:solidFill>
              </a:rPr>
              <a:t>  Branch Parameters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dirty="0">
                <a:solidFill>
                  <a:schemeClr val="tx2"/>
                </a:solidFill>
              </a:rPr>
              <a:t>  Other Maintenance</a:t>
            </a:r>
          </a:p>
          <a:p>
            <a:r>
              <a:rPr lang="en-US" sz="1800" dirty="0">
                <a:solidFill>
                  <a:schemeClr val="tx2"/>
                </a:solidFill>
              </a:rPr>
              <a:t>Product Set Up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dirty="0">
                <a:solidFill>
                  <a:schemeClr val="tx2"/>
                </a:solidFill>
              </a:rPr>
              <a:t>  Core Maintenance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dirty="0">
                <a:solidFill>
                  <a:schemeClr val="tx2"/>
                </a:solidFill>
              </a:rPr>
              <a:t>  Product Level Static Maintenance</a:t>
            </a:r>
          </a:p>
          <a:p>
            <a:pPr marL="0" indent="0">
              <a:buNone/>
            </a:pP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4A6EB464-585B-4727-8643-CB82B59FDF8C}"/>
              </a:ext>
            </a:extLst>
          </p:cNvPr>
          <p:cNvSpPr txBox="1">
            <a:spLocks/>
          </p:cNvSpPr>
          <p:nvPr/>
        </p:nvSpPr>
        <p:spPr>
          <a:xfrm>
            <a:off x="6268720" y="761038"/>
            <a:ext cx="4551679" cy="8778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solidFill>
                  <a:schemeClr val="tx2"/>
                </a:solidFill>
              </a:rPr>
              <a:t>Day 0 Maintenance</a:t>
            </a:r>
            <a:endParaRPr lang="en-US" sz="2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05653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F56BC67-044F-40A5-A7C9-0374F3635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tx2"/>
                </a:solidFill>
              </a:rPr>
              <a:t>About Application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75EF62-7B5C-41B3-AE34-9CF4226336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68720" y="1432560"/>
            <a:ext cx="5130799" cy="396240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en-US" sz="1800" dirty="0">
              <a:solidFill>
                <a:schemeClr val="tx2"/>
              </a:solidFill>
            </a:endParaRPr>
          </a:p>
          <a:p>
            <a:r>
              <a:rPr lang="en-US" sz="1800" dirty="0">
                <a:solidFill>
                  <a:schemeClr val="tx2"/>
                </a:solidFill>
              </a:rPr>
              <a:t>CIF</a:t>
            </a:r>
          </a:p>
          <a:p>
            <a:r>
              <a:rPr lang="en-US" sz="1800" dirty="0">
                <a:solidFill>
                  <a:schemeClr val="tx2"/>
                </a:solidFill>
              </a:rPr>
              <a:t>CASA</a:t>
            </a:r>
          </a:p>
          <a:p>
            <a:r>
              <a:rPr lang="en-US" sz="1800" dirty="0">
                <a:solidFill>
                  <a:schemeClr val="tx2"/>
                </a:solidFill>
              </a:rPr>
              <a:t>TD</a:t>
            </a:r>
          </a:p>
          <a:p>
            <a:r>
              <a:rPr lang="en-US" sz="1800" dirty="0">
                <a:solidFill>
                  <a:schemeClr val="tx2"/>
                </a:solidFill>
              </a:rPr>
              <a:t>CL</a:t>
            </a:r>
          </a:p>
          <a:p>
            <a:r>
              <a:rPr lang="en-US" sz="1800" dirty="0">
                <a:solidFill>
                  <a:schemeClr val="tx2"/>
                </a:solidFill>
              </a:rPr>
              <a:t>RT</a:t>
            </a:r>
          </a:p>
          <a:p>
            <a:r>
              <a:rPr lang="en-US" sz="1800" dirty="0">
                <a:solidFill>
                  <a:schemeClr val="tx2"/>
                </a:solidFill>
              </a:rPr>
              <a:t>PC</a:t>
            </a:r>
          </a:p>
          <a:p>
            <a:r>
              <a:rPr lang="en-US" sz="1800" dirty="0">
                <a:solidFill>
                  <a:schemeClr val="tx2"/>
                </a:solidFill>
              </a:rPr>
              <a:t>FT</a:t>
            </a:r>
          </a:p>
          <a:p>
            <a:r>
              <a:rPr lang="en-US" sz="1800" dirty="0">
                <a:solidFill>
                  <a:schemeClr val="tx2"/>
                </a:solidFill>
              </a:rPr>
              <a:t>Trade Finance</a:t>
            </a:r>
          </a:p>
          <a:p>
            <a:r>
              <a:rPr lang="en-US" sz="1800" dirty="0">
                <a:solidFill>
                  <a:schemeClr val="tx2"/>
                </a:solidFill>
              </a:rPr>
              <a:t>Other</a:t>
            </a:r>
          </a:p>
          <a:p>
            <a:endParaRPr lang="en-US" sz="1800" dirty="0">
              <a:solidFill>
                <a:schemeClr val="tx2"/>
              </a:solidFill>
            </a:endParaRPr>
          </a:p>
          <a:p>
            <a:endParaRPr lang="en-US" sz="1800" dirty="0">
              <a:solidFill>
                <a:schemeClr val="tx2"/>
              </a:solidFill>
            </a:endParaRPr>
          </a:p>
          <a:p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4A6EB464-585B-4727-8643-CB82B59FDF8C}"/>
              </a:ext>
            </a:extLst>
          </p:cNvPr>
          <p:cNvSpPr txBox="1">
            <a:spLocks/>
          </p:cNvSpPr>
          <p:nvPr/>
        </p:nvSpPr>
        <p:spPr>
          <a:xfrm>
            <a:off x="6268720" y="761038"/>
            <a:ext cx="4551679" cy="8778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solidFill>
                  <a:schemeClr val="tx2"/>
                </a:solidFill>
              </a:rPr>
              <a:t>Modules in Flexcube</a:t>
            </a:r>
            <a:endParaRPr lang="en-US" sz="2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77993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A3C7DEA-BCC2-4295-8850-1479932961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89949D-B9F6-468A-86FE-2694DC5AE7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99B0FA-27A7-457C-B0CC-0BFF43292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073" y="594837"/>
            <a:ext cx="9833548" cy="1066802"/>
          </a:xfrm>
        </p:spPr>
        <p:txBody>
          <a:bodyPr anchor="b">
            <a:normAutofit/>
          </a:bodyPr>
          <a:lstStyle/>
          <a:p>
            <a:pPr algn="ctr"/>
            <a:r>
              <a:rPr lang="en-US" sz="3600" dirty="0">
                <a:solidFill>
                  <a:schemeClr val="tx2"/>
                </a:solidFill>
              </a:rPr>
              <a:t>Customer Information Filing (CIF)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4DF0958-0C87-4C28-9554-2FADC788C2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67135" y="0"/>
            <a:ext cx="4324865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EC53B48-7B73-49D1-A6FD-9DBF5141EA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7DEDDC41-2C98-4AF1-A0EA-AEEC34827C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2208F20-F93C-4530-8370-FC7818BABB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52F51E0-B50B-43EA-B6AC-C16BD29C3E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7ED7A0-2B2A-4DD8-8D63-254FEA2DE1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9260" y="2377889"/>
            <a:ext cx="9833548" cy="3774937"/>
          </a:xfrm>
        </p:spPr>
        <p:txBody>
          <a:bodyPr anchor="ctr">
            <a:normAutofit/>
          </a:bodyPr>
          <a:lstStyle/>
          <a:p>
            <a:r>
              <a:rPr lang="en-US" sz="1800" dirty="0">
                <a:solidFill>
                  <a:schemeClr val="tx2"/>
                </a:solidFill>
              </a:rPr>
              <a:t>Various personal and business details of the customers are maintained.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Like Name, Full name, correspondence address, Permanent Address including PIN and country, Contact details, KYC details, National ID.</a:t>
            </a:r>
          </a:p>
          <a:p>
            <a:r>
              <a:rPr lang="en-US" sz="1800" dirty="0">
                <a:solidFill>
                  <a:schemeClr val="tx2"/>
                </a:solidFill>
              </a:rPr>
              <a:t>To avoid duplicate records, the CIF details are maintained at branch level and can be access by all the branches.</a:t>
            </a:r>
          </a:p>
          <a:p>
            <a:pPr marL="0" indent="0">
              <a:buNone/>
            </a:pPr>
            <a:endParaRPr lang="en-US" sz="18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Types of Customer:</a:t>
            </a:r>
          </a:p>
          <a:p>
            <a:pPr marL="457200" lvl="1" indent="0">
              <a:buNone/>
            </a:pPr>
            <a:endParaRPr lang="en-US" sz="1800" dirty="0">
              <a:solidFill>
                <a:schemeClr val="tx2"/>
              </a:solidFill>
            </a:endParaRPr>
          </a:p>
          <a:p>
            <a:pPr marL="457200" lvl="1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                                </a:t>
            </a:r>
          </a:p>
          <a:p>
            <a:pPr marL="457200" lvl="1" indent="0">
              <a:buNone/>
            </a:pPr>
            <a:endParaRPr lang="en-US" sz="1800" dirty="0">
              <a:solidFill>
                <a:schemeClr val="tx2"/>
              </a:solidFill>
            </a:endParaRPr>
          </a:p>
          <a:p>
            <a:endParaRPr lang="en-US" sz="1800" dirty="0">
              <a:solidFill>
                <a:schemeClr val="tx2"/>
              </a:solidFill>
            </a:endParaRPr>
          </a:p>
        </p:txBody>
      </p:sp>
      <p:pic>
        <p:nvPicPr>
          <p:cNvPr id="11" name="Graphic 10" descr="Building">
            <a:extLst>
              <a:ext uri="{FF2B5EF4-FFF2-40B4-BE49-F238E27FC236}">
                <a16:creationId xmlns:a16="http://schemas.microsoft.com/office/drawing/2014/main" id="{D70CDD6C-2B20-4359-90BD-DAEF2DD840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204508" y="4931374"/>
            <a:ext cx="763160" cy="763160"/>
          </a:xfrm>
          <a:prstGeom prst="rect">
            <a:avLst/>
          </a:prstGeom>
        </p:spPr>
      </p:pic>
      <p:pic>
        <p:nvPicPr>
          <p:cNvPr id="5" name="Graphic 4" descr="Bank with solid fill">
            <a:extLst>
              <a:ext uri="{FF2B5EF4-FFF2-40B4-BE49-F238E27FC236}">
                <a16:creationId xmlns:a16="http://schemas.microsoft.com/office/drawing/2014/main" id="{7AE0631E-BAE8-44FB-A2F0-8B7255B87E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56554" y="4886639"/>
            <a:ext cx="854677" cy="854677"/>
          </a:xfrm>
          <a:prstGeom prst="rect">
            <a:avLst/>
          </a:prstGeom>
        </p:spPr>
      </p:pic>
      <p:pic>
        <p:nvPicPr>
          <p:cNvPr id="7" name="Graphic 6" descr="Male profile with solid fill">
            <a:extLst>
              <a:ext uri="{FF2B5EF4-FFF2-40B4-BE49-F238E27FC236}">
                <a16:creationId xmlns:a16="http://schemas.microsoft.com/office/drawing/2014/main" id="{5855711F-0C55-47B6-BE1A-4B8E675AF5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77744" y="4970315"/>
            <a:ext cx="794953" cy="79495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B7C472F-457F-4516-9460-04E8E225D66E}"/>
              </a:ext>
            </a:extLst>
          </p:cNvPr>
          <p:cNvSpPr txBox="1"/>
          <p:nvPr/>
        </p:nvSpPr>
        <p:spPr>
          <a:xfrm>
            <a:off x="1737030" y="5628709"/>
            <a:ext cx="15997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tx2"/>
                </a:solidFill>
              </a:rPr>
              <a:t>Individual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4CD775-5DF9-4364-A047-66C9F8AC0E5C}"/>
              </a:ext>
            </a:extLst>
          </p:cNvPr>
          <p:cNvSpPr txBox="1"/>
          <p:nvPr/>
        </p:nvSpPr>
        <p:spPr>
          <a:xfrm>
            <a:off x="4039093" y="5606567"/>
            <a:ext cx="15997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tx2"/>
                </a:solidFill>
              </a:rPr>
              <a:t>Corporate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A0346E5-578B-4399-B929-55AD74FF30BB}"/>
              </a:ext>
            </a:extLst>
          </p:cNvPr>
          <p:cNvSpPr txBox="1"/>
          <p:nvPr/>
        </p:nvSpPr>
        <p:spPr>
          <a:xfrm>
            <a:off x="6504873" y="5623773"/>
            <a:ext cx="15997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tx2"/>
                </a:solidFill>
              </a:rPr>
              <a:t>Banks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93970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3C823D3-D619-407C-89E0-C6F6B1E7A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7F8E3E-2FFA-4A0F-B3C7-E57ADDCFB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4F7C89-0DCB-4724-888A-5289E5DEE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425410"/>
            <a:ext cx="9833548" cy="1325563"/>
          </a:xfrm>
        </p:spPr>
        <p:txBody>
          <a:bodyPr anchor="b">
            <a:normAutofit/>
          </a:bodyPr>
          <a:lstStyle/>
          <a:p>
            <a:pPr algn="ctr"/>
            <a:r>
              <a:rPr lang="en-US" sz="3600" dirty="0">
                <a:solidFill>
                  <a:schemeClr val="tx2"/>
                </a:solidFill>
              </a:rPr>
              <a:t>Current Account Saving Account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3D939F1-7ABE-4D0E-946A-43F37F556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3346102" cy="2510865"/>
            <a:chOff x="-305" y="-1"/>
            <a:chExt cx="3832880" cy="2876136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3FE0426-0FE4-451E-A8BB-08DA6A6AC2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A32F7E8-35B4-451F-AA07-AECF7CA1D5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097796-C3C8-4772-9EBD-9F5CA368F5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C4BC137-BB50-4235-A83F-4B4EEE1590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289A9A-2AA6-4E7C-A48D-3A987424D0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226" y="3329677"/>
            <a:ext cx="9833548" cy="2457269"/>
          </a:xfrm>
        </p:spPr>
        <p:txBody>
          <a:bodyPr>
            <a:normAutofit/>
          </a:bodyPr>
          <a:lstStyle/>
          <a:p>
            <a:r>
              <a:rPr lang="en-US" sz="1800" dirty="0">
                <a:solidFill>
                  <a:schemeClr val="tx2"/>
                </a:solidFill>
              </a:rPr>
              <a:t>Current Account and Saving Account commonly referred to as CASA.</a:t>
            </a:r>
          </a:p>
          <a:p>
            <a:r>
              <a:rPr lang="en-US" sz="1800" dirty="0">
                <a:solidFill>
                  <a:schemeClr val="tx2"/>
                </a:solidFill>
              </a:rPr>
              <a:t>Through Flexcube, bank can execute below  functions :</a:t>
            </a:r>
          </a:p>
          <a:p>
            <a:pPr>
              <a:buFontTx/>
              <a:buChar char="-"/>
            </a:pPr>
            <a:r>
              <a:rPr lang="en-US" sz="1800" dirty="0">
                <a:solidFill>
                  <a:schemeClr val="tx2"/>
                </a:solidFill>
              </a:rPr>
              <a:t>Account creation</a:t>
            </a:r>
          </a:p>
          <a:p>
            <a:pPr>
              <a:buFontTx/>
              <a:buChar char="-"/>
            </a:pPr>
            <a:r>
              <a:rPr lang="en-US" sz="1800" dirty="0">
                <a:solidFill>
                  <a:schemeClr val="tx2"/>
                </a:solidFill>
              </a:rPr>
              <a:t>Details of cheque book issued</a:t>
            </a:r>
          </a:p>
          <a:p>
            <a:pPr>
              <a:buFontTx/>
              <a:buChar char="-"/>
            </a:pPr>
            <a:r>
              <a:rPr lang="en-US" sz="1800" dirty="0">
                <a:solidFill>
                  <a:schemeClr val="tx2"/>
                </a:solidFill>
              </a:rPr>
              <a:t>Details of Debit card</a:t>
            </a:r>
          </a:p>
          <a:p>
            <a:pPr>
              <a:buFontTx/>
              <a:buChar char="-"/>
            </a:pPr>
            <a:r>
              <a:rPr lang="en-US" sz="1800" dirty="0">
                <a:solidFill>
                  <a:schemeClr val="tx2"/>
                </a:solidFill>
              </a:rPr>
              <a:t>Deposit instructions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DB3963A-4187-4A72-9DA4-CA6BADE22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9072780" y="3734338"/>
            <a:ext cx="3878664" cy="236865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428E75E-001A-4568-B035-574F1303EF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4AC8CFC-1164-4525-82A0-25F75ADCF4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F35C856-5B70-4CA2-BB8F-A37197D8F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50FD8B0-DE97-47B1-84ED-67A3BD00F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70FF606-6D3D-4EF0-8DC0-A7282096EF03}"/>
              </a:ext>
            </a:extLst>
          </p:cNvPr>
          <p:cNvSpPr/>
          <p:nvPr/>
        </p:nvSpPr>
        <p:spPr>
          <a:xfrm>
            <a:off x="7981878" y="2266793"/>
            <a:ext cx="2038663" cy="88442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Account Class</a:t>
            </a:r>
          </a:p>
          <a:p>
            <a:pPr algn="ctr"/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STDACCLS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4E2B0D0-3F9E-492D-BA0C-5761A2C6E8B3}"/>
              </a:ext>
            </a:extLst>
          </p:cNvPr>
          <p:cNvSpPr/>
          <p:nvPr/>
        </p:nvSpPr>
        <p:spPr>
          <a:xfrm>
            <a:off x="7954932" y="4020624"/>
            <a:ext cx="2038663" cy="88442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CASA Account</a:t>
            </a:r>
          </a:p>
          <a:p>
            <a:pPr algn="ctr"/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STDCUSAC</a:t>
            </a:r>
          </a:p>
        </p:txBody>
      </p:sp>
      <p:sp>
        <p:nvSpPr>
          <p:cNvPr id="24" name="Arrow: Down 23">
            <a:extLst>
              <a:ext uri="{FF2B5EF4-FFF2-40B4-BE49-F238E27FC236}">
                <a16:creationId xmlns:a16="http://schemas.microsoft.com/office/drawing/2014/main" id="{CCCEDE63-0B77-40F0-B4C5-6DB81F4AE8A8}"/>
              </a:ext>
            </a:extLst>
          </p:cNvPr>
          <p:cNvSpPr/>
          <p:nvPr/>
        </p:nvSpPr>
        <p:spPr>
          <a:xfrm>
            <a:off x="8806337" y="3151213"/>
            <a:ext cx="389744" cy="871929"/>
          </a:xfrm>
          <a:prstGeom prst="down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4044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43C823D3-D619-407C-89E0-C6F6B1E7A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47F8E3E-2FFA-4A0F-B3C7-E57ADDCFB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4F7C89-0DCB-4724-888A-5289E5DEE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8564" y="278421"/>
            <a:ext cx="9833548" cy="1325563"/>
          </a:xfrm>
        </p:spPr>
        <p:txBody>
          <a:bodyPr anchor="b">
            <a:normAutofit/>
          </a:bodyPr>
          <a:lstStyle/>
          <a:p>
            <a:pPr algn="ctr"/>
            <a:r>
              <a:rPr lang="en-US" sz="3600" dirty="0">
                <a:solidFill>
                  <a:schemeClr val="tx2"/>
                </a:solidFill>
              </a:rPr>
              <a:t>Term Deposit</a:t>
            </a:r>
          </a:p>
        </p:txBody>
      </p:sp>
      <p:grpSp>
        <p:nvGrpSpPr>
          <p:cNvPr id="50" name="Group 31">
            <a:extLst>
              <a:ext uri="{FF2B5EF4-FFF2-40B4-BE49-F238E27FC236}">
                <a16:creationId xmlns:a16="http://schemas.microsoft.com/office/drawing/2014/main" id="{33D939F1-7ABE-4D0E-946A-43F37F556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3346102" cy="2510865"/>
            <a:chOff x="-305" y="-1"/>
            <a:chExt cx="3832880" cy="2876136"/>
          </a:xfrm>
        </p:grpSpPr>
        <p:sp>
          <p:nvSpPr>
            <p:cNvPr id="51" name="Freeform: Shape 32">
              <a:extLst>
                <a:ext uri="{FF2B5EF4-FFF2-40B4-BE49-F238E27FC236}">
                  <a16:creationId xmlns:a16="http://schemas.microsoft.com/office/drawing/2014/main" id="{63FE0426-0FE4-451E-A8BB-08DA6A6AC2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: Shape 33">
              <a:extLst>
                <a:ext uri="{FF2B5EF4-FFF2-40B4-BE49-F238E27FC236}">
                  <a16:creationId xmlns:a16="http://schemas.microsoft.com/office/drawing/2014/main" id="{4A32F7E8-35B4-451F-AA07-AECF7CA1D5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Freeform: Shape 34">
              <a:extLst>
                <a:ext uri="{FF2B5EF4-FFF2-40B4-BE49-F238E27FC236}">
                  <a16:creationId xmlns:a16="http://schemas.microsoft.com/office/drawing/2014/main" id="{E1097796-C3C8-4772-9EBD-9F5CA368F5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EC4BC137-BB50-4235-A83F-4B4EEE1590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4" name="Content Placeholder 2">
            <a:extLst>
              <a:ext uri="{FF2B5EF4-FFF2-40B4-BE49-F238E27FC236}">
                <a16:creationId xmlns:a16="http://schemas.microsoft.com/office/drawing/2014/main" id="{F4289A9A-2AA6-4E7C-A48D-3A987424D0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226" y="2510865"/>
            <a:ext cx="9833548" cy="4075915"/>
          </a:xfrm>
        </p:spPr>
        <p:txBody>
          <a:bodyPr>
            <a:normAutofit/>
          </a:bodyPr>
          <a:lstStyle/>
          <a:p>
            <a:r>
              <a:rPr lang="en-US" sz="1800" dirty="0">
                <a:solidFill>
                  <a:schemeClr val="tx2"/>
                </a:solidFill>
              </a:rPr>
              <a:t>Fixed Term</a:t>
            </a:r>
          </a:p>
          <a:p>
            <a:r>
              <a:rPr lang="en-US" sz="1800" dirty="0">
                <a:solidFill>
                  <a:schemeClr val="tx2"/>
                </a:solidFill>
              </a:rPr>
              <a:t>High Interest than CASA</a:t>
            </a:r>
          </a:p>
          <a:p>
            <a:r>
              <a:rPr lang="en-US" sz="1800" dirty="0">
                <a:solidFill>
                  <a:schemeClr val="tx2"/>
                </a:solidFill>
              </a:rPr>
              <a:t>Premature penalty withdrawal</a:t>
            </a:r>
          </a:p>
          <a:p>
            <a:r>
              <a:rPr lang="en-US" sz="1800" dirty="0">
                <a:solidFill>
                  <a:schemeClr val="tx2"/>
                </a:solidFill>
              </a:rPr>
              <a:t>Types of TD: Normal TD or Auto TD</a:t>
            </a:r>
          </a:p>
          <a:p>
            <a:r>
              <a:rPr lang="en-US" sz="1800" dirty="0">
                <a:solidFill>
                  <a:schemeClr val="tx2"/>
                </a:solidFill>
              </a:rPr>
              <a:t>Simple &amp; Compound interest</a:t>
            </a:r>
          </a:p>
          <a:p>
            <a:r>
              <a:rPr lang="en-US" sz="1800" dirty="0">
                <a:solidFill>
                  <a:schemeClr val="tx2"/>
                </a:solidFill>
              </a:rPr>
              <a:t>Closure Type: Close on Maturity or Auto Rollover</a:t>
            </a:r>
          </a:p>
          <a:p>
            <a:r>
              <a:rPr lang="en-US" sz="1800" dirty="0">
                <a:solidFill>
                  <a:schemeClr val="tx2"/>
                </a:solidFill>
              </a:rPr>
              <a:t>Auto Rollover Type- </a:t>
            </a:r>
          </a:p>
          <a:p>
            <a:pPr lvl="1"/>
            <a:r>
              <a:rPr lang="en-US" sz="1400" dirty="0">
                <a:solidFill>
                  <a:schemeClr val="tx2"/>
                </a:solidFill>
              </a:rPr>
              <a:t>Principal</a:t>
            </a:r>
          </a:p>
          <a:p>
            <a:pPr lvl="1"/>
            <a:r>
              <a:rPr lang="en-US" sz="1400" dirty="0">
                <a:solidFill>
                  <a:schemeClr val="tx2"/>
                </a:solidFill>
              </a:rPr>
              <a:t>Interest</a:t>
            </a:r>
          </a:p>
          <a:p>
            <a:pPr lvl="1"/>
            <a:r>
              <a:rPr lang="en-US" sz="1400" dirty="0" err="1">
                <a:solidFill>
                  <a:schemeClr val="tx2"/>
                </a:solidFill>
              </a:rPr>
              <a:t>Principal+Interest</a:t>
            </a:r>
            <a:endParaRPr lang="en-US" sz="1400" dirty="0">
              <a:solidFill>
                <a:schemeClr val="tx2"/>
              </a:solidFill>
            </a:endParaRPr>
          </a:p>
          <a:p>
            <a:pPr lvl="1"/>
            <a:r>
              <a:rPr lang="en-US" sz="1400" dirty="0">
                <a:solidFill>
                  <a:schemeClr val="tx2"/>
                </a:solidFill>
              </a:rPr>
              <a:t>Special Amount</a:t>
            </a:r>
          </a:p>
          <a:p>
            <a:endParaRPr lang="en-US" sz="1800" dirty="0">
              <a:solidFill>
                <a:schemeClr val="tx2"/>
              </a:solidFill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9DB3963A-4187-4A72-9DA4-CA6BADE22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9072780" y="3734338"/>
            <a:ext cx="3878664" cy="236865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2428E75E-001A-4568-B035-574F1303EF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64AC8CFC-1164-4525-82A0-25F75ADCF4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: Shape 40">
              <a:extLst>
                <a:ext uri="{FF2B5EF4-FFF2-40B4-BE49-F238E27FC236}">
                  <a16:creationId xmlns:a16="http://schemas.microsoft.com/office/drawing/2014/main" id="{6F35C856-5B70-4CA2-BB8F-A37197D8F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Freeform: Shape 41">
              <a:extLst>
                <a:ext uri="{FF2B5EF4-FFF2-40B4-BE49-F238E27FC236}">
                  <a16:creationId xmlns:a16="http://schemas.microsoft.com/office/drawing/2014/main" id="{550FD8B0-DE97-47B1-84ED-67A3BD00F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F0757337-7C2C-4297-8284-8705B639C14B}"/>
              </a:ext>
            </a:extLst>
          </p:cNvPr>
          <p:cNvSpPr/>
          <p:nvPr/>
        </p:nvSpPr>
        <p:spPr>
          <a:xfrm>
            <a:off x="6793044" y="2398431"/>
            <a:ext cx="2038663" cy="88442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Account Class</a:t>
            </a:r>
          </a:p>
          <a:p>
            <a:pPr algn="ctr"/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STDACCLS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D1320663-1E20-4B84-98AE-50A268A1008E}"/>
              </a:ext>
            </a:extLst>
          </p:cNvPr>
          <p:cNvSpPr/>
          <p:nvPr/>
        </p:nvSpPr>
        <p:spPr>
          <a:xfrm>
            <a:off x="6793044" y="4154780"/>
            <a:ext cx="2038663" cy="88442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TD Account</a:t>
            </a:r>
          </a:p>
          <a:p>
            <a:pPr algn="ctr"/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STDCUSTD</a:t>
            </a:r>
          </a:p>
        </p:txBody>
      </p:sp>
      <p:sp>
        <p:nvSpPr>
          <p:cNvPr id="58" name="Arrow: Down 57">
            <a:extLst>
              <a:ext uri="{FF2B5EF4-FFF2-40B4-BE49-F238E27FC236}">
                <a16:creationId xmlns:a16="http://schemas.microsoft.com/office/drawing/2014/main" id="{56C98A2B-7381-4E14-B361-F6BFAEC8B1C2}"/>
              </a:ext>
            </a:extLst>
          </p:cNvPr>
          <p:cNvSpPr/>
          <p:nvPr/>
        </p:nvSpPr>
        <p:spPr>
          <a:xfrm>
            <a:off x="7615004" y="3282851"/>
            <a:ext cx="389744" cy="871929"/>
          </a:xfrm>
          <a:prstGeom prst="down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1172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3C823D3-D619-407C-89E0-C6F6B1E7A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7F8E3E-2FFA-4A0F-B3C7-E57ADDCFB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8817DA-667D-45FE-843A-41EF4021C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4147" y="383955"/>
            <a:ext cx="9833548" cy="1325563"/>
          </a:xfrm>
        </p:spPr>
        <p:txBody>
          <a:bodyPr anchor="b">
            <a:normAutofit/>
          </a:bodyPr>
          <a:lstStyle/>
          <a:p>
            <a:pPr algn="ctr"/>
            <a:r>
              <a:rPr lang="en-US" sz="3600" dirty="0">
                <a:solidFill>
                  <a:schemeClr val="tx2"/>
                </a:solidFill>
              </a:rPr>
              <a:t>TD Lifecycle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3D939F1-7ABE-4D0E-946A-43F37F556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3346102" cy="2510865"/>
            <a:chOff x="-305" y="-1"/>
            <a:chExt cx="3832880" cy="2876136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3FE0426-0FE4-451E-A8BB-08DA6A6AC2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A32F7E8-35B4-451F-AA07-AECF7CA1D5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097796-C3C8-4772-9EBD-9F5CA368F5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C4BC137-BB50-4235-A83F-4B4EEE1590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DB3963A-4187-4A72-9DA4-CA6BADE22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9072780" y="3734338"/>
            <a:ext cx="3878664" cy="236865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428E75E-001A-4568-B035-574F1303EF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4AC8CFC-1164-4525-82A0-25F75ADCF4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F35C856-5B70-4CA2-BB8F-A37197D8F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50FD8B0-DE97-47B1-84ED-67A3BD00F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2388B6B-738D-47C3-BFF6-E623CD991085}"/>
              </a:ext>
            </a:extLst>
          </p:cNvPr>
          <p:cNvSpPr/>
          <p:nvPr/>
        </p:nvSpPr>
        <p:spPr>
          <a:xfrm>
            <a:off x="2288196" y="3944155"/>
            <a:ext cx="1619159" cy="794635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TD Booking</a:t>
            </a:r>
          </a:p>
          <a:p>
            <a:pPr algn="ctr"/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STDCUSTD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E2376A8-EC2A-4072-90CB-C7356EC8DC44}"/>
              </a:ext>
            </a:extLst>
          </p:cNvPr>
          <p:cNvSpPr/>
          <p:nvPr/>
        </p:nvSpPr>
        <p:spPr>
          <a:xfrm>
            <a:off x="1174147" y="2871614"/>
            <a:ext cx="1619159" cy="794635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TD Maintenance</a:t>
            </a:r>
          </a:p>
          <a:p>
            <a:pPr algn="ctr"/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STDCUSAC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5374DC0C-20D7-4D0B-A756-757C248033A0}"/>
              </a:ext>
            </a:extLst>
          </p:cNvPr>
          <p:cNvSpPr/>
          <p:nvPr/>
        </p:nvSpPr>
        <p:spPr>
          <a:xfrm>
            <a:off x="4404147" y="3944154"/>
            <a:ext cx="1445391" cy="794635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Daily Interest Accrual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B30EDCEB-AA80-4064-A392-DF7F14E73F52}"/>
              </a:ext>
            </a:extLst>
          </p:cNvPr>
          <p:cNvSpPr/>
          <p:nvPr/>
        </p:nvSpPr>
        <p:spPr>
          <a:xfrm>
            <a:off x="10726467" y="3944153"/>
            <a:ext cx="1244002" cy="794636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TD Closure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097F78B-D01C-44B3-9349-49D6A7374D57}"/>
              </a:ext>
            </a:extLst>
          </p:cNvPr>
          <p:cNvSpPr txBox="1"/>
          <p:nvPr/>
        </p:nvSpPr>
        <p:spPr>
          <a:xfrm>
            <a:off x="-236513" y="3084265"/>
            <a:ext cx="17313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Auto TD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9E2785E-C91C-4782-BBB7-44570AAA11BC}"/>
              </a:ext>
            </a:extLst>
          </p:cNvPr>
          <p:cNvSpPr txBox="1"/>
          <p:nvPr/>
        </p:nvSpPr>
        <p:spPr>
          <a:xfrm>
            <a:off x="749126" y="4159305"/>
            <a:ext cx="17313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Simple TD</a:t>
            </a:r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2D6ABE26-D52D-415E-8671-7C20039F0325}"/>
              </a:ext>
            </a:extLst>
          </p:cNvPr>
          <p:cNvCxnSpPr>
            <a:stCxn id="17" idx="3"/>
            <a:endCxn id="4" idx="0"/>
          </p:cNvCxnSpPr>
          <p:nvPr/>
        </p:nvCxnSpPr>
        <p:spPr>
          <a:xfrm>
            <a:off x="2793306" y="3268932"/>
            <a:ext cx="304470" cy="67522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F586E8D-038E-45AC-A9E0-F62C4CD5FD42}"/>
              </a:ext>
            </a:extLst>
          </p:cNvPr>
          <p:cNvSpPr txBox="1"/>
          <p:nvPr/>
        </p:nvSpPr>
        <p:spPr>
          <a:xfrm>
            <a:off x="3222344" y="3237211"/>
            <a:ext cx="11147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After EOD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FA5337EE-3566-43D1-9CF8-1C2172CB9F29}"/>
              </a:ext>
            </a:extLst>
          </p:cNvPr>
          <p:cNvSpPr/>
          <p:nvPr/>
        </p:nvSpPr>
        <p:spPr>
          <a:xfrm>
            <a:off x="6410749" y="3946654"/>
            <a:ext cx="1619159" cy="794635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TD Redemption ?</a:t>
            </a:r>
          </a:p>
          <a:p>
            <a:pPr algn="ctr"/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ICDREDMN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4347F1B-F045-464C-AE43-AD3D40DE8E1A}"/>
              </a:ext>
            </a:extLst>
          </p:cNvPr>
          <p:cNvCxnSpPr>
            <a:cxnSpLocks/>
            <a:stCxn id="4" idx="3"/>
            <a:endCxn id="23" idx="1"/>
          </p:cNvCxnSpPr>
          <p:nvPr/>
        </p:nvCxnSpPr>
        <p:spPr>
          <a:xfrm flipV="1">
            <a:off x="3907355" y="4341472"/>
            <a:ext cx="49679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AB618A78-323C-4037-BC90-4BECED238814}"/>
              </a:ext>
            </a:extLst>
          </p:cNvPr>
          <p:cNvCxnSpPr>
            <a:cxnSpLocks/>
            <a:stCxn id="23" idx="3"/>
            <a:endCxn id="27" idx="1"/>
          </p:cNvCxnSpPr>
          <p:nvPr/>
        </p:nvCxnSpPr>
        <p:spPr>
          <a:xfrm>
            <a:off x="5849538" y="4341472"/>
            <a:ext cx="561211" cy="25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D9F63B7B-69AF-4E8F-AEA9-B2DD3FFFFD89}"/>
              </a:ext>
            </a:extLst>
          </p:cNvPr>
          <p:cNvCxnSpPr>
            <a:cxnSpLocks/>
            <a:stCxn id="27" idx="3"/>
          </p:cNvCxnSpPr>
          <p:nvPr/>
        </p:nvCxnSpPr>
        <p:spPr>
          <a:xfrm flipV="1">
            <a:off x="8029908" y="4337549"/>
            <a:ext cx="716639" cy="64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689E7D06-B23A-45C6-8782-021E52CC2ECF}"/>
              </a:ext>
            </a:extLst>
          </p:cNvPr>
          <p:cNvCxnSpPr>
            <a:cxnSpLocks/>
            <a:stCxn id="85" idx="2"/>
          </p:cNvCxnSpPr>
          <p:nvPr/>
        </p:nvCxnSpPr>
        <p:spPr>
          <a:xfrm flipH="1">
            <a:off x="9506506" y="4854392"/>
            <a:ext cx="35836" cy="12511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FAC3FE32-C68B-4C37-830E-36E4B62BC1F5}"/>
              </a:ext>
            </a:extLst>
          </p:cNvPr>
          <p:cNvCxnSpPr>
            <a:cxnSpLocks/>
            <a:endCxn id="4" idx="2"/>
          </p:cNvCxnSpPr>
          <p:nvPr/>
        </p:nvCxnSpPr>
        <p:spPr>
          <a:xfrm rot="10800000">
            <a:off x="3097777" y="4738790"/>
            <a:ext cx="6403983" cy="139776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C07FD32C-CF3C-4E5F-84A7-91486BB0658A}"/>
              </a:ext>
            </a:extLst>
          </p:cNvPr>
          <p:cNvSpPr txBox="1"/>
          <p:nvPr/>
        </p:nvSpPr>
        <p:spPr>
          <a:xfrm>
            <a:off x="8699497" y="5037398"/>
            <a:ext cx="485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Yes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19A386EB-9E6F-47B4-A4F1-BB201BA95634}"/>
              </a:ext>
            </a:extLst>
          </p:cNvPr>
          <p:cNvCxnSpPr>
            <a:cxnSpLocks/>
            <a:stCxn id="27" idx="2"/>
          </p:cNvCxnSpPr>
          <p:nvPr/>
        </p:nvCxnSpPr>
        <p:spPr>
          <a:xfrm flipH="1">
            <a:off x="7220327" y="4741289"/>
            <a:ext cx="2" cy="6444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ECAFD0C7-E45C-4A87-BEA3-BCBC5C786012}"/>
              </a:ext>
            </a:extLst>
          </p:cNvPr>
          <p:cNvCxnSpPr>
            <a:cxnSpLocks/>
          </p:cNvCxnSpPr>
          <p:nvPr/>
        </p:nvCxnSpPr>
        <p:spPr>
          <a:xfrm flipH="1">
            <a:off x="4155751" y="5385754"/>
            <a:ext cx="306457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E81ADBAD-FF3E-47D6-9C49-D03FB117991D}"/>
              </a:ext>
            </a:extLst>
          </p:cNvPr>
          <p:cNvCxnSpPr/>
          <p:nvPr/>
        </p:nvCxnSpPr>
        <p:spPr>
          <a:xfrm flipV="1">
            <a:off x="4155751" y="4378084"/>
            <a:ext cx="0" cy="10076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 61">
            <a:extLst>
              <a:ext uri="{FF2B5EF4-FFF2-40B4-BE49-F238E27FC236}">
                <a16:creationId xmlns:a16="http://schemas.microsoft.com/office/drawing/2014/main" id="{A128E924-EF14-49C8-8126-E77833BD8805}"/>
              </a:ext>
            </a:extLst>
          </p:cNvPr>
          <p:cNvSpPr/>
          <p:nvPr/>
        </p:nvSpPr>
        <p:spPr>
          <a:xfrm>
            <a:off x="6241245" y="3666249"/>
            <a:ext cx="1996824" cy="1387766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FD4142F-2EB0-453F-AE0E-D95B7C5E7FF9}"/>
              </a:ext>
            </a:extLst>
          </p:cNvPr>
          <p:cNvSpPr txBox="1"/>
          <p:nvPr/>
        </p:nvSpPr>
        <p:spPr>
          <a:xfrm>
            <a:off x="7358377" y="5022158"/>
            <a:ext cx="485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Yes</a:t>
            </a:r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7F80B084-CDA2-4AA6-A458-3E87FD1BA0D8}"/>
              </a:ext>
            </a:extLst>
          </p:cNvPr>
          <p:cNvCxnSpPr>
            <a:cxnSpLocks/>
            <a:stCxn id="85" idx="3"/>
            <a:endCxn id="24" idx="1"/>
          </p:cNvCxnSpPr>
          <p:nvPr/>
        </p:nvCxnSpPr>
        <p:spPr>
          <a:xfrm flipV="1">
            <a:off x="10336260" y="4341471"/>
            <a:ext cx="390207" cy="131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84CF087B-AD82-4154-BD46-A2BA173E43FA}"/>
              </a:ext>
            </a:extLst>
          </p:cNvPr>
          <p:cNvSpPr txBox="1"/>
          <p:nvPr/>
        </p:nvSpPr>
        <p:spPr>
          <a:xfrm>
            <a:off x="10137919" y="3985313"/>
            <a:ext cx="455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B74B1F3E-969F-4023-B712-330D848BADF7}"/>
              </a:ext>
            </a:extLst>
          </p:cNvPr>
          <p:cNvSpPr txBox="1"/>
          <p:nvPr/>
        </p:nvSpPr>
        <p:spPr>
          <a:xfrm>
            <a:off x="8182547" y="3967235"/>
            <a:ext cx="455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4E26039-4154-41C0-BCB5-8AFEDA5AA292}"/>
              </a:ext>
            </a:extLst>
          </p:cNvPr>
          <p:cNvSpPr txBox="1"/>
          <p:nvPr/>
        </p:nvSpPr>
        <p:spPr>
          <a:xfrm>
            <a:off x="4905667" y="5406730"/>
            <a:ext cx="17315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New TD Amount</a:t>
            </a:r>
          </a:p>
        </p:txBody>
      </p:sp>
      <p:sp>
        <p:nvSpPr>
          <p:cNvPr id="85" name="Diamond 84">
            <a:extLst>
              <a:ext uri="{FF2B5EF4-FFF2-40B4-BE49-F238E27FC236}">
                <a16:creationId xmlns:a16="http://schemas.microsoft.com/office/drawing/2014/main" id="{C6EA6383-75A4-4C2F-9139-519B1CDBC65F}"/>
              </a:ext>
            </a:extLst>
          </p:cNvPr>
          <p:cNvSpPr/>
          <p:nvPr/>
        </p:nvSpPr>
        <p:spPr>
          <a:xfrm>
            <a:off x="8748423" y="3854898"/>
            <a:ext cx="1587837" cy="999494"/>
          </a:xfrm>
          <a:prstGeom prst="diamond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Auto Rollover</a:t>
            </a:r>
          </a:p>
        </p:txBody>
      </p:sp>
    </p:spTree>
    <p:extLst>
      <p:ext uri="{BB962C8B-B14F-4D97-AF65-F5344CB8AC3E}">
        <p14:creationId xmlns:p14="http://schemas.microsoft.com/office/powerpoint/2010/main" val="11347520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3C823D3-D619-407C-89E0-C6F6B1E7A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7F8E3E-2FFA-4A0F-B3C7-E57ADDCFB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FF3FB3-6A09-4826-8EB8-EE1D7E2EF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1760" y="1065081"/>
            <a:ext cx="4567156" cy="565993"/>
          </a:xfrm>
        </p:spPr>
        <p:txBody>
          <a:bodyPr anchor="b">
            <a:normAutofit fontScale="90000"/>
          </a:bodyPr>
          <a:lstStyle/>
          <a:p>
            <a:pPr algn="ctr"/>
            <a:r>
              <a:rPr lang="en-US" sz="3600" b="1" dirty="0">
                <a:solidFill>
                  <a:schemeClr val="tx2"/>
                </a:solidFill>
              </a:rPr>
              <a:t>Loan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3D939F1-7ABE-4D0E-946A-43F37F556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3346102" cy="2510865"/>
            <a:chOff x="-305" y="-1"/>
            <a:chExt cx="3832880" cy="2876136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3FE0426-0FE4-451E-A8BB-08DA6A6AC2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A32F7E8-35B4-451F-AA07-AECF7CA1D5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097796-C3C8-4772-9EBD-9F5CA368F5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C4BC137-BB50-4235-A83F-4B4EEE1590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B371AA-D0F9-47AA-BCFD-325D024136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8564" y="2620067"/>
            <a:ext cx="9833548" cy="5111646"/>
          </a:xfrm>
        </p:spPr>
        <p:txBody>
          <a:bodyPr>
            <a:normAutofit/>
          </a:bodyPr>
          <a:lstStyle/>
          <a:p>
            <a:r>
              <a:rPr lang="en-US" sz="1800" dirty="0">
                <a:solidFill>
                  <a:schemeClr val="tx2"/>
                </a:solidFill>
              </a:rPr>
              <a:t>Module: CL (Commercial Lending)</a:t>
            </a:r>
          </a:p>
          <a:p>
            <a:r>
              <a:rPr lang="en-US" sz="1800" dirty="0">
                <a:solidFill>
                  <a:schemeClr val="tx2"/>
                </a:solidFill>
              </a:rPr>
              <a:t>Loan components</a:t>
            </a:r>
          </a:p>
          <a:p>
            <a:pPr lvl="1"/>
            <a:r>
              <a:rPr lang="en-US" sz="1400" dirty="0">
                <a:solidFill>
                  <a:schemeClr val="tx2"/>
                </a:solidFill>
              </a:rPr>
              <a:t>Principal</a:t>
            </a:r>
          </a:p>
          <a:p>
            <a:pPr lvl="1"/>
            <a:r>
              <a:rPr lang="en-US" sz="1400" dirty="0">
                <a:solidFill>
                  <a:schemeClr val="tx2"/>
                </a:solidFill>
              </a:rPr>
              <a:t>Main Interest</a:t>
            </a:r>
          </a:p>
          <a:p>
            <a:pPr lvl="1"/>
            <a:r>
              <a:rPr lang="en-US" sz="1400" dirty="0">
                <a:solidFill>
                  <a:schemeClr val="tx2"/>
                </a:solidFill>
              </a:rPr>
              <a:t>Penalty on Principal</a:t>
            </a:r>
          </a:p>
          <a:p>
            <a:pPr lvl="1"/>
            <a:r>
              <a:rPr lang="en-US" sz="1400" dirty="0">
                <a:solidFill>
                  <a:schemeClr val="tx2"/>
                </a:solidFill>
              </a:rPr>
              <a:t>Penalty on Main Interest</a:t>
            </a:r>
          </a:p>
          <a:p>
            <a:r>
              <a:rPr lang="en-US" sz="1800" dirty="0">
                <a:solidFill>
                  <a:schemeClr val="tx2"/>
                </a:solidFill>
              </a:rPr>
              <a:t>Interest types: Fixed or Floating</a:t>
            </a:r>
          </a:p>
          <a:p>
            <a:r>
              <a:rPr lang="en-US" sz="1800" dirty="0">
                <a:solidFill>
                  <a:schemeClr val="tx2"/>
                </a:solidFill>
              </a:rPr>
              <a:t>Liquidation Mode: Auto or Manual</a:t>
            </a:r>
          </a:p>
          <a:p>
            <a:r>
              <a:rPr lang="en-US" sz="1800" dirty="0">
                <a:solidFill>
                  <a:schemeClr val="tx2"/>
                </a:solidFill>
              </a:rPr>
              <a:t>Rollover: Auto or Manual</a:t>
            </a:r>
          </a:p>
          <a:p>
            <a:endParaRPr lang="en-US" sz="1800" dirty="0">
              <a:solidFill>
                <a:schemeClr val="tx2"/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DB3963A-4187-4A72-9DA4-CA6BADE22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9072780" y="3734338"/>
            <a:ext cx="3878664" cy="236865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428E75E-001A-4568-B035-574F1303EF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4AC8CFC-1164-4525-82A0-25F75ADCF4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F35C856-5B70-4CA2-BB8F-A37197D8F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50FD8B0-DE97-47B1-84ED-67A3BD00F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4EDFBA5-8539-46B9-9DBE-952C34E807F7}"/>
              </a:ext>
            </a:extLst>
          </p:cNvPr>
          <p:cNvSpPr/>
          <p:nvPr/>
        </p:nvSpPr>
        <p:spPr>
          <a:xfrm>
            <a:off x="6793044" y="2398431"/>
            <a:ext cx="2038663" cy="88442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Product</a:t>
            </a:r>
          </a:p>
          <a:p>
            <a:pPr algn="ctr"/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CLDPRMNT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65D647E9-BD86-489B-97DA-D376D29F435B}"/>
              </a:ext>
            </a:extLst>
          </p:cNvPr>
          <p:cNvSpPr/>
          <p:nvPr/>
        </p:nvSpPr>
        <p:spPr>
          <a:xfrm>
            <a:off x="6793044" y="4154780"/>
            <a:ext cx="2038663" cy="88442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Contract</a:t>
            </a:r>
          </a:p>
          <a:p>
            <a:pPr algn="ctr"/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CLDACCNT</a:t>
            </a:r>
          </a:p>
        </p:txBody>
      </p:sp>
      <p:sp>
        <p:nvSpPr>
          <p:cNvPr id="24" name="Arrow: Down 23">
            <a:extLst>
              <a:ext uri="{FF2B5EF4-FFF2-40B4-BE49-F238E27FC236}">
                <a16:creationId xmlns:a16="http://schemas.microsoft.com/office/drawing/2014/main" id="{30FA8DD0-786A-4C30-9E0A-14261B947528}"/>
              </a:ext>
            </a:extLst>
          </p:cNvPr>
          <p:cNvSpPr/>
          <p:nvPr/>
        </p:nvSpPr>
        <p:spPr>
          <a:xfrm>
            <a:off x="7615004" y="3282851"/>
            <a:ext cx="389744" cy="871929"/>
          </a:xfrm>
          <a:prstGeom prst="down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1935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3C823D3-D619-407C-89E0-C6F6B1E7A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7F8E3E-2FFA-4A0F-B3C7-E57ADDCFB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FF3FB3-6A09-4826-8EB8-EE1D7E2EF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6729" y="641921"/>
            <a:ext cx="3609750" cy="1032801"/>
          </a:xfrm>
        </p:spPr>
        <p:txBody>
          <a:bodyPr anchor="b">
            <a:normAutofit/>
          </a:bodyPr>
          <a:lstStyle/>
          <a:p>
            <a:pPr algn="ctr"/>
            <a:r>
              <a:rPr lang="en-US" sz="3600" dirty="0">
                <a:solidFill>
                  <a:schemeClr val="tx2"/>
                </a:solidFill>
              </a:rPr>
              <a:t>Loan Lifecycle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3D939F1-7ABE-4D0E-946A-43F37F556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3346102" cy="2510865"/>
            <a:chOff x="-305" y="-1"/>
            <a:chExt cx="3832880" cy="2876136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3FE0426-0FE4-451E-A8BB-08DA6A6AC2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A32F7E8-35B4-451F-AA07-AECF7CA1D5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097796-C3C8-4772-9EBD-9F5CA368F5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C4BC137-BB50-4235-A83F-4B4EEE1590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DB3963A-4187-4A72-9DA4-CA6BADE22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9072780" y="3734338"/>
            <a:ext cx="3878664" cy="236865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428E75E-001A-4568-B035-574F1303EF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4AC8CFC-1164-4525-82A0-25F75ADCF4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F35C856-5B70-4CA2-BB8F-A37197D8F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50FD8B0-DE97-47B1-84ED-67A3BD00F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D11BE69C-C82C-482F-9484-0B1E88DE7CDC}"/>
              </a:ext>
            </a:extLst>
          </p:cNvPr>
          <p:cNvSpPr/>
          <p:nvPr/>
        </p:nvSpPr>
        <p:spPr>
          <a:xfrm>
            <a:off x="404742" y="3244987"/>
            <a:ext cx="1514006" cy="89941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Loan Booking</a:t>
            </a:r>
          </a:p>
          <a:p>
            <a:pPr algn="ctr"/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CLDACCNT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BB7E0D46-C36C-4453-AECA-082625EDC552}"/>
              </a:ext>
            </a:extLst>
          </p:cNvPr>
          <p:cNvSpPr/>
          <p:nvPr/>
        </p:nvSpPr>
        <p:spPr>
          <a:xfrm>
            <a:off x="2159840" y="3244987"/>
            <a:ext cx="1632680" cy="89941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Disbursement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5B275BD7-A942-4C74-9806-BF477F1AD799}"/>
              </a:ext>
            </a:extLst>
          </p:cNvPr>
          <p:cNvSpPr/>
          <p:nvPr/>
        </p:nvSpPr>
        <p:spPr>
          <a:xfrm>
            <a:off x="4074207" y="4383455"/>
            <a:ext cx="1577737" cy="805613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Value Dated Amendment</a:t>
            </a:r>
          </a:p>
          <a:p>
            <a:pPr algn="ctr"/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CLDACCVM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E70163DB-2127-4676-925B-79A0A60A6F7C}"/>
              </a:ext>
            </a:extLst>
          </p:cNvPr>
          <p:cNvSpPr/>
          <p:nvPr/>
        </p:nvSpPr>
        <p:spPr>
          <a:xfrm>
            <a:off x="5918681" y="3244987"/>
            <a:ext cx="1632680" cy="89941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Daily Interest Accrual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99E4D5B3-D49D-4B9A-A8BC-C90A06509EBC}"/>
              </a:ext>
            </a:extLst>
          </p:cNvPr>
          <p:cNvSpPr/>
          <p:nvPr/>
        </p:nvSpPr>
        <p:spPr>
          <a:xfrm>
            <a:off x="7833048" y="3244987"/>
            <a:ext cx="1632680" cy="89941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Loan Repayment</a:t>
            </a:r>
          </a:p>
          <a:p>
            <a:pPr algn="ctr"/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CLDPYMNT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9F96D507-C96E-44F6-8945-09844180F71C}"/>
              </a:ext>
            </a:extLst>
          </p:cNvPr>
          <p:cNvSpPr/>
          <p:nvPr/>
        </p:nvSpPr>
        <p:spPr>
          <a:xfrm>
            <a:off x="10769229" y="3336268"/>
            <a:ext cx="1030662" cy="712516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Closure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5DD81FA-0E37-4D7A-966E-A465865951E5}"/>
              </a:ext>
            </a:extLst>
          </p:cNvPr>
          <p:cNvCxnSpPr>
            <a:cxnSpLocks/>
            <a:stCxn id="25" idx="3"/>
            <a:endCxn id="26" idx="1"/>
          </p:cNvCxnSpPr>
          <p:nvPr/>
        </p:nvCxnSpPr>
        <p:spPr>
          <a:xfrm>
            <a:off x="1918748" y="3694692"/>
            <a:ext cx="2410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B4D16F6-E2BB-44EA-85D3-C2E6A7FED7E4}"/>
              </a:ext>
            </a:extLst>
          </p:cNvPr>
          <p:cNvCxnSpPr>
            <a:cxnSpLocks/>
            <a:stCxn id="26" idx="3"/>
            <a:endCxn id="28" idx="1"/>
          </p:cNvCxnSpPr>
          <p:nvPr/>
        </p:nvCxnSpPr>
        <p:spPr>
          <a:xfrm>
            <a:off x="3792520" y="3694692"/>
            <a:ext cx="212616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7C1FA5FC-F534-4DCA-97D1-E3124BED1469}"/>
              </a:ext>
            </a:extLst>
          </p:cNvPr>
          <p:cNvCxnSpPr>
            <a:cxnSpLocks/>
            <a:endCxn id="27" idx="1"/>
          </p:cNvCxnSpPr>
          <p:nvPr/>
        </p:nvCxnSpPr>
        <p:spPr>
          <a:xfrm rot="16200000" flipH="1">
            <a:off x="3455496" y="4167550"/>
            <a:ext cx="1077257" cy="16016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F0C035D5-1863-43AF-889E-4E7CF71CCDCD}"/>
              </a:ext>
            </a:extLst>
          </p:cNvPr>
          <p:cNvCxnSpPr>
            <a:cxnSpLocks/>
            <a:stCxn id="28" idx="3"/>
            <a:endCxn id="29" idx="1"/>
          </p:cNvCxnSpPr>
          <p:nvPr/>
        </p:nvCxnSpPr>
        <p:spPr>
          <a:xfrm>
            <a:off x="7551361" y="3694692"/>
            <a:ext cx="28168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099A34A-4470-49F5-AF85-0ED84874CC02}"/>
              </a:ext>
            </a:extLst>
          </p:cNvPr>
          <p:cNvCxnSpPr>
            <a:cxnSpLocks/>
            <a:stCxn id="29" idx="3"/>
            <a:endCxn id="30" idx="1"/>
          </p:cNvCxnSpPr>
          <p:nvPr/>
        </p:nvCxnSpPr>
        <p:spPr>
          <a:xfrm flipV="1">
            <a:off x="9465728" y="3692526"/>
            <a:ext cx="1303501" cy="21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7767CED5-4B58-4BF7-B2CE-A9DA55E7CE27}"/>
              </a:ext>
            </a:extLst>
          </p:cNvPr>
          <p:cNvSpPr txBox="1"/>
          <p:nvPr/>
        </p:nvSpPr>
        <p:spPr>
          <a:xfrm>
            <a:off x="9581342" y="3255878"/>
            <a:ext cx="1168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Rollover?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A18D67A-731B-45FC-BC90-55711F6E0382}"/>
              </a:ext>
            </a:extLst>
          </p:cNvPr>
          <p:cNvSpPr txBox="1"/>
          <p:nvPr/>
        </p:nvSpPr>
        <p:spPr>
          <a:xfrm>
            <a:off x="10132778" y="4684039"/>
            <a:ext cx="485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A467415-0FA3-44A8-AE07-F2EA3FEE0033}"/>
              </a:ext>
            </a:extLst>
          </p:cNvPr>
          <p:cNvSpPr txBox="1"/>
          <p:nvPr/>
        </p:nvSpPr>
        <p:spPr>
          <a:xfrm>
            <a:off x="10261771" y="3694692"/>
            <a:ext cx="455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85C399B1-6F18-4927-A633-05011981D104}"/>
              </a:ext>
            </a:extLst>
          </p:cNvPr>
          <p:cNvCxnSpPr>
            <a:cxnSpLocks/>
          </p:cNvCxnSpPr>
          <p:nvPr/>
        </p:nvCxnSpPr>
        <p:spPr>
          <a:xfrm>
            <a:off x="10087280" y="3692525"/>
            <a:ext cx="0" cy="24135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EA390202-E7ED-4699-B588-FD2E181CBFC6}"/>
              </a:ext>
            </a:extLst>
          </p:cNvPr>
          <p:cNvCxnSpPr>
            <a:cxnSpLocks/>
            <a:endCxn id="25" idx="2"/>
          </p:cNvCxnSpPr>
          <p:nvPr/>
        </p:nvCxnSpPr>
        <p:spPr>
          <a:xfrm rot="10800000">
            <a:off x="1161745" y="4144398"/>
            <a:ext cx="8932442" cy="196165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C0A5AE3F-715D-4530-AA20-3E9DC9ADCD69}"/>
              </a:ext>
            </a:extLst>
          </p:cNvPr>
          <p:cNvSpPr txBox="1"/>
          <p:nvPr/>
        </p:nvSpPr>
        <p:spPr>
          <a:xfrm>
            <a:off x="120599" y="4262032"/>
            <a:ext cx="1435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Booking Date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24F3D65-047A-48A9-8F11-566E62A80E8A}"/>
              </a:ext>
            </a:extLst>
          </p:cNvPr>
          <p:cNvSpPr txBox="1"/>
          <p:nvPr/>
        </p:nvSpPr>
        <p:spPr>
          <a:xfrm>
            <a:off x="1767090" y="4296956"/>
            <a:ext cx="1197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Value Date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DD3A15A-A212-420A-8EDB-0976B6D0E840}"/>
              </a:ext>
            </a:extLst>
          </p:cNvPr>
          <p:cNvSpPr txBox="1"/>
          <p:nvPr/>
        </p:nvSpPr>
        <p:spPr>
          <a:xfrm>
            <a:off x="10684900" y="4294391"/>
            <a:ext cx="1497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Maturity Date</a:t>
            </a:r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C3064D0B-A77A-42E8-9873-26A3FE996033}"/>
              </a:ext>
            </a:extLst>
          </p:cNvPr>
          <p:cNvCxnSpPr>
            <a:cxnSpLocks/>
            <a:stCxn id="27" idx="3"/>
          </p:cNvCxnSpPr>
          <p:nvPr/>
        </p:nvCxnSpPr>
        <p:spPr>
          <a:xfrm flipV="1">
            <a:off x="5651944" y="3709004"/>
            <a:ext cx="116793" cy="1077258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37D36536-891D-4AF2-960D-BC84508B0EF6}"/>
              </a:ext>
            </a:extLst>
          </p:cNvPr>
          <p:cNvCxnSpPr>
            <a:cxnSpLocks/>
            <a:stCxn id="27" idx="2"/>
          </p:cNvCxnSpPr>
          <p:nvPr/>
        </p:nvCxnSpPr>
        <p:spPr>
          <a:xfrm>
            <a:off x="4863076" y="5189068"/>
            <a:ext cx="0" cy="4353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nector: Elbow 66">
            <a:extLst>
              <a:ext uri="{FF2B5EF4-FFF2-40B4-BE49-F238E27FC236}">
                <a16:creationId xmlns:a16="http://schemas.microsoft.com/office/drawing/2014/main" id="{03EBBEAD-E61F-43C2-9CE7-F99F94A94333}"/>
              </a:ext>
            </a:extLst>
          </p:cNvPr>
          <p:cNvCxnSpPr>
            <a:cxnSpLocks/>
            <a:endCxn id="26" idx="2"/>
          </p:cNvCxnSpPr>
          <p:nvPr/>
        </p:nvCxnSpPr>
        <p:spPr>
          <a:xfrm rot="10800000">
            <a:off x="2976180" y="4144398"/>
            <a:ext cx="1894900" cy="148006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924B2AE0-3933-412D-A65A-627A2BB9AD29}"/>
              </a:ext>
            </a:extLst>
          </p:cNvPr>
          <p:cNvSpPr txBox="1"/>
          <p:nvPr/>
        </p:nvSpPr>
        <p:spPr>
          <a:xfrm>
            <a:off x="4925231" y="5284704"/>
            <a:ext cx="1832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Principal Increase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C8DCB8C-D4A1-4EDC-A292-4A05C680D14B}"/>
              </a:ext>
            </a:extLst>
          </p:cNvPr>
          <p:cNvSpPr txBox="1"/>
          <p:nvPr/>
        </p:nvSpPr>
        <p:spPr>
          <a:xfrm>
            <a:off x="5758316" y="4414786"/>
            <a:ext cx="2916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Other than Principal Increase</a:t>
            </a:r>
          </a:p>
        </p:txBody>
      </p:sp>
    </p:spTree>
    <p:extLst>
      <p:ext uri="{BB962C8B-B14F-4D97-AF65-F5344CB8AC3E}">
        <p14:creationId xmlns:p14="http://schemas.microsoft.com/office/powerpoint/2010/main" val="22324704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3C823D3-D619-407C-89E0-C6F6B1E7A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7F8E3E-2FFA-4A0F-B3C7-E57ADDCFB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484D0F-0D9F-464E-B124-E327C9316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1259840"/>
            <a:ext cx="9833548" cy="684461"/>
          </a:xfrm>
        </p:spPr>
        <p:txBody>
          <a:bodyPr anchor="b">
            <a:normAutofit/>
          </a:bodyPr>
          <a:lstStyle/>
          <a:p>
            <a:pPr algn="ctr"/>
            <a:r>
              <a:rPr lang="en-US" sz="3600" dirty="0">
                <a:solidFill>
                  <a:schemeClr val="tx2"/>
                </a:solidFill>
              </a:rPr>
              <a:t>Retail Teller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3D939F1-7ABE-4D0E-946A-43F37F556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3346102" cy="2510865"/>
            <a:chOff x="-305" y="-1"/>
            <a:chExt cx="3832880" cy="2876136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3FE0426-0FE4-451E-A8BB-08DA6A6AC2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A32F7E8-35B4-451F-AA07-AECF7CA1D5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097796-C3C8-4772-9EBD-9F5CA368F5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C4BC137-BB50-4235-A83F-4B4EEE1590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68072E-6277-45A1-A6F1-D25F1B082B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226" y="2546885"/>
            <a:ext cx="9833548" cy="2457269"/>
          </a:xfrm>
        </p:spPr>
        <p:txBody>
          <a:bodyPr>
            <a:normAutofit/>
          </a:bodyPr>
          <a:lstStyle/>
          <a:p>
            <a:r>
              <a:rPr lang="en-US" sz="1800" dirty="0">
                <a:solidFill>
                  <a:schemeClr val="tx2"/>
                </a:solidFill>
              </a:rPr>
              <a:t>Module : RT</a:t>
            </a:r>
          </a:p>
          <a:p>
            <a:r>
              <a:rPr lang="en-US" sz="1800" dirty="0">
                <a:solidFill>
                  <a:schemeClr val="tx2"/>
                </a:solidFill>
              </a:rPr>
              <a:t>Inbuild Products</a:t>
            </a:r>
          </a:p>
          <a:p>
            <a:r>
              <a:rPr lang="en-US" sz="1800" dirty="0">
                <a:solidFill>
                  <a:schemeClr val="tx2"/>
                </a:solidFill>
              </a:rPr>
              <a:t>Involved Branch Operations</a:t>
            </a:r>
          </a:p>
          <a:p>
            <a:r>
              <a:rPr lang="en-US" sz="1800" dirty="0">
                <a:solidFill>
                  <a:schemeClr val="tx2"/>
                </a:solidFill>
              </a:rPr>
              <a:t>Till-Vault Creation</a:t>
            </a:r>
          </a:p>
          <a:p>
            <a:r>
              <a:rPr lang="en-US" sz="1800" dirty="0">
                <a:solidFill>
                  <a:schemeClr val="tx2"/>
                </a:solidFill>
              </a:rPr>
              <a:t>User-Till Mapping</a:t>
            </a:r>
          </a:p>
          <a:p>
            <a:endParaRPr lang="en-US" sz="1800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n-US" sz="1800" dirty="0">
              <a:solidFill>
                <a:schemeClr val="tx2"/>
              </a:solidFill>
            </a:endParaRPr>
          </a:p>
          <a:p>
            <a:endParaRPr lang="en-US" sz="1800" dirty="0">
              <a:solidFill>
                <a:schemeClr val="tx2"/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DB3963A-4187-4A72-9DA4-CA6BADE22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9072780" y="3734338"/>
            <a:ext cx="3878664" cy="236865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428E75E-001A-4568-B035-574F1303EF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4AC8CFC-1164-4525-82A0-25F75ADCF4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F35C856-5B70-4CA2-BB8F-A37197D8F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50FD8B0-DE97-47B1-84ED-67A3BD00F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1C0AA74-9F90-4784-AB4D-5FC330EFB929}"/>
              </a:ext>
            </a:extLst>
          </p:cNvPr>
          <p:cNvSpPr/>
          <p:nvPr/>
        </p:nvSpPr>
        <p:spPr>
          <a:xfrm>
            <a:off x="1280160" y="4805680"/>
            <a:ext cx="1351280" cy="80105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Vault-Till Creation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6D3D5B9-E04D-4343-B90E-8CCBB0F618A9}"/>
              </a:ext>
            </a:extLst>
          </p:cNvPr>
          <p:cNvSpPr/>
          <p:nvPr/>
        </p:nvSpPr>
        <p:spPr>
          <a:xfrm>
            <a:off x="3346102" y="4769660"/>
            <a:ext cx="1236058" cy="83707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User-Till Mapping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ACF4376-4FE1-4EC7-A6BB-67F40D93D176}"/>
              </a:ext>
            </a:extLst>
          </p:cNvPr>
          <p:cNvSpPr/>
          <p:nvPr/>
        </p:nvSpPr>
        <p:spPr>
          <a:xfrm>
            <a:off x="6102611" y="4744614"/>
            <a:ext cx="1341120" cy="83707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Open Till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57C6A5A-0D5F-4288-BF83-D4C6D4B569C6}"/>
              </a:ext>
            </a:extLst>
          </p:cNvPr>
          <p:cNvSpPr/>
          <p:nvPr/>
        </p:nvSpPr>
        <p:spPr>
          <a:xfrm>
            <a:off x="8254739" y="4735268"/>
            <a:ext cx="1340454" cy="83707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RT Transaction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C8FFB72-9D85-459F-B26B-A38DFFDD57E1}"/>
              </a:ext>
            </a:extLst>
          </p:cNvPr>
          <p:cNvCxnSpPr/>
          <p:nvPr/>
        </p:nvCxnSpPr>
        <p:spPr>
          <a:xfrm>
            <a:off x="2631440" y="5191760"/>
            <a:ext cx="6999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79B37EC-99F9-4CEB-BDCE-E703287ACD6E}"/>
              </a:ext>
            </a:extLst>
          </p:cNvPr>
          <p:cNvCxnSpPr>
            <a:stCxn id="11" idx="3"/>
            <a:endCxn id="17" idx="1"/>
          </p:cNvCxnSpPr>
          <p:nvPr/>
        </p:nvCxnSpPr>
        <p:spPr>
          <a:xfrm flipV="1">
            <a:off x="4582160" y="5163153"/>
            <a:ext cx="1520451" cy="250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88E76C4B-FE7C-4F9C-BDC6-2DA0EBDEE175}"/>
              </a:ext>
            </a:extLst>
          </p:cNvPr>
          <p:cNvCxnSpPr>
            <a:endCxn id="11" idx="2"/>
          </p:cNvCxnSpPr>
          <p:nvPr/>
        </p:nvCxnSpPr>
        <p:spPr>
          <a:xfrm rot="10800000" flipV="1">
            <a:off x="3964132" y="5188198"/>
            <a:ext cx="1095549" cy="418539"/>
          </a:xfrm>
          <a:prstGeom prst="bentConnector4">
            <a:avLst>
              <a:gd name="adj1" fmla="val -463"/>
              <a:gd name="adj2" fmla="val 15461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C90801E-DAF1-42AB-8D0F-10233DADA2AA}"/>
              </a:ext>
            </a:extLst>
          </p:cNvPr>
          <p:cNvCxnSpPr>
            <a:stCxn id="17" idx="3"/>
            <a:endCxn id="23" idx="1"/>
          </p:cNvCxnSpPr>
          <p:nvPr/>
        </p:nvCxnSpPr>
        <p:spPr>
          <a:xfrm flipV="1">
            <a:off x="7443731" y="5153807"/>
            <a:ext cx="811008" cy="93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59205B0E-0F5D-48FE-96C3-58860A5AEDD3}"/>
              </a:ext>
            </a:extLst>
          </p:cNvPr>
          <p:cNvSpPr txBox="1"/>
          <p:nvPr/>
        </p:nvSpPr>
        <p:spPr>
          <a:xfrm>
            <a:off x="4567412" y="4805680"/>
            <a:ext cx="1394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Till Mapped?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77C105F-C68F-4C6F-AB17-6A85F2416257}"/>
              </a:ext>
            </a:extLst>
          </p:cNvPr>
          <p:cNvSpPr txBox="1"/>
          <p:nvPr/>
        </p:nvSpPr>
        <p:spPr>
          <a:xfrm>
            <a:off x="5498230" y="5103584"/>
            <a:ext cx="568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Yes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43DF712-8878-40C1-8EE1-27385C007113}"/>
              </a:ext>
            </a:extLst>
          </p:cNvPr>
          <p:cNvSpPr txBox="1"/>
          <p:nvPr/>
        </p:nvSpPr>
        <p:spPr>
          <a:xfrm>
            <a:off x="4993778" y="5372243"/>
            <a:ext cx="526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15707267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3C823D3-D619-407C-89E0-C6F6B1E7A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7F8E3E-2FFA-4A0F-B3C7-E57ADDCFB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484D0F-0D9F-464E-B124-E327C9316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1595120"/>
            <a:ext cx="9833548" cy="915745"/>
          </a:xfrm>
        </p:spPr>
        <p:txBody>
          <a:bodyPr anchor="b">
            <a:normAutofit/>
          </a:bodyPr>
          <a:lstStyle/>
          <a:p>
            <a:pPr algn="ctr"/>
            <a:r>
              <a:rPr lang="en-US" sz="3600" dirty="0">
                <a:solidFill>
                  <a:schemeClr val="tx2"/>
                </a:solidFill>
              </a:rPr>
              <a:t>Payments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3D939F1-7ABE-4D0E-946A-43F37F556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3346102" cy="2510865"/>
            <a:chOff x="-305" y="-1"/>
            <a:chExt cx="3832880" cy="2876136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3FE0426-0FE4-451E-A8BB-08DA6A6AC2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A32F7E8-35B4-451F-AA07-AECF7CA1D5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097796-C3C8-4772-9EBD-9F5CA368F5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C4BC137-BB50-4235-A83F-4B4EEE1590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68072E-6277-45A1-A6F1-D25F1B082B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226" y="3329677"/>
            <a:ext cx="9833548" cy="2457269"/>
          </a:xfrm>
        </p:spPr>
        <p:txBody>
          <a:bodyPr>
            <a:normAutofit/>
          </a:bodyPr>
          <a:lstStyle/>
          <a:p>
            <a:r>
              <a:rPr lang="en-US" sz="1800" dirty="0">
                <a:solidFill>
                  <a:schemeClr val="tx2"/>
                </a:solidFill>
              </a:rPr>
              <a:t>Module : PC(Payments &amp; Collections)</a:t>
            </a:r>
          </a:p>
          <a:p>
            <a:r>
              <a:rPr lang="en-US" sz="1800" dirty="0">
                <a:solidFill>
                  <a:schemeClr val="tx2"/>
                </a:solidFill>
              </a:rPr>
              <a:t>Payment Networks : NEFT, RTGS &amp; IMPS</a:t>
            </a:r>
          </a:p>
          <a:p>
            <a:r>
              <a:rPr lang="en-US" sz="1800" dirty="0">
                <a:solidFill>
                  <a:schemeClr val="tx2"/>
                </a:solidFill>
              </a:rPr>
              <a:t>Local Currency Transfer</a:t>
            </a:r>
          </a:p>
          <a:p>
            <a:r>
              <a:rPr lang="en-US" sz="1800" dirty="0">
                <a:solidFill>
                  <a:schemeClr val="tx2"/>
                </a:solidFill>
              </a:rPr>
              <a:t>Domestic Payment Message Generation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DB3963A-4187-4A72-9DA4-CA6BADE22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9072780" y="3734338"/>
            <a:ext cx="3878664" cy="236865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428E75E-001A-4568-B035-574F1303EF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4AC8CFC-1164-4525-82A0-25F75ADCF4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F35C856-5B70-4CA2-BB8F-A37197D8F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50FD8B0-DE97-47B1-84ED-67A3BD00F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C36150-F4C9-46DF-83B9-20DC885BBB2E}"/>
              </a:ext>
            </a:extLst>
          </p:cNvPr>
          <p:cNvSpPr/>
          <p:nvPr/>
        </p:nvSpPr>
        <p:spPr>
          <a:xfrm>
            <a:off x="7670800" y="3129280"/>
            <a:ext cx="1605280" cy="7112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Product</a:t>
            </a:r>
          </a:p>
          <a:p>
            <a:pPr algn="ctr"/>
            <a:r>
              <a:rPr lang="en-US" dirty="0">
                <a:solidFill>
                  <a:schemeClr val="accent1"/>
                </a:solidFill>
              </a:rPr>
              <a:t>PCDPRMNT</a:t>
            </a:r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4DD51D0C-6EE0-4A97-8A2D-81E2A8795093}"/>
              </a:ext>
            </a:extLst>
          </p:cNvPr>
          <p:cNvSpPr/>
          <p:nvPr/>
        </p:nvSpPr>
        <p:spPr>
          <a:xfrm>
            <a:off x="8310881" y="3840480"/>
            <a:ext cx="264160" cy="711200"/>
          </a:xfrm>
          <a:prstGeom prst="down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2E0E010-E11F-46CA-972E-8562ED7C7C47}"/>
              </a:ext>
            </a:extLst>
          </p:cNvPr>
          <p:cNvSpPr/>
          <p:nvPr/>
        </p:nvSpPr>
        <p:spPr>
          <a:xfrm>
            <a:off x="7670800" y="4551680"/>
            <a:ext cx="1605280" cy="7112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Contract</a:t>
            </a:r>
          </a:p>
          <a:p>
            <a:pPr algn="ctr"/>
            <a:r>
              <a:rPr lang="en-US" dirty="0">
                <a:solidFill>
                  <a:schemeClr val="accent1"/>
                </a:solidFill>
              </a:rPr>
              <a:t>PCDTRONL</a:t>
            </a:r>
          </a:p>
        </p:txBody>
      </p:sp>
    </p:spTree>
    <p:extLst>
      <p:ext uri="{BB962C8B-B14F-4D97-AF65-F5344CB8AC3E}">
        <p14:creationId xmlns:p14="http://schemas.microsoft.com/office/powerpoint/2010/main" val="16529270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C7D97-FF46-F400-2387-643DC28296D2}"/>
              </a:ext>
            </a:extLst>
          </p:cNvPr>
          <p:cNvSpPr txBox="1">
            <a:spLocks/>
          </p:cNvSpPr>
          <p:nvPr/>
        </p:nvSpPr>
        <p:spPr>
          <a:xfrm>
            <a:off x="2571662" y="177524"/>
            <a:ext cx="7457242" cy="6551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>
                <a:solidFill>
                  <a:schemeClr val="tx2"/>
                </a:solidFill>
              </a:rPr>
              <a:t>NEFT Payment Flow</a:t>
            </a:r>
            <a:endParaRPr lang="en-US" sz="4000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98945B9-B705-E8FA-96D8-248C9FFCE8E8}"/>
              </a:ext>
            </a:extLst>
          </p:cNvPr>
          <p:cNvSpPr/>
          <p:nvPr/>
        </p:nvSpPr>
        <p:spPr>
          <a:xfrm>
            <a:off x="5911555" y="2290470"/>
            <a:ext cx="579312" cy="385287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n w="0"/>
                <a:solidFill>
                  <a:schemeClr val="tx1"/>
                </a:solidFill>
              </a:rPr>
              <a:t>S</a:t>
            </a:r>
          </a:p>
          <a:p>
            <a:pPr algn="ctr"/>
            <a:r>
              <a:rPr lang="en-US" sz="2000" dirty="0">
                <a:ln w="0"/>
                <a:solidFill>
                  <a:schemeClr val="tx1"/>
                </a:solidFill>
              </a:rPr>
              <a:t>F</a:t>
            </a:r>
          </a:p>
          <a:p>
            <a:pPr algn="ctr"/>
            <a:r>
              <a:rPr lang="en-US" sz="2000" dirty="0">
                <a:ln w="0"/>
                <a:solidFill>
                  <a:schemeClr val="tx1"/>
                </a:solidFill>
              </a:rPr>
              <a:t>M</a:t>
            </a:r>
          </a:p>
          <a:p>
            <a:pPr algn="ctr"/>
            <a:r>
              <a:rPr lang="en-US" sz="2000" dirty="0">
                <a:ln w="0"/>
                <a:solidFill>
                  <a:schemeClr val="tx1"/>
                </a:solidFill>
              </a:rPr>
              <a:t>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C5BAFA-E43A-3C5E-5D31-40CB0AFAED1B}"/>
              </a:ext>
            </a:extLst>
          </p:cNvPr>
          <p:cNvSpPr/>
          <p:nvPr/>
        </p:nvSpPr>
        <p:spPr>
          <a:xfrm>
            <a:off x="7571546" y="2290470"/>
            <a:ext cx="550450" cy="385287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n w="0"/>
                <a:solidFill>
                  <a:schemeClr val="tx1"/>
                </a:solidFill>
              </a:rPr>
              <a:t>N</a:t>
            </a:r>
          </a:p>
          <a:p>
            <a:pPr algn="ctr"/>
            <a:r>
              <a:rPr lang="en-US" sz="2000" dirty="0">
                <a:ln w="0"/>
                <a:solidFill>
                  <a:schemeClr val="tx1"/>
                </a:solidFill>
              </a:rPr>
              <a:t>E</a:t>
            </a:r>
          </a:p>
          <a:p>
            <a:pPr algn="ctr"/>
            <a:r>
              <a:rPr lang="en-US" sz="2000" dirty="0">
                <a:ln w="0"/>
                <a:solidFill>
                  <a:schemeClr val="tx1"/>
                </a:solidFill>
              </a:rPr>
              <a:t>F</a:t>
            </a:r>
          </a:p>
          <a:p>
            <a:pPr algn="ctr"/>
            <a:r>
              <a:rPr lang="en-US" sz="2000" dirty="0">
                <a:ln w="0"/>
                <a:solidFill>
                  <a:schemeClr val="tx1"/>
                </a:solidFill>
              </a:rPr>
              <a:t>T </a:t>
            </a:r>
          </a:p>
          <a:p>
            <a:pPr algn="ctr"/>
            <a:endParaRPr lang="en-US" sz="2000" dirty="0">
              <a:ln w="0"/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ln w="0"/>
                <a:solidFill>
                  <a:schemeClr val="tx1"/>
                </a:solidFill>
              </a:rPr>
              <a:t>R </a:t>
            </a:r>
          </a:p>
          <a:p>
            <a:pPr algn="ctr"/>
            <a:r>
              <a:rPr lang="en-US" sz="2000" dirty="0">
                <a:ln w="0"/>
                <a:solidFill>
                  <a:schemeClr val="tx1"/>
                </a:solidFill>
              </a:rPr>
              <a:t>B</a:t>
            </a:r>
          </a:p>
          <a:p>
            <a:pPr algn="ctr"/>
            <a:r>
              <a:rPr lang="en-US" sz="2000" dirty="0">
                <a:ln w="0"/>
                <a:solidFill>
                  <a:schemeClr val="tx1"/>
                </a:solidFill>
              </a:rPr>
              <a:t>I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FAA42B5-90D8-733F-FD9C-59AE6F52B8DB}"/>
              </a:ext>
            </a:extLst>
          </p:cNvPr>
          <p:cNvSpPr/>
          <p:nvPr/>
        </p:nvSpPr>
        <p:spPr>
          <a:xfrm>
            <a:off x="3591347" y="1847655"/>
            <a:ext cx="1284982" cy="4408522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b="1" dirty="0"/>
              <a:t>QNG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925C8B2-8996-71D6-850C-1FEF6FA6D0BA}"/>
              </a:ext>
            </a:extLst>
          </p:cNvPr>
          <p:cNvSpPr/>
          <p:nvPr/>
        </p:nvSpPr>
        <p:spPr>
          <a:xfrm>
            <a:off x="3988278" y="2289242"/>
            <a:ext cx="524004" cy="374634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 H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9F0FBAAC-032D-2202-8335-E27F1F6E15AE}"/>
              </a:ext>
            </a:extLst>
          </p:cNvPr>
          <p:cNvSpPr/>
          <p:nvPr/>
        </p:nvSpPr>
        <p:spPr>
          <a:xfrm>
            <a:off x="2727483" y="2849794"/>
            <a:ext cx="1290941" cy="304731"/>
          </a:xfrm>
          <a:prstGeom prst="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N06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5189E06-D2E5-DA4B-DC6F-E555C6BFE2F3}"/>
              </a:ext>
            </a:extLst>
          </p:cNvPr>
          <p:cNvSpPr/>
          <p:nvPr/>
        </p:nvSpPr>
        <p:spPr>
          <a:xfrm>
            <a:off x="8140823" y="2876445"/>
            <a:ext cx="1025799" cy="355825"/>
          </a:xfrm>
          <a:prstGeom prst="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N02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FCBC01B-6EDA-30C2-DBFC-64A5DEFB58D0}"/>
              </a:ext>
            </a:extLst>
          </p:cNvPr>
          <p:cNvSpPr/>
          <p:nvPr/>
        </p:nvSpPr>
        <p:spPr>
          <a:xfrm>
            <a:off x="9166622" y="2213270"/>
            <a:ext cx="550450" cy="393007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n w="0"/>
                <a:solidFill>
                  <a:schemeClr val="tx1"/>
                </a:solidFill>
              </a:rPr>
              <a:t>R</a:t>
            </a:r>
          </a:p>
          <a:p>
            <a:pPr algn="ctr"/>
            <a:r>
              <a:rPr lang="en-US" sz="2000" dirty="0">
                <a:ln w="0"/>
                <a:solidFill>
                  <a:schemeClr val="tx1"/>
                </a:solidFill>
              </a:rPr>
              <a:t>E</a:t>
            </a:r>
          </a:p>
          <a:p>
            <a:pPr algn="ctr"/>
            <a:r>
              <a:rPr lang="en-US" sz="2000" dirty="0">
                <a:ln w="0"/>
                <a:solidFill>
                  <a:schemeClr val="tx1"/>
                </a:solidFill>
              </a:rPr>
              <a:t>C</a:t>
            </a:r>
          </a:p>
          <a:p>
            <a:pPr algn="ctr"/>
            <a:r>
              <a:rPr lang="en-US" sz="2000" dirty="0">
                <a:ln w="0"/>
                <a:solidFill>
                  <a:schemeClr val="tx1"/>
                </a:solidFill>
              </a:rPr>
              <a:t>E</a:t>
            </a:r>
          </a:p>
          <a:p>
            <a:pPr algn="ctr"/>
            <a:r>
              <a:rPr lang="en-US" sz="2000" dirty="0">
                <a:ln w="0"/>
                <a:solidFill>
                  <a:schemeClr val="tx1"/>
                </a:solidFill>
              </a:rPr>
              <a:t>I</a:t>
            </a:r>
          </a:p>
          <a:p>
            <a:pPr algn="ctr"/>
            <a:r>
              <a:rPr lang="en-US" sz="2000" dirty="0">
                <a:ln w="0"/>
                <a:solidFill>
                  <a:schemeClr val="tx1"/>
                </a:solidFill>
              </a:rPr>
              <a:t>V</a:t>
            </a:r>
          </a:p>
          <a:p>
            <a:pPr algn="ctr"/>
            <a:r>
              <a:rPr lang="en-US" sz="2000" dirty="0">
                <a:ln w="0"/>
                <a:solidFill>
                  <a:schemeClr val="tx1"/>
                </a:solidFill>
              </a:rPr>
              <a:t>E</a:t>
            </a:r>
          </a:p>
          <a:p>
            <a:pPr algn="ctr"/>
            <a:r>
              <a:rPr lang="en-US" sz="2000" dirty="0">
                <a:ln w="0"/>
                <a:solidFill>
                  <a:schemeClr val="tx1"/>
                </a:solidFill>
              </a:rPr>
              <a:t>R</a:t>
            </a:r>
          </a:p>
          <a:p>
            <a:pPr algn="ctr"/>
            <a:endParaRPr lang="en-US" sz="2000" dirty="0">
              <a:ln w="0"/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ln w="0"/>
                <a:solidFill>
                  <a:schemeClr val="tx1"/>
                </a:solidFill>
              </a:rPr>
              <a:t>B</a:t>
            </a:r>
          </a:p>
          <a:p>
            <a:pPr algn="ctr"/>
            <a:r>
              <a:rPr lang="en-US" sz="2000" dirty="0">
                <a:ln w="0"/>
                <a:solidFill>
                  <a:schemeClr val="tx1"/>
                </a:solidFill>
              </a:rPr>
              <a:t>A</a:t>
            </a:r>
          </a:p>
          <a:p>
            <a:pPr algn="ctr"/>
            <a:r>
              <a:rPr lang="en-US" sz="2000" dirty="0">
                <a:ln w="0"/>
                <a:solidFill>
                  <a:schemeClr val="tx1"/>
                </a:solidFill>
              </a:rPr>
              <a:t>N</a:t>
            </a:r>
          </a:p>
          <a:p>
            <a:pPr algn="ctr"/>
            <a:r>
              <a:rPr lang="en-US" sz="2000" dirty="0">
                <a:ln w="0"/>
                <a:solidFill>
                  <a:schemeClr val="tx1"/>
                </a:solidFill>
              </a:rPr>
              <a:t>K</a:t>
            </a:r>
          </a:p>
        </p:txBody>
      </p:sp>
      <p:sp>
        <p:nvSpPr>
          <p:cNvPr id="10" name="Arrow: Left 9">
            <a:extLst>
              <a:ext uri="{FF2B5EF4-FFF2-40B4-BE49-F238E27FC236}">
                <a16:creationId xmlns:a16="http://schemas.microsoft.com/office/drawing/2014/main" id="{1FCE6DEB-58C8-0017-F0CC-4277F68180C3}"/>
              </a:ext>
            </a:extLst>
          </p:cNvPr>
          <p:cNvSpPr/>
          <p:nvPr/>
        </p:nvSpPr>
        <p:spPr>
          <a:xfrm>
            <a:off x="4518710" y="3594228"/>
            <a:ext cx="1392843" cy="347884"/>
          </a:xfrm>
          <a:prstGeom prst="lef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F27</a:t>
            </a:r>
          </a:p>
        </p:txBody>
      </p:sp>
      <p:sp>
        <p:nvSpPr>
          <p:cNvPr id="11" name="Arrow: Left 10">
            <a:extLst>
              <a:ext uri="{FF2B5EF4-FFF2-40B4-BE49-F238E27FC236}">
                <a16:creationId xmlns:a16="http://schemas.microsoft.com/office/drawing/2014/main" id="{011CBA23-103E-DA96-C373-B04D01650427}"/>
              </a:ext>
            </a:extLst>
          </p:cNvPr>
          <p:cNvSpPr/>
          <p:nvPr/>
        </p:nvSpPr>
        <p:spPr>
          <a:xfrm>
            <a:off x="6497296" y="4975617"/>
            <a:ext cx="1074250" cy="353707"/>
          </a:xfrm>
          <a:prstGeom prst="lef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N10</a:t>
            </a:r>
          </a:p>
        </p:txBody>
      </p:sp>
      <p:sp>
        <p:nvSpPr>
          <p:cNvPr id="12" name="Arrow: Left 11">
            <a:extLst>
              <a:ext uri="{FF2B5EF4-FFF2-40B4-BE49-F238E27FC236}">
                <a16:creationId xmlns:a16="http://schemas.microsoft.com/office/drawing/2014/main" id="{3D1018B2-E57B-F2FA-5ABB-424CF369B0B3}"/>
              </a:ext>
            </a:extLst>
          </p:cNvPr>
          <p:cNvSpPr/>
          <p:nvPr/>
        </p:nvSpPr>
        <p:spPr>
          <a:xfrm>
            <a:off x="4534946" y="5009014"/>
            <a:ext cx="1374434" cy="347885"/>
          </a:xfrm>
          <a:prstGeom prst="lef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N10</a:t>
            </a:r>
          </a:p>
        </p:txBody>
      </p:sp>
      <p:sp>
        <p:nvSpPr>
          <p:cNvPr id="13" name="Arrow: Left 12">
            <a:extLst>
              <a:ext uri="{FF2B5EF4-FFF2-40B4-BE49-F238E27FC236}">
                <a16:creationId xmlns:a16="http://schemas.microsoft.com/office/drawing/2014/main" id="{40EFACCD-3722-111C-A70B-9E6C3DF409C8}"/>
              </a:ext>
            </a:extLst>
          </p:cNvPr>
          <p:cNvSpPr/>
          <p:nvPr/>
        </p:nvSpPr>
        <p:spPr>
          <a:xfrm>
            <a:off x="6497295" y="3831431"/>
            <a:ext cx="1074250" cy="363239"/>
          </a:xfrm>
          <a:prstGeom prst="lef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N04</a:t>
            </a:r>
          </a:p>
        </p:txBody>
      </p:sp>
      <p:sp>
        <p:nvSpPr>
          <p:cNvPr id="14" name="Arrow: Left 13">
            <a:extLst>
              <a:ext uri="{FF2B5EF4-FFF2-40B4-BE49-F238E27FC236}">
                <a16:creationId xmlns:a16="http://schemas.microsoft.com/office/drawing/2014/main" id="{D78F9CBB-1D7D-F0BC-8F7B-6724705F8929}"/>
              </a:ext>
            </a:extLst>
          </p:cNvPr>
          <p:cNvSpPr/>
          <p:nvPr/>
        </p:nvSpPr>
        <p:spPr>
          <a:xfrm>
            <a:off x="2716237" y="5280159"/>
            <a:ext cx="1284982" cy="299395"/>
          </a:xfrm>
          <a:prstGeom prst="lef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N10</a:t>
            </a:r>
          </a:p>
        </p:txBody>
      </p:sp>
      <p:sp>
        <p:nvSpPr>
          <p:cNvPr id="15" name="Arrow: Left 14">
            <a:extLst>
              <a:ext uri="{FF2B5EF4-FFF2-40B4-BE49-F238E27FC236}">
                <a16:creationId xmlns:a16="http://schemas.microsoft.com/office/drawing/2014/main" id="{7BAAFE5A-4806-6414-3F97-A2A4CFDE0366}"/>
              </a:ext>
            </a:extLst>
          </p:cNvPr>
          <p:cNvSpPr/>
          <p:nvPr/>
        </p:nvSpPr>
        <p:spPr>
          <a:xfrm>
            <a:off x="2722660" y="4243993"/>
            <a:ext cx="1265615" cy="326289"/>
          </a:xfrm>
          <a:prstGeom prst="lef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F27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6DF01249-883F-7E77-1172-1DF0141B7A1B}"/>
              </a:ext>
            </a:extLst>
          </p:cNvPr>
          <p:cNvSpPr/>
          <p:nvPr/>
        </p:nvSpPr>
        <p:spPr>
          <a:xfrm>
            <a:off x="6490867" y="2886788"/>
            <a:ext cx="1080678" cy="363238"/>
          </a:xfrm>
          <a:prstGeom prst="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N06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3644F75B-439D-1D88-EAC9-729C5304AC90}"/>
              </a:ext>
            </a:extLst>
          </p:cNvPr>
          <p:cNvSpPr/>
          <p:nvPr/>
        </p:nvSpPr>
        <p:spPr>
          <a:xfrm>
            <a:off x="4512282" y="2876446"/>
            <a:ext cx="1397097" cy="339403"/>
          </a:xfrm>
          <a:prstGeom prst="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N06</a:t>
            </a:r>
          </a:p>
        </p:txBody>
      </p:sp>
      <p:sp>
        <p:nvSpPr>
          <p:cNvPr id="18" name="Arrow: Left 17">
            <a:extLst>
              <a:ext uri="{FF2B5EF4-FFF2-40B4-BE49-F238E27FC236}">
                <a16:creationId xmlns:a16="http://schemas.microsoft.com/office/drawing/2014/main" id="{DD2789EE-EEC7-E9CB-6D53-C57737A42320}"/>
              </a:ext>
            </a:extLst>
          </p:cNvPr>
          <p:cNvSpPr/>
          <p:nvPr/>
        </p:nvSpPr>
        <p:spPr>
          <a:xfrm>
            <a:off x="8121996" y="4975617"/>
            <a:ext cx="1044626" cy="353707"/>
          </a:xfrm>
          <a:prstGeom prst="lef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N10</a:t>
            </a:r>
          </a:p>
        </p:txBody>
      </p:sp>
      <p:sp>
        <p:nvSpPr>
          <p:cNvPr id="19" name="Arrow: Left 18">
            <a:extLst>
              <a:ext uri="{FF2B5EF4-FFF2-40B4-BE49-F238E27FC236}">
                <a16:creationId xmlns:a16="http://schemas.microsoft.com/office/drawing/2014/main" id="{F693BC81-BF75-2B20-0F6D-9F2FD8306869}"/>
              </a:ext>
            </a:extLst>
          </p:cNvPr>
          <p:cNvSpPr/>
          <p:nvPr/>
        </p:nvSpPr>
        <p:spPr>
          <a:xfrm>
            <a:off x="4518710" y="4289032"/>
            <a:ext cx="1392843" cy="347885"/>
          </a:xfrm>
          <a:prstGeom prst="lef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N04</a:t>
            </a:r>
          </a:p>
        </p:txBody>
      </p:sp>
      <p:sp>
        <p:nvSpPr>
          <p:cNvPr id="20" name="Arrow: Left 19">
            <a:extLst>
              <a:ext uri="{FF2B5EF4-FFF2-40B4-BE49-F238E27FC236}">
                <a16:creationId xmlns:a16="http://schemas.microsoft.com/office/drawing/2014/main" id="{5AEED430-1A33-20D1-6E47-B2203D317407}"/>
              </a:ext>
            </a:extLst>
          </p:cNvPr>
          <p:cNvSpPr/>
          <p:nvPr/>
        </p:nvSpPr>
        <p:spPr>
          <a:xfrm>
            <a:off x="2684114" y="3337610"/>
            <a:ext cx="1290941" cy="598878"/>
          </a:xfrm>
          <a:prstGeom prst="lef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F27 – QPH RESPONSE</a:t>
            </a:r>
          </a:p>
        </p:txBody>
      </p:sp>
      <p:sp>
        <p:nvSpPr>
          <p:cNvPr id="21" name="Arrow: Left 20">
            <a:extLst>
              <a:ext uri="{FF2B5EF4-FFF2-40B4-BE49-F238E27FC236}">
                <a16:creationId xmlns:a16="http://schemas.microsoft.com/office/drawing/2014/main" id="{38474564-49EA-CD49-4D5B-EC892637E89A}"/>
              </a:ext>
            </a:extLst>
          </p:cNvPr>
          <p:cNvSpPr/>
          <p:nvPr/>
        </p:nvSpPr>
        <p:spPr>
          <a:xfrm>
            <a:off x="2727483" y="4762076"/>
            <a:ext cx="1260792" cy="326289"/>
          </a:xfrm>
          <a:prstGeom prst="lef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N04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9171A7E-FCE3-2331-BC0E-0D15606EE7BD}"/>
              </a:ext>
            </a:extLst>
          </p:cNvPr>
          <p:cNvSpPr/>
          <p:nvPr/>
        </p:nvSpPr>
        <p:spPr>
          <a:xfrm>
            <a:off x="2135019" y="2290471"/>
            <a:ext cx="586036" cy="385287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n w="0"/>
                <a:solidFill>
                  <a:schemeClr val="tx1"/>
                </a:solidFill>
              </a:rPr>
              <a:t>U</a:t>
            </a:r>
          </a:p>
          <a:p>
            <a:pPr algn="ctr"/>
            <a:r>
              <a:rPr lang="en-US" sz="2000" dirty="0">
                <a:ln w="0"/>
                <a:solidFill>
                  <a:schemeClr val="tx1"/>
                </a:solidFill>
              </a:rPr>
              <a:t>B</a:t>
            </a:r>
          </a:p>
          <a:p>
            <a:pPr algn="ctr"/>
            <a:r>
              <a:rPr lang="en-US" sz="2000" dirty="0">
                <a:ln w="0"/>
                <a:solidFill>
                  <a:schemeClr val="tx1"/>
                </a:solidFill>
              </a:rPr>
              <a:t>S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A8C8DFE-51D8-42DD-A782-A34469EA5479}"/>
              </a:ext>
            </a:extLst>
          </p:cNvPr>
          <p:cNvSpPr/>
          <p:nvPr/>
        </p:nvSpPr>
        <p:spPr>
          <a:xfrm>
            <a:off x="10403022" y="2886788"/>
            <a:ext cx="1708154" cy="41725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dirty="0"/>
              <a:t>N06 – NEFT Outward Transfer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92F86DCC-AB63-F448-3859-3B329C63E454}"/>
              </a:ext>
            </a:extLst>
          </p:cNvPr>
          <p:cNvSpPr/>
          <p:nvPr/>
        </p:nvSpPr>
        <p:spPr>
          <a:xfrm>
            <a:off x="10416843" y="3307940"/>
            <a:ext cx="1694333" cy="41725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dirty="0"/>
              <a:t>N02 – Incoming NEFT Message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401D3E1-7AA5-C3E1-7B2D-65D0E02E86D0}"/>
              </a:ext>
            </a:extLst>
          </p:cNvPr>
          <p:cNvSpPr/>
          <p:nvPr/>
        </p:nvSpPr>
        <p:spPr>
          <a:xfrm>
            <a:off x="10409932" y="3735808"/>
            <a:ext cx="1708154" cy="57572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dirty="0"/>
              <a:t>N10 – Credit Acknowledgement Message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2EBA6F51-D955-4937-2438-705E1613E989}"/>
              </a:ext>
            </a:extLst>
          </p:cNvPr>
          <p:cNvSpPr/>
          <p:nvPr/>
        </p:nvSpPr>
        <p:spPr>
          <a:xfrm>
            <a:off x="10403022" y="4322146"/>
            <a:ext cx="1694334" cy="504059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dirty="0"/>
              <a:t>N04 – End of Batch Message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9B447B5A-B78B-DC39-89BB-7D9709430DC0}"/>
              </a:ext>
            </a:extLst>
          </p:cNvPr>
          <p:cNvSpPr/>
          <p:nvPr/>
        </p:nvSpPr>
        <p:spPr>
          <a:xfrm>
            <a:off x="10404136" y="4836823"/>
            <a:ext cx="1721008" cy="71089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dirty="0"/>
              <a:t>F27 -  Acknowledgement Message from QNG &amp; SFMS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7EF7D4F-641A-3580-794F-AB2194696AD3}"/>
              </a:ext>
            </a:extLst>
          </p:cNvPr>
          <p:cNvSpPr/>
          <p:nvPr/>
        </p:nvSpPr>
        <p:spPr>
          <a:xfrm>
            <a:off x="0" y="2290470"/>
            <a:ext cx="586036" cy="385287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n w="0"/>
                <a:solidFill>
                  <a:schemeClr val="tx1"/>
                </a:solidFill>
              </a:rPr>
              <a:t>F</a:t>
            </a:r>
          </a:p>
          <a:p>
            <a:pPr algn="ctr"/>
            <a:r>
              <a:rPr lang="en-US" sz="2000" dirty="0">
                <a:ln w="0"/>
                <a:solidFill>
                  <a:schemeClr val="tx1"/>
                </a:solidFill>
              </a:rPr>
              <a:t>C</a:t>
            </a:r>
          </a:p>
          <a:p>
            <a:pPr algn="ctr"/>
            <a:r>
              <a:rPr lang="en-US" sz="2000" dirty="0">
                <a:ln w="0"/>
                <a:solidFill>
                  <a:schemeClr val="tx1"/>
                </a:solidFill>
              </a:rPr>
              <a:t>D</a:t>
            </a:r>
          </a:p>
          <a:p>
            <a:pPr algn="ctr"/>
            <a:r>
              <a:rPr lang="en-US" sz="2000" dirty="0">
                <a:ln w="0"/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8F9A75C1-8C03-513D-8F48-C2AE9BFB0326}"/>
              </a:ext>
            </a:extLst>
          </p:cNvPr>
          <p:cNvSpPr/>
          <p:nvPr/>
        </p:nvSpPr>
        <p:spPr>
          <a:xfrm>
            <a:off x="586037" y="4022522"/>
            <a:ext cx="1547376" cy="425192"/>
          </a:xfrm>
          <a:prstGeom prst="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Payment Initiation</a:t>
            </a:r>
          </a:p>
        </p:txBody>
      </p:sp>
    </p:spTree>
    <p:extLst>
      <p:ext uri="{BB962C8B-B14F-4D97-AF65-F5344CB8AC3E}">
        <p14:creationId xmlns:p14="http://schemas.microsoft.com/office/powerpoint/2010/main" val="22235138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FAD4A-0621-8AC4-793A-6EC64447C52F}"/>
              </a:ext>
            </a:extLst>
          </p:cNvPr>
          <p:cNvSpPr txBox="1">
            <a:spLocks/>
          </p:cNvSpPr>
          <p:nvPr/>
        </p:nvSpPr>
        <p:spPr>
          <a:xfrm>
            <a:off x="2630951" y="0"/>
            <a:ext cx="7259698" cy="65513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>
                <a:solidFill>
                  <a:schemeClr val="tx2"/>
                </a:solidFill>
              </a:rPr>
              <a:t>RTGS Payment Flow</a:t>
            </a:r>
            <a:endParaRPr lang="en-US" sz="4000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6D5757-CA4A-9E2B-6575-874E0E88EE53}"/>
              </a:ext>
            </a:extLst>
          </p:cNvPr>
          <p:cNvSpPr/>
          <p:nvPr/>
        </p:nvSpPr>
        <p:spPr>
          <a:xfrm>
            <a:off x="5817588" y="2033471"/>
            <a:ext cx="556823" cy="386982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n w="0"/>
                <a:solidFill>
                  <a:schemeClr val="tx1"/>
                </a:solidFill>
              </a:rPr>
              <a:t>S</a:t>
            </a:r>
          </a:p>
          <a:p>
            <a:pPr algn="ctr"/>
            <a:r>
              <a:rPr lang="en-US" sz="2000" dirty="0">
                <a:ln w="0"/>
                <a:solidFill>
                  <a:schemeClr val="tx1"/>
                </a:solidFill>
              </a:rPr>
              <a:t>F</a:t>
            </a:r>
          </a:p>
          <a:p>
            <a:pPr algn="ctr"/>
            <a:r>
              <a:rPr lang="en-US" sz="2000" dirty="0">
                <a:ln w="0"/>
                <a:solidFill>
                  <a:schemeClr val="tx1"/>
                </a:solidFill>
              </a:rPr>
              <a:t>M</a:t>
            </a:r>
          </a:p>
          <a:p>
            <a:pPr algn="ctr"/>
            <a:r>
              <a:rPr lang="en-US" sz="2000" dirty="0">
                <a:ln w="0"/>
                <a:solidFill>
                  <a:schemeClr val="tx1"/>
                </a:solidFill>
              </a:rPr>
              <a:t>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AB9121C-E072-9CD8-200B-5B7BF2A6703C}"/>
              </a:ext>
            </a:extLst>
          </p:cNvPr>
          <p:cNvSpPr/>
          <p:nvPr/>
        </p:nvSpPr>
        <p:spPr>
          <a:xfrm>
            <a:off x="7469016" y="2033471"/>
            <a:ext cx="586312" cy="386982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n w="0"/>
                <a:solidFill>
                  <a:schemeClr val="tx1"/>
                </a:solidFill>
              </a:rPr>
              <a:t>N</a:t>
            </a:r>
          </a:p>
          <a:p>
            <a:pPr algn="ctr"/>
            <a:r>
              <a:rPr lang="en-US" sz="2000" dirty="0">
                <a:ln w="0"/>
                <a:solidFill>
                  <a:schemeClr val="tx1"/>
                </a:solidFill>
              </a:rPr>
              <a:t>G</a:t>
            </a:r>
          </a:p>
          <a:p>
            <a:pPr algn="ctr"/>
            <a:r>
              <a:rPr lang="en-US" sz="2000" dirty="0">
                <a:ln w="0"/>
                <a:solidFill>
                  <a:schemeClr val="tx1"/>
                </a:solidFill>
              </a:rPr>
              <a:t>R</a:t>
            </a:r>
          </a:p>
          <a:p>
            <a:pPr algn="ctr"/>
            <a:r>
              <a:rPr lang="en-US" sz="2000" dirty="0">
                <a:ln w="0"/>
                <a:solidFill>
                  <a:schemeClr val="tx1"/>
                </a:solidFill>
              </a:rPr>
              <a:t>T</a:t>
            </a:r>
          </a:p>
          <a:p>
            <a:pPr algn="ctr"/>
            <a:r>
              <a:rPr lang="en-US" sz="2000" dirty="0">
                <a:ln w="0"/>
                <a:solidFill>
                  <a:schemeClr val="tx1"/>
                </a:solidFill>
              </a:rPr>
              <a:t>G</a:t>
            </a:r>
          </a:p>
          <a:p>
            <a:pPr algn="ctr"/>
            <a:r>
              <a:rPr lang="en-US" sz="2000" dirty="0">
                <a:ln w="0"/>
                <a:solidFill>
                  <a:schemeClr val="tx1"/>
                </a:solidFill>
              </a:rPr>
              <a:t>S</a:t>
            </a:r>
          </a:p>
          <a:p>
            <a:pPr algn="ctr"/>
            <a:endParaRPr lang="en-US" sz="2000" dirty="0">
              <a:ln w="0"/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ln w="0"/>
                <a:solidFill>
                  <a:schemeClr val="tx1"/>
                </a:solidFill>
              </a:rPr>
              <a:t>R</a:t>
            </a:r>
          </a:p>
          <a:p>
            <a:pPr algn="ctr"/>
            <a:r>
              <a:rPr lang="en-US" sz="2000" dirty="0">
                <a:ln w="0"/>
                <a:solidFill>
                  <a:schemeClr val="tx1"/>
                </a:solidFill>
              </a:rPr>
              <a:t>B</a:t>
            </a:r>
          </a:p>
          <a:p>
            <a:pPr algn="ctr"/>
            <a:r>
              <a:rPr lang="en-US" sz="2000" dirty="0">
                <a:ln w="0"/>
                <a:solidFill>
                  <a:schemeClr val="tx1"/>
                </a:solidFill>
              </a:rPr>
              <a:t>I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EB166B3-890E-AFA6-AAA8-BF75C2AB56DD}"/>
              </a:ext>
            </a:extLst>
          </p:cNvPr>
          <p:cNvSpPr/>
          <p:nvPr/>
        </p:nvSpPr>
        <p:spPr>
          <a:xfrm>
            <a:off x="3818050" y="1490225"/>
            <a:ext cx="1245098" cy="4736008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b="1" dirty="0"/>
              <a:t>QNG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E9140A-CA77-34D7-77E8-C34959DE0BBE}"/>
              </a:ext>
            </a:extLst>
          </p:cNvPr>
          <p:cNvSpPr/>
          <p:nvPr/>
        </p:nvSpPr>
        <p:spPr>
          <a:xfrm>
            <a:off x="4172543" y="2033471"/>
            <a:ext cx="539254" cy="386982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n w="0"/>
                <a:solidFill>
                  <a:schemeClr val="tx1"/>
                </a:solidFill>
              </a:rPr>
              <a:t>PH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BD03CEC8-6152-985B-EBCF-5ACAD1183082}"/>
              </a:ext>
            </a:extLst>
          </p:cNvPr>
          <p:cNvSpPr/>
          <p:nvPr/>
        </p:nvSpPr>
        <p:spPr>
          <a:xfrm>
            <a:off x="2823099" y="2698621"/>
            <a:ext cx="1347839" cy="308520"/>
          </a:xfrm>
          <a:prstGeom prst="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R41/R42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3D4D1157-E7A4-DAB4-A0F2-133054FB7B37}"/>
              </a:ext>
            </a:extLst>
          </p:cNvPr>
          <p:cNvSpPr/>
          <p:nvPr/>
        </p:nvSpPr>
        <p:spPr>
          <a:xfrm>
            <a:off x="4720268" y="2698621"/>
            <a:ext cx="1087538" cy="386116"/>
          </a:xfrm>
          <a:prstGeom prst="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</a:rPr>
              <a:t>PAC008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E643004F-D2EE-E5F5-9082-45EB18A4F4D6}"/>
              </a:ext>
            </a:extLst>
          </p:cNvPr>
          <p:cNvSpPr/>
          <p:nvPr/>
        </p:nvSpPr>
        <p:spPr>
          <a:xfrm>
            <a:off x="6391922" y="2743433"/>
            <a:ext cx="1064679" cy="341304"/>
          </a:xfrm>
          <a:prstGeom prst="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</a:rPr>
              <a:t>PAC008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AB307D8D-AB2D-324E-D7A7-B029DD4196AE}"/>
              </a:ext>
            </a:extLst>
          </p:cNvPr>
          <p:cNvSpPr/>
          <p:nvPr/>
        </p:nvSpPr>
        <p:spPr>
          <a:xfrm>
            <a:off x="8065110" y="2758799"/>
            <a:ext cx="1145448" cy="386116"/>
          </a:xfrm>
          <a:prstGeom prst="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</a:rPr>
              <a:t>PAC008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B970484-EF2C-FA5D-6B55-75658D7DDD41}"/>
              </a:ext>
            </a:extLst>
          </p:cNvPr>
          <p:cNvSpPr/>
          <p:nvPr/>
        </p:nvSpPr>
        <p:spPr>
          <a:xfrm>
            <a:off x="9210559" y="2033471"/>
            <a:ext cx="523753" cy="386982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n w="0"/>
                <a:solidFill>
                  <a:schemeClr val="tx1"/>
                </a:solidFill>
              </a:rPr>
              <a:t>R</a:t>
            </a:r>
          </a:p>
          <a:p>
            <a:pPr algn="ctr"/>
            <a:r>
              <a:rPr lang="en-US" sz="2000" dirty="0">
                <a:ln w="0"/>
                <a:solidFill>
                  <a:schemeClr val="tx1"/>
                </a:solidFill>
              </a:rPr>
              <a:t>E</a:t>
            </a:r>
          </a:p>
          <a:p>
            <a:pPr algn="ctr"/>
            <a:r>
              <a:rPr lang="en-US" sz="2000" dirty="0">
                <a:ln w="0"/>
                <a:solidFill>
                  <a:schemeClr val="tx1"/>
                </a:solidFill>
              </a:rPr>
              <a:t>C</a:t>
            </a:r>
          </a:p>
          <a:p>
            <a:pPr algn="ctr"/>
            <a:r>
              <a:rPr lang="en-US" sz="2000" dirty="0">
                <a:ln w="0"/>
                <a:solidFill>
                  <a:schemeClr val="tx1"/>
                </a:solidFill>
              </a:rPr>
              <a:t>E</a:t>
            </a:r>
          </a:p>
          <a:p>
            <a:pPr algn="ctr"/>
            <a:r>
              <a:rPr lang="en-US" sz="2000" dirty="0">
                <a:ln w="0"/>
                <a:solidFill>
                  <a:schemeClr val="tx1"/>
                </a:solidFill>
              </a:rPr>
              <a:t>I</a:t>
            </a:r>
          </a:p>
          <a:p>
            <a:pPr algn="ctr"/>
            <a:r>
              <a:rPr lang="en-US" sz="2000" dirty="0">
                <a:ln w="0"/>
                <a:solidFill>
                  <a:schemeClr val="tx1"/>
                </a:solidFill>
              </a:rPr>
              <a:t>V</a:t>
            </a:r>
          </a:p>
          <a:p>
            <a:pPr algn="ctr"/>
            <a:r>
              <a:rPr lang="en-US" sz="2000" dirty="0">
                <a:ln w="0"/>
                <a:solidFill>
                  <a:schemeClr val="tx1"/>
                </a:solidFill>
              </a:rPr>
              <a:t>E</a:t>
            </a:r>
          </a:p>
          <a:p>
            <a:pPr algn="ctr"/>
            <a:r>
              <a:rPr lang="en-US" sz="2000" dirty="0">
                <a:ln w="0"/>
                <a:solidFill>
                  <a:schemeClr val="tx1"/>
                </a:solidFill>
              </a:rPr>
              <a:t>R</a:t>
            </a:r>
          </a:p>
          <a:p>
            <a:pPr algn="ctr"/>
            <a:endParaRPr lang="en-US" sz="2000" dirty="0">
              <a:ln w="0"/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ln w="0"/>
                <a:solidFill>
                  <a:schemeClr val="tx1"/>
                </a:solidFill>
              </a:rPr>
              <a:t>B</a:t>
            </a:r>
          </a:p>
          <a:p>
            <a:pPr algn="ctr"/>
            <a:r>
              <a:rPr lang="en-US" sz="2000" dirty="0">
                <a:ln w="0"/>
                <a:solidFill>
                  <a:schemeClr val="tx1"/>
                </a:solidFill>
              </a:rPr>
              <a:t>A</a:t>
            </a:r>
          </a:p>
          <a:p>
            <a:pPr algn="ctr"/>
            <a:r>
              <a:rPr lang="en-US" sz="2000" dirty="0">
                <a:ln w="0"/>
                <a:solidFill>
                  <a:schemeClr val="tx1"/>
                </a:solidFill>
              </a:rPr>
              <a:t>N</a:t>
            </a:r>
          </a:p>
          <a:p>
            <a:pPr algn="ctr"/>
            <a:r>
              <a:rPr lang="en-US" sz="2000" dirty="0">
                <a:ln w="0"/>
                <a:solidFill>
                  <a:schemeClr val="tx1"/>
                </a:solidFill>
              </a:rPr>
              <a:t>K</a:t>
            </a:r>
          </a:p>
        </p:txBody>
      </p:sp>
      <p:sp>
        <p:nvSpPr>
          <p:cNvPr id="12" name="Arrow: Left 11">
            <a:extLst>
              <a:ext uri="{FF2B5EF4-FFF2-40B4-BE49-F238E27FC236}">
                <a16:creationId xmlns:a16="http://schemas.microsoft.com/office/drawing/2014/main" id="{2016B7EF-B362-D154-6E64-ACDD8DEF2AD4}"/>
              </a:ext>
            </a:extLst>
          </p:cNvPr>
          <p:cNvSpPr/>
          <p:nvPr/>
        </p:nvSpPr>
        <p:spPr>
          <a:xfrm>
            <a:off x="8065110" y="4631703"/>
            <a:ext cx="1145448" cy="383990"/>
          </a:xfrm>
          <a:prstGeom prst="lef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</a:rPr>
              <a:t>CAMT59</a:t>
            </a:r>
          </a:p>
        </p:txBody>
      </p:sp>
      <p:sp>
        <p:nvSpPr>
          <p:cNvPr id="13" name="Arrow: Left 12">
            <a:extLst>
              <a:ext uri="{FF2B5EF4-FFF2-40B4-BE49-F238E27FC236}">
                <a16:creationId xmlns:a16="http://schemas.microsoft.com/office/drawing/2014/main" id="{C3ECE46C-5FB2-C6F3-B7F2-B383AFF3E560}"/>
              </a:ext>
            </a:extLst>
          </p:cNvPr>
          <p:cNvSpPr/>
          <p:nvPr/>
        </p:nvSpPr>
        <p:spPr>
          <a:xfrm>
            <a:off x="6391009" y="4611419"/>
            <a:ext cx="1078005" cy="371016"/>
          </a:xfrm>
          <a:prstGeom prst="lef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</a:rPr>
              <a:t>CAMT59</a:t>
            </a:r>
          </a:p>
        </p:txBody>
      </p:sp>
      <p:sp>
        <p:nvSpPr>
          <p:cNvPr id="14" name="Arrow: Left 13">
            <a:extLst>
              <a:ext uri="{FF2B5EF4-FFF2-40B4-BE49-F238E27FC236}">
                <a16:creationId xmlns:a16="http://schemas.microsoft.com/office/drawing/2014/main" id="{8F3DD1F7-F91D-A2E4-7A0E-424745A1F0EB}"/>
              </a:ext>
            </a:extLst>
          </p:cNvPr>
          <p:cNvSpPr/>
          <p:nvPr/>
        </p:nvSpPr>
        <p:spPr>
          <a:xfrm>
            <a:off x="6391009" y="3839511"/>
            <a:ext cx="1078365" cy="377382"/>
          </a:xfrm>
          <a:prstGeom prst="lef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</a:rPr>
              <a:t>CAMT54</a:t>
            </a:r>
          </a:p>
        </p:txBody>
      </p:sp>
      <p:sp>
        <p:nvSpPr>
          <p:cNvPr id="15" name="Arrow: Left 14">
            <a:extLst>
              <a:ext uri="{FF2B5EF4-FFF2-40B4-BE49-F238E27FC236}">
                <a16:creationId xmlns:a16="http://schemas.microsoft.com/office/drawing/2014/main" id="{72D45507-5867-8A91-A35B-54C157B7A966}"/>
              </a:ext>
            </a:extLst>
          </p:cNvPr>
          <p:cNvSpPr/>
          <p:nvPr/>
        </p:nvSpPr>
        <p:spPr>
          <a:xfrm>
            <a:off x="2818614" y="4611418"/>
            <a:ext cx="1345013" cy="368574"/>
          </a:xfrm>
          <a:prstGeom prst="lef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</a:rPr>
              <a:t>R09</a:t>
            </a:r>
            <a:r>
              <a:rPr lang="en-US" sz="1400" dirty="0">
                <a:ln w="0"/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16" name="Arrow: Left 15">
            <a:extLst>
              <a:ext uri="{FF2B5EF4-FFF2-40B4-BE49-F238E27FC236}">
                <a16:creationId xmlns:a16="http://schemas.microsoft.com/office/drawing/2014/main" id="{2B4F3C8A-EB92-8362-282E-9D268EDBCF35}"/>
              </a:ext>
            </a:extLst>
          </p:cNvPr>
          <p:cNvSpPr/>
          <p:nvPr/>
        </p:nvSpPr>
        <p:spPr>
          <a:xfrm>
            <a:off x="2826072" y="3709799"/>
            <a:ext cx="1350001" cy="570692"/>
          </a:xfrm>
          <a:prstGeom prst="lef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</a:rPr>
              <a:t>R90 – QPH RESPONSE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F55DBE0-BDF9-66F8-9EF4-1D13604A0E0F}"/>
              </a:ext>
            </a:extLst>
          </p:cNvPr>
          <p:cNvSpPr/>
          <p:nvPr/>
        </p:nvSpPr>
        <p:spPr>
          <a:xfrm>
            <a:off x="2214670" y="2033471"/>
            <a:ext cx="594804" cy="385546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n w="0"/>
                <a:solidFill>
                  <a:schemeClr val="tx1"/>
                </a:solidFill>
              </a:rPr>
              <a:t>U</a:t>
            </a:r>
          </a:p>
          <a:p>
            <a:pPr algn="ctr"/>
            <a:r>
              <a:rPr lang="en-US" sz="2000" dirty="0">
                <a:ln w="0"/>
                <a:solidFill>
                  <a:schemeClr val="tx1"/>
                </a:solidFill>
              </a:rPr>
              <a:t>B</a:t>
            </a:r>
          </a:p>
          <a:p>
            <a:pPr algn="ctr"/>
            <a:r>
              <a:rPr lang="en-US" sz="2000" dirty="0">
                <a:ln w="0"/>
                <a:solidFill>
                  <a:schemeClr val="tx1"/>
                </a:solidFill>
              </a:rPr>
              <a:t>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E5302F6-FCC1-5DAF-B7F5-4792A346685C}"/>
              </a:ext>
            </a:extLst>
          </p:cNvPr>
          <p:cNvSpPr/>
          <p:nvPr/>
        </p:nvSpPr>
        <p:spPr>
          <a:xfrm>
            <a:off x="10287139" y="3215626"/>
            <a:ext cx="1837848" cy="418758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dirty="0"/>
              <a:t>R42 – Bank Transfer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95504A9-1C76-DCD2-E9EB-694BFE94FBF7}"/>
              </a:ext>
            </a:extLst>
          </p:cNvPr>
          <p:cNvSpPr/>
          <p:nvPr/>
        </p:nvSpPr>
        <p:spPr>
          <a:xfrm>
            <a:off x="10287139" y="3649604"/>
            <a:ext cx="1837848" cy="390335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dirty="0"/>
              <a:t>PAC008 – Customer Credit Transfer Message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4AB05824-A6E7-7BCF-B977-5A7B1C57B5F4}"/>
              </a:ext>
            </a:extLst>
          </p:cNvPr>
          <p:cNvSpPr/>
          <p:nvPr/>
        </p:nvSpPr>
        <p:spPr>
          <a:xfrm>
            <a:off x="10287137" y="4039939"/>
            <a:ext cx="1837849" cy="571479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dirty="0"/>
              <a:t>CAMT54 – Bank to Customer Debit/Credit Notification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68F975C-3E31-1F5B-FD6A-DC00E3A60748}"/>
              </a:ext>
            </a:extLst>
          </p:cNvPr>
          <p:cNvSpPr/>
          <p:nvPr/>
        </p:nvSpPr>
        <p:spPr>
          <a:xfrm>
            <a:off x="10274543" y="4598443"/>
            <a:ext cx="1837847" cy="41725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dirty="0"/>
              <a:t>CAMT59 – Credit Acknowledgement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50E0561-31AE-EB2B-502C-5699CC4D6268}"/>
              </a:ext>
            </a:extLst>
          </p:cNvPr>
          <p:cNvSpPr/>
          <p:nvPr/>
        </p:nvSpPr>
        <p:spPr>
          <a:xfrm>
            <a:off x="10285809" y="5020729"/>
            <a:ext cx="1850441" cy="41725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dirty="0"/>
              <a:t>R09 – Acknowledgement from RBI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D58B01D-9BA8-513B-10AC-78514DA9CE3C}"/>
              </a:ext>
            </a:extLst>
          </p:cNvPr>
          <p:cNvSpPr/>
          <p:nvPr/>
        </p:nvSpPr>
        <p:spPr>
          <a:xfrm>
            <a:off x="10285809" y="5453199"/>
            <a:ext cx="1839175" cy="41725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dirty="0"/>
              <a:t>R90 – Acknowledgement from QNG</a:t>
            </a:r>
          </a:p>
        </p:txBody>
      </p:sp>
      <p:sp>
        <p:nvSpPr>
          <p:cNvPr id="25" name="Arrow: Left 24">
            <a:extLst>
              <a:ext uri="{FF2B5EF4-FFF2-40B4-BE49-F238E27FC236}">
                <a16:creationId xmlns:a16="http://schemas.microsoft.com/office/drawing/2014/main" id="{9CEA6706-DA96-BD52-1E83-B6A8F2449702}"/>
              </a:ext>
            </a:extLst>
          </p:cNvPr>
          <p:cNvSpPr/>
          <p:nvPr/>
        </p:nvSpPr>
        <p:spPr>
          <a:xfrm>
            <a:off x="4725370" y="3802087"/>
            <a:ext cx="1083747" cy="386116"/>
          </a:xfrm>
          <a:prstGeom prst="lef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</a:rPr>
              <a:t>CAMT54</a:t>
            </a:r>
          </a:p>
        </p:txBody>
      </p:sp>
      <p:sp>
        <p:nvSpPr>
          <p:cNvPr id="26" name="Arrow: Left 25">
            <a:extLst>
              <a:ext uri="{FF2B5EF4-FFF2-40B4-BE49-F238E27FC236}">
                <a16:creationId xmlns:a16="http://schemas.microsoft.com/office/drawing/2014/main" id="{C8F68FFD-E438-FDCB-81B2-38EEC3F08E64}"/>
              </a:ext>
            </a:extLst>
          </p:cNvPr>
          <p:cNvSpPr/>
          <p:nvPr/>
        </p:nvSpPr>
        <p:spPr>
          <a:xfrm>
            <a:off x="4713402" y="4589711"/>
            <a:ext cx="1104184" cy="392723"/>
          </a:xfrm>
          <a:prstGeom prst="lef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</a:rPr>
              <a:t>CAMT59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4D1F031-C598-DF67-18F4-E620705393B5}"/>
              </a:ext>
            </a:extLst>
          </p:cNvPr>
          <p:cNvSpPr/>
          <p:nvPr/>
        </p:nvSpPr>
        <p:spPr>
          <a:xfrm>
            <a:off x="16519" y="2033471"/>
            <a:ext cx="594804" cy="380288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n w="0"/>
                <a:solidFill>
                  <a:schemeClr val="tx1"/>
                </a:solidFill>
              </a:rPr>
              <a:t>F</a:t>
            </a:r>
          </a:p>
          <a:p>
            <a:pPr algn="ctr"/>
            <a:r>
              <a:rPr lang="en-US" sz="2000" dirty="0">
                <a:ln w="0"/>
                <a:solidFill>
                  <a:schemeClr val="tx1"/>
                </a:solidFill>
              </a:rPr>
              <a:t>C</a:t>
            </a:r>
          </a:p>
          <a:p>
            <a:pPr algn="ctr"/>
            <a:r>
              <a:rPr lang="en-US" sz="2000" dirty="0">
                <a:ln w="0"/>
                <a:solidFill>
                  <a:schemeClr val="tx1"/>
                </a:solidFill>
              </a:rPr>
              <a:t>D</a:t>
            </a:r>
          </a:p>
          <a:p>
            <a:pPr algn="ctr"/>
            <a:r>
              <a:rPr lang="en-US" sz="2000" dirty="0">
                <a:ln w="0"/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60412A83-288D-C7D9-5400-406BC4393770}"/>
              </a:ext>
            </a:extLst>
          </p:cNvPr>
          <p:cNvSpPr/>
          <p:nvPr/>
        </p:nvSpPr>
        <p:spPr>
          <a:xfrm>
            <a:off x="619793" y="3580597"/>
            <a:ext cx="1593271" cy="486257"/>
          </a:xfrm>
          <a:prstGeom prst="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Payment Initiation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58CD74FD-5547-23E8-89F8-5B2C8F360DEB}"/>
              </a:ext>
            </a:extLst>
          </p:cNvPr>
          <p:cNvSpPr/>
          <p:nvPr/>
        </p:nvSpPr>
        <p:spPr>
          <a:xfrm>
            <a:off x="10287139" y="2823783"/>
            <a:ext cx="1837847" cy="391843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dirty="0"/>
              <a:t>R41 – Customer Transfer</a:t>
            </a:r>
          </a:p>
        </p:txBody>
      </p:sp>
    </p:spTree>
    <p:extLst>
      <p:ext uri="{BB962C8B-B14F-4D97-AF65-F5344CB8AC3E}">
        <p14:creationId xmlns:p14="http://schemas.microsoft.com/office/powerpoint/2010/main" val="40250921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3C823D3-D619-407C-89E0-C6F6B1E7A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7F8E3E-2FFA-4A0F-B3C7-E57ADDCFB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484D0F-0D9F-464E-B124-E327C9316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1595120"/>
            <a:ext cx="9833548" cy="915745"/>
          </a:xfrm>
        </p:spPr>
        <p:txBody>
          <a:bodyPr anchor="b">
            <a:normAutofit/>
          </a:bodyPr>
          <a:lstStyle/>
          <a:p>
            <a:pPr algn="ctr"/>
            <a:r>
              <a:rPr lang="en-US" sz="3600" dirty="0">
                <a:solidFill>
                  <a:schemeClr val="tx2"/>
                </a:solidFill>
              </a:rPr>
              <a:t>Fund Transfer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3D939F1-7ABE-4D0E-946A-43F37F556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3346102" cy="2510865"/>
            <a:chOff x="-305" y="-1"/>
            <a:chExt cx="3832880" cy="2876136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3FE0426-0FE4-451E-A8BB-08DA6A6AC2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A32F7E8-35B4-451F-AA07-AECF7CA1D5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097796-C3C8-4772-9EBD-9F5CA368F5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C4BC137-BB50-4235-A83F-4B4EEE1590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68072E-6277-45A1-A6F1-D25F1B082B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226" y="3329677"/>
            <a:ext cx="9833548" cy="2457269"/>
          </a:xfrm>
        </p:spPr>
        <p:txBody>
          <a:bodyPr>
            <a:normAutofit/>
          </a:bodyPr>
          <a:lstStyle/>
          <a:p>
            <a:r>
              <a:rPr lang="en-US" sz="1800" dirty="0">
                <a:solidFill>
                  <a:schemeClr val="tx2"/>
                </a:solidFill>
              </a:rPr>
              <a:t>Module : FT</a:t>
            </a:r>
          </a:p>
          <a:p>
            <a:r>
              <a:rPr lang="en-US" sz="1800" dirty="0">
                <a:solidFill>
                  <a:schemeClr val="tx2"/>
                </a:solidFill>
              </a:rPr>
              <a:t>Fund Transfer between financial institutions</a:t>
            </a:r>
          </a:p>
          <a:p>
            <a:r>
              <a:rPr lang="en-US" sz="1800" dirty="0">
                <a:solidFill>
                  <a:schemeClr val="tx2"/>
                </a:solidFill>
              </a:rPr>
              <a:t>Local and Cross Currency Transfer</a:t>
            </a:r>
          </a:p>
          <a:p>
            <a:r>
              <a:rPr lang="en-US" sz="1800" dirty="0">
                <a:solidFill>
                  <a:schemeClr val="tx2"/>
                </a:solidFill>
              </a:rPr>
              <a:t>Internal Fund Transfer</a:t>
            </a:r>
          </a:p>
          <a:p>
            <a:r>
              <a:rPr lang="en-US" sz="1800" dirty="0">
                <a:solidFill>
                  <a:schemeClr val="tx2"/>
                </a:solidFill>
              </a:rPr>
              <a:t>Payment Message Generation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DB3963A-4187-4A72-9DA4-CA6BADE22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9072780" y="3734338"/>
            <a:ext cx="3878664" cy="236865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428E75E-001A-4568-B035-574F1303EF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4AC8CFC-1164-4525-82A0-25F75ADCF4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F35C856-5B70-4CA2-BB8F-A37197D8F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50FD8B0-DE97-47B1-84ED-67A3BD00F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C36150-F4C9-46DF-83B9-20DC885BBB2E}"/>
              </a:ext>
            </a:extLst>
          </p:cNvPr>
          <p:cNvSpPr/>
          <p:nvPr/>
        </p:nvSpPr>
        <p:spPr>
          <a:xfrm>
            <a:off x="7670800" y="3129280"/>
            <a:ext cx="1605280" cy="7112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Product</a:t>
            </a:r>
          </a:p>
          <a:p>
            <a:pPr algn="ctr"/>
            <a:r>
              <a:rPr lang="en-US" dirty="0">
                <a:solidFill>
                  <a:schemeClr val="accent1"/>
                </a:solidFill>
              </a:rPr>
              <a:t>FTDPRMNT</a:t>
            </a:r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4DD51D0C-6EE0-4A97-8A2D-81E2A8795093}"/>
              </a:ext>
            </a:extLst>
          </p:cNvPr>
          <p:cNvSpPr/>
          <p:nvPr/>
        </p:nvSpPr>
        <p:spPr>
          <a:xfrm>
            <a:off x="8310881" y="3840480"/>
            <a:ext cx="264160" cy="711200"/>
          </a:xfrm>
          <a:prstGeom prst="down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2E0E010-E11F-46CA-972E-8562ED7C7C47}"/>
              </a:ext>
            </a:extLst>
          </p:cNvPr>
          <p:cNvSpPr/>
          <p:nvPr/>
        </p:nvSpPr>
        <p:spPr>
          <a:xfrm>
            <a:off x="7670800" y="4551680"/>
            <a:ext cx="1605280" cy="7112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Contract</a:t>
            </a:r>
          </a:p>
          <a:p>
            <a:pPr algn="ctr"/>
            <a:r>
              <a:rPr lang="en-US" dirty="0">
                <a:solidFill>
                  <a:schemeClr val="accent1"/>
                </a:solidFill>
              </a:rPr>
              <a:t>FTDTRONL</a:t>
            </a:r>
          </a:p>
        </p:txBody>
      </p:sp>
    </p:spTree>
    <p:extLst>
      <p:ext uri="{BB962C8B-B14F-4D97-AF65-F5344CB8AC3E}">
        <p14:creationId xmlns:p14="http://schemas.microsoft.com/office/powerpoint/2010/main" val="36888166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FAD4A-0621-8AC4-793A-6EC64447C52F}"/>
              </a:ext>
            </a:extLst>
          </p:cNvPr>
          <p:cNvSpPr txBox="1">
            <a:spLocks/>
          </p:cNvSpPr>
          <p:nvPr/>
        </p:nvSpPr>
        <p:spPr>
          <a:xfrm>
            <a:off x="2630951" y="361426"/>
            <a:ext cx="7259698" cy="82729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>
                <a:solidFill>
                  <a:schemeClr val="tx2"/>
                </a:solidFill>
              </a:rPr>
              <a:t>Fund Transfer Flow</a:t>
            </a:r>
            <a:endParaRPr lang="en-US" sz="4000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6D5757-CA4A-9E2B-6575-874E0E88EE53}"/>
              </a:ext>
            </a:extLst>
          </p:cNvPr>
          <p:cNvSpPr/>
          <p:nvPr/>
        </p:nvSpPr>
        <p:spPr>
          <a:xfrm>
            <a:off x="5537837" y="2131943"/>
            <a:ext cx="556823" cy="386982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n w="0"/>
                <a:solidFill>
                  <a:schemeClr val="tx1"/>
                </a:solidFill>
              </a:rPr>
              <a:t>S</a:t>
            </a:r>
          </a:p>
          <a:p>
            <a:pPr algn="ctr"/>
            <a:r>
              <a:rPr lang="en-US" sz="2000" dirty="0">
                <a:ln w="0"/>
                <a:solidFill>
                  <a:schemeClr val="tx1"/>
                </a:solidFill>
              </a:rPr>
              <a:t>W</a:t>
            </a:r>
          </a:p>
          <a:p>
            <a:pPr algn="ctr"/>
            <a:r>
              <a:rPr lang="en-US" sz="2000" dirty="0">
                <a:ln w="0"/>
                <a:solidFill>
                  <a:schemeClr val="tx1"/>
                </a:solidFill>
              </a:rPr>
              <a:t>I</a:t>
            </a:r>
          </a:p>
          <a:p>
            <a:pPr algn="ctr"/>
            <a:r>
              <a:rPr lang="en-US" sz="2000" dirty="0">
                <a:ln w="0"/>
                <a:solidFill>
                  <a:schemeClr val="tx1"/>
                </a:solidFill>
              </a:rPr>
              <a:t>F</a:t>
            </a:r>
          </a:p>
          <a:p>
            <a:pPr algn="ctr"/>
            <a:r>
              <a:rPr lang="en-US" sz="2000" dirty="0">
                <a:ln w="0"/>
                <a:solidFill>
                  <a:schemeClr val="tx1"/>
                </a:solidFill>
              </a:rPr>
              <a:t>T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EB166B3-890E-AFA6-AAA8-BF75C2AB56DD}"/>
              </a:ext>
            </a:extLst>
          </p:cNvPr>
          <p:cNvSpPr/>
          <p:nvPr/>
        </p:nvSpPr>
        <p:spPr>
          <a:xfrm>
            <a:off x="3814805" y="1471507"/>
            <a:ext cx="716095" cy="4736008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r>
              <a:rPr lang="en-US" b="1" dirty="0"/>
              <a:t>S</a:t>
            </a:r>
          </a:p>
          <a:p>
            <a:pPr algn="ctr"/>
            <a:r>
              <a:rPr lang="en-US" b="1" dirty="0"/>
              <a:t>A</a:t>
            </a:r>
          </a:p>
          <a:p>
            <a:pPr algn="ctr"/>
            <a:r>
              <a:rPr lang="en-US" b="1" dirty="0"/>
              <a:t>N</a:t>
            </a:r>
          </a:p>
          <a:p>
            <a:pPr algn="ctr"/>
            <a:r>
              <a:rPr lang="en-US" b="1" dirty="0"/>
              <a:t>C</a:t>
            </a:r>
          </a:p>
          <a:p>
            <a:pPr algn="ctr"/>
            <a:r>
              <a:rPr lang="en-US" b="1" dirty="0"/>
              <a:t>T</a:t>
            </a:r>
          </a:p>
          <a:p>
            <a:pPr algn="ctr"/>
            <a:r>
              <a:rPr lang="en-US" b="1" dirty="0"/>
              <a:t>I</a:t>
            </a:r>
          </a:p>
          <a:p>
            <a:pPr algn="ctr"/>
            <a:r>
              <a:rPr lang="en-US" b="1" dirty="0"/>
              <a:t>O</a:t>
            </a:r>
          </a:p>
          <a:p>
            <a:pPr algn="ctr"/>
            <a:r>
              <a:rPr lang="en-US" b="1" dirty="0"/>
              <a:t>N</a:t>
            </a:r>
          </a:p>
          <a:p>
            <a:pPr algn="ctr"/>
            <a:r>
              <a:rPr lang="en-US" b="1" dirty="0"/>
              <a:t>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F55DBE0-BDF9-66F8-9EF4-1D13604A0E0F}"/>
              </a:ext>
            </a:extLst>
          </p:cNvPr>
          <p:cNvSpPr/>
          <p:nvPr/>
        </p:nvSpPr>
        <p:spPr>
          <a:xfrm>
            <a:off x="2213064" y="2033471"/>
            <a:ext cx="594804" cy="385546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n w="0"/>
                <a:solidFill>
                  <a:schemeClr val="tx1"/>
                </a:solidFill>
              </a:rPr>
              <a:t>U</a:t>
            </a:r>
          </a:p>
          <a:p>
            <a:pPr algn="ctr"/>
            <a:r>
              <a:rPr lang="en-US" sz="2000" dirty="0">
                <a:ln w="0"/>
                <a:solidFill>
                  <a:schemeClr val="tx1"/>
                </a:solidFill>
              </a:rPr>
              <a:t>B</a:t>
            </a:r>
          </a:p>
          <a:p>
            <a:pPr algn="ctr"/>
            <a:r>
              <a:rPr lang="en-US" sz="2000" dirty="0">
                <a:ln w="0"/>
                <a:solidFill>
                  <a:schemeClr val="tx1"/>
                </a:solidFill>
              </a:rPr>
              <a:t>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E5302F6-FCC1-5DAF-B7F5-4792A346685C}"/>
              </a:ext>
            </a:extLst>
          </p:cNvPr>
          <p:cNvSpPr/>
          <p:nvPr/>
        </p:nvSpPr>
        <p:spPr>
          <a:xfrm>
            <a:off x="10287138" y="3961204"/>
            <a:ext cx="1837848" cy="418758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dirty="0"/>
              <a:t>MT202 – Bank Transfer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4D1F031-C598-DF67-18F4-E620705393B5}"/>
              </a:ext>
            </a:extLst>
          </p:cNvPr>
          <p:cNvSpPr/>
          <p:nvPr/>
        </p:nvSpPr>
        <p:spPr>
          <a:xfrm>
            <a:off x="16519" y="2033471"/>
            <a:ext cx="594804" cy="380288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n w="0"/>
                <a:solidFill>
                  <a:schemeClr val="tx1"/>
                </a:solidFill>
              </a:rPr>
              <a:t>F</a:t>
            </a:r>
          </a:p>
          <a:p>
            <a:pPr algn="ctr"/>
            <a:r>
              <a:rPr lang="en-US" sz="2000" dirty="0">
                <a:ln w="0"/>
                <a:solidFill>
                  <a:schemeClr val="tx1"/>
                </a:solidFill>
              </a:rPr>
              <a:t>C</a:t>
            </a:r>
          </a:p>
          <a:p>
            <a:pPr algn="ctr"/>
            <a:r>
              <a:rPr lang="en-US" sz="2000" dirty="0">
                <a:ln w="0"/>
                <a:solidFill>
                  <a:schemeClr val="tx1"/>
                </a:solidFill>
              </a:rPr>
              <a:t>D</a:t>
            </a:r>
          </a:p>
          <a:p>
            <a:pPr algn="ctr"/>
            <a:r>
              <a:rPr lang="en-US" sz="2000" dirty="0">
                <a:ln w="0"/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60412A83-288D-C7D9-5400-406BC4393770}"/>
              </a:ext>
            </a:extLst>
          </p:cNvPr>
          <p:cNvSpPr/>
          <p:nvPr/>
        </p:nvSpPr>
        <p:spPr>
          <a:xfrm>
            <a:off x="619793" y="3580597"/>
            <a:ext cx="1593271" cy="486257"/>
          </a:xfrm>
          <a:prstGeom prst="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Payment Initiation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58CD74FD-5547-23E8-89F8-5B2C8F360DEB}"/>
              </a:ext>
            </a:extLst>
          </p:cNvPr>
          <p:cNvSpPr/>
          <p:nvPr/>
        </p:nvSpPr>
        <p:spPr>
          <a:xfrm>
            <a:off x="10271732" y="3427561"/>
            <a:ext cx="1837847" cy="391843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dirty="0"/>
              <a:t>MT103 – Customer Transfer</a:t>
            </a:r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5E30431D-FA67-466B-AC66-2A8A89491086}"/>
              </a:ext>
            </a:extLst>
          </p:cNvPr>
          <p:cNvSpPr/>
          <p:nvPr/>
        </p:nvSpPr>
        <p:spPr>
          <a:xfrm>
            <a:off x="2807424" y="3203215"/>
            <a:ext cx="997154" cy="636296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MT103/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MT202</a:t>
            </a:r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02AC5D38-0997-443F-826E-402F2DFA55DE}"/>
              </a:ext>
            </a:extLst>
          </p:cNvPr>
          <p:cNvSpPr/>
          <p:nvPr/>
        </p:nvSpPr>
        <p:spPr>
          <a:xfrm>
            <a:off x="4530900" y="3591487"/>
            <a:ext cx="986482" cy="655130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Approval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18B99691-BF2A-4297-820D-E85E86940977}"/>
              </a:ext>
            </a:extLst>
          </p:cNvPr>
          <p:cNvSpPr/>
          <p:nvPr/>
        </p:nvSpPr>
        <p:spPr>
          <a:xfrm>
            <a:off x="7186230" y="1471507"/>
            <a:ext cx="658813" cy="4736008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S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A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N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C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T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I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O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N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S</a:t>
            </a:r>
          </a:p>
        </p:txBody>
      </p: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02744FE9-744A-4926-8DFA-D8F2982E2F67}"/>
              </a:ext>
            </a:extLst>
          </p:cNvPr>
          <p:cNvSpPr/>
          <p:nvPr/>
        </p:nvSpPr>
        <p:spPr>
          <a:xfrm>
            <a:off x="6111568" y="3203215"/>
            <a:ext cx="1078130" cy="655130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MT103/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MT202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C31CFF1-CA01-4737-A47F-9DACDE6DFFEA}"/>
              </a:ext>
            </a:extLst>
          </p:cNvPr>
          <p:cNvSpPr/>
          <p:nvPr/>
        </p:nvSpPr>
        <p:spPr>
          <a:xfrm>
            <a:off x="9251804" y="2131943"/>
            <a:ext cx="529002" cy="386982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</a:t>
            </a:r>
          </a:p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</a:t>
            </a:r>
          </a:p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B04F3C49-90BE-457E-ACD3-F53D3DA03FA5}"/>
              </a:ext>
            </a:extLst>
          </p:cNvPr>
          <p:cNvSpPr/>
          <p:nvPr/>
        </p:nvSpPr>
        <p:spPr>
          <a:xfrm>
            <a:off x="7855540" y="3580597"/>
            <a:ext cx="1396263" cy="486257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Payment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D7EF06FE-C6CE-09E9-8CA2-21C05B737C4C}"/>
              </a:ext>
            </a:extLst>
          </p:cNvPr>
          <p:cNvSpPr/>
          <p:nvPr/>
        </p:nvSpPr>
        <p:spPr>
          <a:xfrm>
            <a:off x="2814588" y="3857652"/>
            <a:ext cx="997154" cy="636296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PACS.008/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PACS.004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71C7B98C-AE88-DDEC-1F34-8B082E9F5BCF}"/>
              </a:ext>
            </a:extLst>
          </p:cNvPr>
          <p:cNvSpPr/>
          <p:nvPr/>
        </p:nvSpPr>
        <p:spPr>
          <a:xfrm>
            <a:off x="6111568" y="3889574"/>
            <a:ext cx="1057753" cy="636296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PACS.008/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PACS.004</a:t>
            </a:r>
          </a:p>
        </p:txBody>
      </p:sp>
    </p:spTree>
    <p:extLst>
      <p:ext uri="{BB962C8B-B14F-4D97-AF65-F5344CB8AC3E}">
        <p14:creationId xmlns:p14="http://schemas.microsoft.com/office/powerpoint/2010/main" val="21127855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3C823D3-D619-407C-89E0-C6F6B1E7A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7F8E3E-2FFA-4A0F-B3C7-E57ADDCFB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484D0F-0D9F-464E-B124-E327C9316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1595120"/>
            <a:ext cx="9833548" cy="915745"/>
          </a:xfrm>
        </p:spPr>
        <p:txBody>
          <a:bodyPr anchor="b">
            <a:normAutofit/>
          </a:bodyPr>
          <a:lstStyle/>
          <a:p>
            <a:pPr algn="ctr"/>
            <a:r>
              <a:rPr lang="en-US" sz="3600" dirty="0">
                <a:solidFill>
                  <a:schemeClr val="tx2"/>
                </a:solidFill>
              </a:rPr>
              <a:t>Trade Finance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3D939F1-7ABE-4D0E-946A-43F37F556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3346102" cy="2510865"/>
            <a:chOff x="-305" y="-1"/>
            <a:chExt cx="3832880" cy="2876136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3FE0426-0FE4-451E-A8BB-08DA6A6AC2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A32F7E8-35B4-451F-AA07-AECF7CA1D5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097796-C3C8-4772-9EBD-9F5CA368F5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C4BC137-BB50-4235-A83F-4B4EEE1590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68072E-6277-45A1-A6F1-D25F1B082B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226" y="2785113"/>
            <a:ext cx="9833548" cy="1650043"/>
          </a:xfrm>
        </p:spPr>
        <p:txBody>
          <a:bodyPr>
            <a:normAutofit/>
          </a:bodyPr>
          <a:lstStyle/>
          <a:p>
            <a:r>
              <a:rPr lang="en-US" sz="1800" dirty="0">
                <a:solidFill>
                  <a:schemeClr val="tx2"/>
                </a:solidFill>
              </a:rPr>
              <a:t>Module : LC &amp; BC</a:t>
            </a:r>
          </a:p>
          <a:p>
            <a:r>
              <a:rPr lang="en-US" sz="1800" dirty="0">
                <a:solidFill>
                  <a:schemeClr val="tx2"/>
                </a:solidFill>
              </a:rPr>
              <a:t>Flexcube allows to initiate LC, BG and BC transactions.</a:t>
            </a:r>
          </a:p>
          <a:p>
            <a:r>
              <a:rPr lang="en-US" sz="1800" dirty="0">
                <a:solidFill>
                  <a:schemeClr val="tx2"/>
                </a:solidFill>
              </a:rPr>
              <a:t>This Module allows to view initiated LC, BC and BG transactions.</a:t>
            </a:r>
          </a:p>
          <a:p>
            <a:r>
              <a:rPr lang="en-US" sz="1800" dirty="0">
                <a:solidFill>
                  <a:schemeClr val="tx2"/>
                </a:solidFill>
              </a:rPr>
              <a:t>Facility to divide LC and BC products in import and export category.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DB3963A-4187-4A72-9DA4-CA6BADE22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9072780" y="3734338"/>
            <a:ext cx="3878664" cy="236865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428E75E-001A-4568-B035-574F1303EF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4AC8CFC-1164-4525-82A0-25F75ADCF4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F35C856-5B70-4CA2-BB8F-A37197D8F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50FD8B0-DE97-47B1-84ED-67A3BD00F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C36150-F4C9-46DF-83B9-20DC885BBB2E}"/>
              </a:ext>
            </a:extLst>
          </p:cNvPr>
          <p:cNvSpPr/>
          <p:nvPr/>
        </p:nvSpPr>
        <p:spPr>
          <a:xfrm>
            <a:off x="1427372" y="4328832"/>
            <a:ext cx="1605280" cy="7112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Product</a:t>
            </a:r>
          </a:p>
          <a:p>
            <a:pPr algn="ctr"/>
            <a:r>
              <a:rPr lang="en-US" dirty="0">
                <a:solidFill>
                  <a:schemeClr val="accent1"/>
                </a:solidFill>
              </a:rPr>
              <a:t>LCDPRMNT</a:t>
            </a:r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4DD51D0C-6EE0-4A97-8A2D-81E2A8795093}"/>
              </a:ext>
            </a:extLst>
          </p:cNvPr>
          <p:cNvSpPr/>
          <p:nvPr/>
        </p:nvSpPr>
        <p:spPr>
          <a:xfrm>
            <a:off x="2133384" y="5040032"/>
            <a:ext cx="193255" cy="486537"/>
          </a:xfrm>
          <a:prstGeom prst="down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2E0E010-E11F-46CA-972E-8562ED7C7C47}"/>
              </a:ext>
            </a:extLst>
          </p:cNvPr>
          <p:cNvSpPr/>
          <p:nvPr/>
        </p:nvSpPr>
        <p:spPr>
          <a:xfrm>
            <a:off x="1436969" y="5526569"/>
            <a:ext cx="1605280" cy="7112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Contract</a:t>
            </a:r>
          </a:p>
          <a:p>
            <a:pPr algn="ctr"/>
            <a:r>
              <a:rPr lang="en-US" dirty="0">
                <a:solidFill>
                  <a:schemeClr val="accent1"/>
                </a:solidFill>
              </a:rPr>
              <a:t>LCDTRONL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C4F1E45-F0A5-4026-A196-7546C518C98E}"/>
              </a:ext>
            </a:extLst>
          </p:cNvPr>
          <p:cNvSpPr/>
          <p:nvPr/>
        </p:nvSpPr>
        <p:spPr>
          <a:xfrm>
            <a:off x="6391275" y="4328831"/>
            <a:ext cx="1447800" cy="71120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PRODUCT</a:t>
            </a:r>
          </a:p>
          <a:p>
            <a:pPr algn="ctr"/>
            <a:r>
              <a:rPr lang="en-US" dirty="0">
                <a:solidFill>
                  <a:schemeClr val="accent1"/>
                </a:solidFill>
              </a:rPr>
              <a:t>BCDPRMNT</a:t>
            </a:r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8A11D087-862B-4F53-9214-B622B6E817C8}"/>
              </a:ext>
            </a:extLst>
          </p:cNvPr>
          <p:cNvSpPr/>
          <p:nvPr/>
        </p:nvSpPr>
        <p:spPr>
          <a:xfrm>
            <a:off x="7020560" y="5040032"/>
            <a:ext cx="193255" cy="486537"/>
          </a:xfrm>
          <a:prstGeom prst="down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C819C13-B274-431A-8F24-B01351DC937E}"/>
              </a:ext>
            </a:extLst>
          </p:cNvPr>
          <p:cNvSpPr/>
          <p:nvPr/>
        </p:nvSpPr>
        <p:spPr>
          <a:xfrm>
            <a:off x="6391275" y="5526568"/>
            <a:ext cx="1447800" cy="71120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Contract</a:t>
            </a:r>
          </a:p>
          <a:p>
            <a:pPr algn="ctr"/>
            <a:r>
              <a:rPr lang="en-US" dirty="0">
                <a:solidFill>
                  <a:schemeClr val="accent1"/>
                </a:solidFill>
              </a:rPr>
              <a:t>BCDTRONL</a:t>
            </a:r>
          </a:p>
        </p:txBody>
      </p:sp>
    </p:spTree>
    <p:extLst>
      <p:ext uri="{BB962C8B-B14F-4D97-AF65-F5344CB8AC3E}">
        <p14:creationId xmlns:p14="http://schemas.microsoft.com/office/powerpoint/2010/main" val="5532773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FAD4A-0621-8AC4-793A-6EC64447C52F}"/>
              </a:ext>
            </a:extLst>
          </p:cNvPr>
          <p:cNvSpPr txBox="1">
            <a:spLocks/>
          </p:cNvSpPr>
          <p:nvPr/>
        </p:nvSpPr>
        <p:spPr>
          <a:xfrm>
            <a:off x="2630951" y="300466"/>
            <a:ext cx="7259698" cy="82729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>
                <a:solidFill>
                  <a:schemeClr val="tx2"/>
                </a:solidFill>
              </a:rPr>
              <a:t>Trade Finance Flow</a:t>
            </a:r>
            <a:endParaRPr lang="en-US" sz="4000" b="1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E5302F6-FCC1-5DAF-B7F5-4792A346685C}"/>
              </a:ext>
            </a:extLst>
          </p:cNvPr>
          <p:cNvSpPr/>
          <p:nvPr/>
        </p:nvSpPr>
        <p:spPr>
          <a:xfrm>
            <a:off x="10287138" y="3961204"/>
            <a:ext cx="1837848" cy="418758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dirty="0"/>
              <a:t>MT103 – Customer Transfer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58CD74FD-5547-23E8-89F8-5B2C8F360DEB}"/>
              </a:ext>
            </a:extLst>
          </p:cNvPr>
          <p:cNvSpPr/>
          <p:nvPr/>
        </p:nvSpPr>
        <p:spPr>
          <a:xfrm>
            <a:off x="10271732" y="3427561"/>
            <a:ext cx="1837847" cy="391843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dirty="0"/>
              <a:t>MT7.. Series – LC/BG SWIFT Messages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0AC1DDE-9289-44AD-9A1D-E388F772DE0E}"/>
              </a:ext>
            </a:extLst>
          </p:cNvPr>
          <p:cNvSpPr/>
          <p:nvPr/>
        </p:nvSpPr>
        <p:spPr>
          <a:xfrm>
            <a:off x="10287138" y="4511040"/>
            <a:ext cx="1822441" cy="418758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MT202 – Bank Transfer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98C3D72-6DA7-48C8-99DB-4515A07FC5DE}"/>
              </a:ext>
            </a:extLst>
          </p:cNvPr>
          <p:cNvSpPr/>
          <p:nvPr/>
        </p:nvSpPr>
        <p:spPr>
          <a:xfrm>
            <a:off x="10287138" y="5008880"/>
            <a:ext cx="1822441" cy="418758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MT4.. Series – Collections Messages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52C659C-4077-4110-9622-4211CAA4C8B5}"/>
              </a:ext>
            </a:extLst>
          </p:cNvPr>
          <p:cNvSpPr/>
          <p:nvPr/>
        </p:nvSpPr>
        <p:spPr>
          <a:xfrm>
            <a:off x="670560" y="2092960"/>
            <a:ext cx="589280" cy="354584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</a:t>
            </a:r>
          </a:p>
          <a:p>
            <a:pPr algn="ctr"/>
            <a:r>
              <a:rPr lang="en-US" dirty="0"/>
              <a:t>B</a:t>
            </a:r>
          </a:p>
          <a:p>
            <a:pPr algn="ctr"/>
            <a:r>
              <a:rPr lang="en-US" dirty="0"/>
              <a:t>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8ADAB44-DD21-46A3-9DE1-B69A34730E1E}"/>
              </a:ext>
            </a:extLst>
          </p:cNvPr>
          <p:cNvSpPr/>
          <p:nvPr/>
        </p:nvSpPr>
        <p:spPr>
          <a:xfrm>
            <a:off x="2783840" y="2092960"/>
            <a:ext cx="660400" cy="354584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  <a:p>
            <a:pPr algn="ctr"/>
            <a:r>
              <a:rPr lang="en-US" dirty="0"/>
              <a:t>A</a:t>
            </a:r>
          </a:p>
          <a:p>
            <a:pPr algn="ctr"/>
            <a:r>
              <a:rPr lang="en-US" dirty="0"/>
              <a:t>N</a:t>
            </a:r>
          </a:p>
          <a:p>
            <a:pPr algn="ctr"/>
            <a:r>
              <a:rPr lang="en-US" dirty="0"/>
              <a:t>C</a:t>
            </a:r>
          </a:p>
          <a:p>
            <a:pPr algn="ctr"/>
            <a:r>
              <a:rPr lang="en-US" dirty="0"/>
              <a:t>T</a:t>
            </a:r>
          </a:p>
          <a:p>
            <a:pPr algn="ctr"/>
            <a:r>
              <a:rPr lang="en-US" dirty="0"/>
              <a:t>I</a:t>
            </a:r>
          </a:p>
          <a:p>
            <a:pPr algn="ctr"/>
            <a:r>
              <a:rPr lang="en-US" dirty="0"/>
              <a:t>O</a:t>
            </a:r>
          </a:p>
          <a:p>
            <a:pPr algn="ctr"/>
            <a:r>
              <a:rPr lang="en-US" dirty="0"/>
              <a:t>N</a:t>
            </a:r>
          </a:p>
          <a:p>
            <a:pPr algn="ctr"/>
            <a:r>
              <a:rPr lang="en-US" dirty="0"/>
              <a:t>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952E49D-1C19-4AA7-AC74-292D6A639221}"/>
              </a:ext>
            </a:extLst>
          </p:cNvPr>
          <p:cNvSpPr/>
          <p:nvPr/>
        </p:nvSpPr>
        <p:spPr>
          <a:xfrm>
            <a:off x="4815840" y="2092960"/>
            <a:ext cx="660400" cy="354584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  <a:p>
            <a:pPr algn="ctr"/>
            <a:r>
              <a:rPr lang="en-US" dirty="0"/>
              <a:t>W</a:t>
            </a:r>
          </a:p>
          <a:p>
            <a:pPr algn="ctr"/>
            <a:r>
              <a:rPr lang="en-US" dirty="0"/>
              <a:t>I</a:t>
            </a:r>
          </a:p>
          <a:p>
            <a:pPr algn="ctr"/>
            <a:r>
              <a:rPr lang="en-US" dirty="0"/>
              <a:t>F</a:t>
            </a:r>
          </a:p>
          <a:p>
            <a:pPr algn="ctr"/>
            <a:r>
              <a:rPr lang="en-US" dirty="0"/>
              <a:t>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9B1FFD1-C6EC-4905-8435-4B91E76D2772}"/>
              </a:ext>
            </a:extLst>
          </p:cNvPr>
          <p:cNvSpPr/>
          <p:nvPr/>
        </p:nvSpPr>
        <p:spPr>
          <a:xfrm>
            <a:off x="6827520" y="2092960"/>
            <a:ext cx="660400" cy="354584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  <a:p>
            <a:pPr algn="ctr"/>
            <a:r>
              <a:rPr lang="en-US" dirty="0"/>
              <a:t>A</a:t>
            </a:r>
          </a:p>
          <a:p>
            <a:pPr algn="ctr"/>
            <a:r>
              <a:rPr lang="en-US" dirty="0"/>
              <a:t>N</a:t>
            </a:r>
          </a:p>
          <a:p>
            <a:pPr algn="ctr"/>
            <a:r>
              <a:rPr lang="en-US" dirty="0"/>
              <a:t>C</a:t>
            </a:r>
          </a:p>
          <a:p>
            <a:pPr algn="ctr"/>
            <a:r>
              <a:rPr lang="en-US" dirty="0"/>
              <a:t>T</a:t>
            </a:r>
          </a:p>
          <a:p>
            <a:pPr algn="ctr"/>
            <a:r>
              <a:rPr lang="en-US" dirty="0"/>
              <a:t>I</a:t>
            </a:r>
          </a:p>
          <a:p>
            <a:pPr algn="ctr"/>
            <a:r>
              <a:rPr lang="en-US" dirty="0"/>
              <a:t>O</a:t>
            </a:r>
          </a:p>
          <a:p>
            <a:pPr algn="ctr"/>
            <a:r>
              <a:rPr lang="en-US" dirty="0"/>
              <a:t>N</a:t>
            </a:r>
          </a:p>
          <a:p>
            <a:pPr algn="ctr"/>
            <a:r>
              <a:rPr lang="en-US" dirty="0"/>
              <a:t>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5FB0288-9CB8-4C98-83A5-A19D3ED9DB2F}"/>
              </a:ext>
            </a:extLst>
          </p:cNvPr>
          <p:cNvSpPr/>
          <p:nvPr/>
        </p:nvSpPr>
        <p:spPr>
          <a:xfrm>
            <a:off x="8839200" y="2092960"/>
            <a:ext cx="660400" cy="354584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  <a:p>
            <a:pPr algn="ctr"/>
            <a:r>
              <a:rPr lang="en-US" dirty="0"/>
              <a:t>B</a:t>
            </a:r>
          </a:p>
          <a:p>
            <a:pPr algn="ctr"/>
            <a:r>
              <a:rPr lang="en-US" dirty="0"/>
              <a:t>S</a:t>
            </a:r>
          </a:p>
        </p:txBody>
      </p:sp>
      <p:sp>
        <p:nvSpPr>
          <p:cNvPr id="23" name="Arrow: Left-Right 22">
            <a:extLst>
              <a:ext uri="{FF2B5EF4-FFF2-40B4-BE49-F238E27FC236}">
                <a16:creationId xmlns:a16="http://schemas.microsoft.com/office/drawing/2014/main" id="{5C4819A0-5A86-4F27-9465-DEC69E2FF810}"/>
              </a:ext>
            </a:extLst>
          </p:cNvPr>
          <p:cNvSpPr/>
          <p:nvPr/>
        </p:nvSpPr>
        <p:spPr>
          <a:xfrm>
            <a:off x="3444240" y="3322321"/>
            <a:ext cx="1361440" cy="416560"/>
          </a:xfrm>
          <a:prstGeom prst="left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MT7.. Series</a:t>
            </a:r>
          </a:p>
        </p:txBody>
      </p:sp>
      <p:sp>
        <p:nvSpPr>
          <p:cNvPr id="25" name="Arrow: Left-Right 24">
            <a:extLst>
              <a:ext uri="{FF2B5EF4-FFF2-40B4-BE49-F238E27FC236}">
                <a16:creationId xmlns:a16="http://schemas.microsoft.com/office/drawing/2014/main" id="{C0466DE8-5CC8-4EF0-B72A-13D7BE11AEEA}"/>
              </a:ext>
            </a:extLst>
          </p:cNvPr>
          <p:cNvSpPr/>
          <p:nvPr/>
        </p:nvSpPr>
        <p:spPr>
          <a:xfrm>
            <a:off x="3444240" y="4235964"/>
            <a:ext cx="1361440" cy="420198"/>
          </a:xfrm>
          <a:prstGeom prst="left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MT7.. Series</a:t>
            </a:r>
          </a:p>
        </p:txBody>
      </p:sp>
      <p:sp>
        <p:nvSpPr>
          <p:cNvPr id="36" name="Arrow: Left-Right 35">
            <a:extLst>
              <a:ext uri="{FF2B5EF4-FFF2-40B4-BE49-F238E27FC236}">
                <a16:creationId xmlns:a16="http://schemas.microsoft.com/office/drawing/2014/main" id="{2D41866F-9375-4EBD-8736-66D1024E4423}"/>
              </a:ext>
            </a:extLst>
          </p:cNvPr>
          <p:cNvSpPr/>
          <p:nvPr/>
        </p:nvSpPr>
        <p:spPr>
          <a:xfrm>
            <a:off x="3444240" y="4704081"/>
            <a:ext cx="1351280" cy="418758"/>
          </a:xfrm>
          <a:prstGeom prst="left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MT4.. Series</a:t>
            </a:r>
          </a:p>
        </p:txBody>
      </p:sp>
      <p:sp>
        <p:nvSpPr>
          <p:cNvPr id="37" name="Arrow: Right 36">
            <a:extLst>
              <a:ext uri="{FF2B5EF4-FFF2-40B4-BE49-F238E27FC236}">
                <a16:creationId xmlns:a16="http://schemas.microsoft.com/office/drawing/2014/main" id="{6939A189-9C3A-4158-9911-F4D38D68EE35}"/>
              </a:ext>
            </a:extLst>
          </p:cNvPr>
          <p:cNvSpPr/>
          <p:nvPr/>
        </p:nvSpPr>
        <p:spPr>
          <a:xfrm>
            <a:off x="3444240" y="5202604"/>
            <a:ext cx="1351280" cy="418758"/>
          </a:xfrm>
          <a:prstGeom prst="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MT103/MT202</a:t>
            </a:r>
          </a:p>
        </p:txBody>
      </p:sp>
      <p:sp>
        <p:nvSpPr>
          <p:cNvPr id="38" name="Arrow: Left-Right 37">
            <a:extLst>
              <a:ext uri="{FF2B5EF4-FFF2-40B4-BE49-F238E27FC236}">
                <a16:creationId xmlns:a16="http://schemas.microsoft.com/office/drawing/2014/main" id="{3E1521E4-FBF7-4688-B654-67EC1695B926}"/>
              </a:ext>
            </a:extLst>
          </p:cNvPr>
          <p:cNvSpPr/>
          <p:nvPr/>
        </p:nvSpPr>
        <p:spPr>
          <a:xfrm>
            <a:off x="5476240" y="3342640"/>
            <a:ext cx="1351280" cy="396241"/>
          </a:xfrm>
          <a:prstGeom prst="left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MT7.. Series</a:t>
            </a:r>
          </a:p>
        </p:txBody>
      </p:sp>
      <p:sp>
        <p:nvSpPr>
          <p:cNvPr id="39" name="Arrow: Left-Right 38">
            <a:extLst>
              <a:ext uri="{FF2B5EF4-FFF2-40B4-BE49-F238E27FC236}">
                <a16:creationId xmlns:a16="http://schemas.microsoft.com/office/drawing/2014/main" id="{31C03AAB-957A-4D9D-BDD9-AE18BCF27660}"/>
              </a:ext>
            </a:extLst>
          </p:cNvPr>
          <p:cNvSpPr/>
          <p:nvPr/>
        </p:nvSpPr>
        <p:spPr>
          <a:xfrm>
            <a:off x="5476240" y="4235964"/>
            <a:ext cx="1371600" cy="420198"/>
          </a:xfrm>
          <a:prstGeom prst="left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MT7.. Series</a:t>
            </a:r>
          </a:p>
        </p:txBody>
      </p:sp>
      <p:sp>
        <p:nvSpPr>
          <p:cNvPr id="40" name="Arrow: Left-Right 39">
            <a:extLst>
              <a:ext uri="{FF2B5EF4-FFF2-40B4-BE49-F238E27FC236}">
                <a16:creationId xmlns:a16="http://schemas.microsoft.com/office/drawing/2014/main" id="{7793B366-EBCB-4D16-86F9-0C9899035A87}"/>
              </a:ext>
            </a:extLst>
          </p:cNvPr>
          <p:cNvSpPr/>
          <p:nvPr/>
        </p:nvSpPr>
        <p:spPr>
          <a:xfrm>
            <a:off x="5455920" y="4702642"/>
            <a:ext cx="1371600" cy="420197"/>
          </a:xfrm>
          <a:prstGeom prst="left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MT4.. Series</a:t>
            </a:r>
          </a:p>
        </p:txBody>
      </p:sp>
      <p:sp>
        <p:nvSpPr>
          <p:cNvPr id="41" name="Arrow: Right 40">
            <a:extLst>
              <a:ext uri="{FF2B5EF4-FFF2-40B4-BE49-F238E27FC236}">
                <a16:creationId xmlns:a16="http://schemas.microsoft.com/office/drawing/2014/main" id="{C2774A7A-A0A4-4711-913A-92314F2553E4}"/>
              </a:ext>
            </a:extLst>
          </p:cNvPr>
          <p:cNvSpPr/>
          <p:nvPr/>
        </p:nvSpPr>
        <p:spPr>
          <a:xfrm>
            <a:off x="5476240" y="5201165"/>
            <a:ext cx="1351280" cy="420197"/>
          </a:xfrm>
          <a:prstGeom prst="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MT103/MT202</a:t>
            </a:r>
          </a:p>
        </p:txBody>
      </p:sp>
      <p:sp>
        <p:nvSpPr>
          <p:cNvPr id="42" name="Arrow: Left-Right 41">
            <a:extLst>
              <a:ext uri="{FF2B5EF4-FFF2-40B4-BE49-F238E27FC236}">
                <a16:creationId xmlns:a16="http://schemas.microsoft.com/office/drawing/2014/main" id="{4C4FBD65-F1F5-4A02-8832-02554E96ED59}"/>
              </a:ext>
            </a:extLst>
          </p:cNvPr>
          <p:cNvSpPr/>
          <p:nvPr/>
        </p:nvSpPr>
        <p:spPr>
          <a:xfrm>
            <a:off x="7487920" y="2926080"/>
            <a:ext cx="1351280" cy="416560"/>
          </a:xfrm>
          <a:prstGeom prst="left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BG Process</a:t>
            </a:r>
          </a:p>
        </p:txBody>
      </p:sp>
      <p:sp>
        <p:nvSpPr>
          <p:cNvPr id="43" name="Arrow: Left-Right 42">
            <a:extLst>
              <a:ext uri="{FF2B5EF4-FFF2-40B4-BE49-F238E27FC236}">
                <a16:creationId xmlns:a16="http://schemas.microsoft.com/office/drawing/2014/main" id="{6740D99E-7089-455D-954A-A062E195275E}"/>
              </a:ext>
            </a:extLst>
          </p:cNvPr>
          <p:cNvSpPr/>
          <p:nvPr/>
        </p:nvSpPr>
        <p:spPr>
          <a:xfrm>
            <a:off x="1259840" y="2926080"/>
            <a:ext cx="1524000" cy="416560"/>
          </a:xfrm>
          <a:prstGeom prst="left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BG Process</a:t>
            </a:r>
          </a:p>
        </p:txBody>
      </p:sp>
      <p:sp>
        <p:nvSpPr>
          <p:cNvPr id="44" name="Arrow: Left-Right 43">
            <a:extLst>
              <a:ext uri="{FF2B5EF4-FFF2-40B4-BE49-F238E27FC236}">
                <a16:creationId xmlns:a16="http://schemas.microsoft.com/office/drawing/2014/main" id="{58A8CF1D-D741-4D08-BC56-13FB2065D295}"/>
              </a:ext>
            </a:extLst>
          </p:cNvPr>
          <p:cNvSpPr/>
          <p:nvPr/>
        </p:nvSpPr>
        <p:spPr>
          <a:xfrm>
            <a:off x="1249680" y="3751826"/>
            <a:ext cx="1524000" cy="418757"/>
          </a:xfrm>
          <a:prstGeom prst="left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LC Process</a:t>
            </a:r>
          </a:p>
        </p:txBody>
      </p:sp>
      <p:sp>
        <p:nvSpPr>
          <p:cNvPr id="45" name="Arrow: Left-Right 44">
            <a:extLst>
              <a:ext uri="{FF2B5EF4-FFF2-40B4-BE49-F238E27FC236}">
                <a16:creationId xmlns:a16="http://schemas.microsoft.com/office/drawing/2014/main" id="{17565440-96EA-40E5-B1E3-AA137B0A1623}"/>
              </a:ext>
            </a:extLst>
          </p:cNvPr>
          <p:cNvSpPr/>
          <p:nvPr/>
        </p:nvSpPr>
        <p:spPr>
          <a:xfrm>
            <a:off x="1259840" y="4579769"/>
            <a:ext cx="1524000" cy="421737"/>
          </a:xfrm>
          <a:prstGeom prst="left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BC Process</a:t>
            </a:r>
          </a:p>
        </p:txBody>
      </p:sp>
      <p:sp>
        <p:nvSpPr>
          <p:cNvPr id="46" name="Arrow: Left-Right 45">
            <a:extLst>
              <a:ext uri="{FF2B5EF4-FFF2-40B4-BE49-F238E27FC236}">
                <a16:creationId xmlns:a16="http://schemas.microsoft.com/office/drawing/2014/main" id="{1CEDD2E0-5EDA-47A8-8144-DAF3AE8B021F}"/>
              </a:ext>
            </a:extLst>
          </p:cNvPr>
          <p:cNvSpPr/>
          <p:nvPr/>
        </p:nvSpPr>
        <p:spPr>
          <a:xfrm>
            <a:off x="7487920" y="3751826"/>
            <a:ext cx="1351280" cy="418757"/>
          </a:xfrm>
          <a:prstGeom prst="left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LC Process</a:t>
            </a:r>
          </a:p>
        </p:txBody>
      </p:sp>
      <p:sp>
        <p:nvSpPr>
          <p:cNvPr id="47" name="Arrow: Left-Right 46">
            <a:extLst>
              <a:ext uri="{FF2B5EF4-FFF2-40B4-BE49-F238E27FC236}">
                <a16:creationId xmlns:a16="http://schemas.microsoft.com/office/drawing/2014/main" id="{D7832253-1B43-48FF-B81A-DBA81FB643CD}"/>
              </a:ext>
            </a:extLst>
          </p:cNvPr>
          <p:cNvSpPr/>
          <p:nvPr/>
        </p:nvSpPr>
        <p:spPr>
          <a:xfrm>
            <a:off x="7487920" y="4579769"/>
            <a:ext cx="1351280" cy="421737"/>
          </a:xfrm>
          <a:prstGeom prst="left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BC Process</a:t>
            </a:r>
          </a:p>
        </p:txBody>
      </p:sp>
    </p:spTree>
    <p:extLst>
      <p:ext uri="{BB962C8B-B14F-4D97-AF65-F5344CB8AC3E}">
        <p14:creationId xmlns:p14="http://schemas.microsoft.com/office/powerpoint/2010/main" val="10676423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3C823D3-D619-407C-89E0-C6F6B1E7A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7F8E3E-2FFA-4A0F-B3C7-E57ADDCFB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484D0F-0D9F-464E-B124-E327C9316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1595120"/>
            <a:ext cx="9833548" cy="915745"/>
          </a:xfrm>
        </p:spPr>
        <p:txBody>
          <a:bodyPr anchor="b">
            <a:normAutofit/>
          </a:bodyPr>
          <a:lstStyle/>
          <a:p>
            <a:pPr algn="ctr"/>
            <a:r>
              <a:rPr lang="en-US" sz="3600" dirty="0">
                <a:solidFill>
                  <a:schemeClr val="tx2"/>
                </a:solidFill>
              </a:rPr>
              <a:t>FCDB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3D939F1-7ABE-4D0E-946A-43F37F556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3346102" cy="2510865"/>
            <a:chOff x="-305" y="-1"/>
            <a:chExt cx="3832880" cy="2876136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3FE0426-0FE4-451E-A8BB-08DA6A6AC2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A32F7E8-35B4-451F-AA07-AECF7CA1D5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097796-C3C8-4772-9EBD-9F5CA368F5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C4BC137-BB50-4235-A83F-4B4EEE1590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68072E-6277-45A1-A6F1-D25F1B082B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226" y="2785113"/>
            <a:ext cx="9833548" cy="1650043"/>
          </a:xfrm>
        </p:spPr>
        <p:txBody>
          <a:bodyPr>
            <a:normAutofit/>
          </a:bodyPr>
          <a:lstStyle/>
          <a:p>
            <a:r>
              <a:rPr lang="en-US" sz="1800" dirty="0">
                <a:solidFill>
                  <a:schemeClr val="tx2"/>
                </a:solidFill>
              </a:rPr>
              <a:t>Flexcube Direct Banking</a:t>
            </a:r>
          </a:p>
          <a:p>
            <a:r>
              <a:rPr lang="en-US" sz="1800" dirty="0">
                <a:solidFill>
                  <a:schemeClr val="tx2"/>
                </a:solidFill>
              </a:rPr>
              <a:t>Front End Application</a:t>
            </a:r>
          </a:p>
          <a:p>
            <a:r>
              <a:rPr lang="en-US" sz="1800" dirty="0">
                <a:solidFill>
                  <a:schemeClr val="tx2"/>
                </a:solidFill>
              </a:rPr>
              <a:t>FCDB Admin</a:t>
            </a:r>
          </a:p>
          <a:p>
            <a:r>
              <a:rPr lang="en-US" sz="1800" dirty="0">
                <a:solidFill>
                  <a:schemeClr val="tx2"/>
                </a:solidFill>
              </a:rPr>
              <a:t>FCDB User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DB3963A-4187-4A72-9DA4-CA6BADE22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9072780" y="3734338"/>
            <a:ext cx="3878664" cy="236865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428E75E-001A-4568-B035-574F1303EF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4AC8CFC-1164-4525-82A0-25F75ADCF4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F35C856-5B70-4CA2-BB8F-A37197D8F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50FD8B0-DE97-47B1-84ED-67A3BD00F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C36150-F4C9-46DF-83B9-20DC885BBB2E}"/>
              </a:ext>
            </a:extLst>
          </p:cNvPr>
          <p:cNvSpPr/>
          <p:nvPr/>
        </p:nvSpPr>
        <p:spPr>
          <a:xfrm>
            <a:off x="1427372" y="4328832"/>
            <a:ext cx="1605280" cy="7112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FCDB Admin</a:t>
            </a:r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4DD51D0C-6EE0-4A97-8A2D-81E2A8795093}"/>
              </a:ext>
            </a:extLst>
          </p:cNvPr>
          <p:cNvSpPr/>
          <p:nvPr/>
        </p:nvSpPr>
        <p:spPr>
          <a:xfrm>
            <a:off x="2133384" y="5040032"/>
            <a:ext cx="193255" cy="486537"/>
          </a:xfrm>
          <a:prstGeom prst="down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2E0E010-E11F-46CA-972E-8562ED7C7C47}"/>
              </a:ext>
            </a:extLst>
          </p:cNvPr>
          <p:cNvSpPr/>
          <p:nvPr/>
        </p:nvSpPr>
        <p:spPr>
          <a:xfrm>
            <a:off x="1436969" y="5526569"/>
            <a:ext cx="1605280" cy="7112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Customer Setup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C4F1E45-F0A5-4026-A196-7546C518C98E}"/>
              </a:ext>
            </a:extLst>
          </p:cNvPr>
          <p:cNvSpPr/>
          <p:nvPr/>
        </p:nvSpPr>
        <p:spPr>
          <a:xfrm>
            <a:off x="6391275" y="4328831"/>
            <a:ext cx="1447800" cy="71120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FCDB User</a:t>
            </a:r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8A11D087-862B-4F53-9214-B622B6E817C8}"/>
              </a:ext>
            </a:extLst>
          </p:cNvPr>
          <p:cNvSpPr/>
          <p:nvPr/>
        </p:nvSpPr>
        <p:spPr>
          <a:xfrm>
            <a:off x="7020560" y="5040032"/>
            <a:ext cx="193255" cy="486537"/>
          </a:xfrm>
          <a:prstGeom prst="down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C819C13-B274-431A-8F24-B01351DC937E}"/>
              </a:ext>
            </a:extLst>
          </p:cNvPr>
          <p:cNvSpPr/>
          <p:nvPr/>
        </p:nvSpPr>
        <p:spPr>
          <a:xfrm>
            <a:off x="6391275" y="5526568"/>
            <a:ext cx="1447800" cy="71120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Customer Transactions</a:t>
            </a:r>
          </a:p>
        </p:txBody>
      </p:sp>
    </p:spTree>
    <p:extLst>
      <p:ext uri="{BB962C8B-B14F-4D97-AF65-F5344CB8AC3E}">
        <p14:creationId xmlns:p14="http://schemas.microsoft.com/office/powerpoint/2010/main" val="35898867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60A171-2B3E-47E8-85EB-AC271E56F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3466" y="991261"/>
            <a:ext cx="5754696" cy="1837349"/>
          </a:xfrm>
        </p:spPr>
        <p:txBody>
          <a:bodyPr anchor="b">
            <a:normAutofit/>
          </a:bodyPr>
          <a:lstStyle/>
          <a:p>
            <a:pPr algn="ctr"/>
            <a:r>
              <a:rPr lang="en-US" sz="3600" dirty="0">
                <a:solidFill>
                  <a:schemeClr val="tx2"/>
                </a:solidFill>
              </a:rPr>
              <a:t>References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C3921CD-DDE5-4B57-8FDF-B37ADE4EDA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91219" y="3985"/>
            <a:ext cx="9747620" cy="6858000"/>
            <a:chOff x="1318434" y="36937"/>
            <a:chExt cx="9747620" cy="685800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4CBEDF6-7B5F-471F-AF99-301A237481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D43DB10-4F84-47C2-8170-CB9EED8667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accent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F35C7A0-1526-4D97-BCD8-91B3576E3C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009574A-38B7-43A8-A925-1FB54C6B1A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A3AAA50-DE22-4E5D-9064-A37786C590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E0F76-B2E5-476A-9DBF-53E130F1AF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55954" y="2979336"/>
            <a:ext cx="5709721" cy="2430864"/>
          </a:xfrm>
        </p:spPr>
        <p:txBody>
          <a:bodyPr anchor="t">
            <a:normAutofit/>
          </a:bodyPr>
          <a:lstStyle/>
          <a:p>
            <a:r>
              <a:rPr lang="en-US" sz="2000" dirty="0">
                <a:solidFill>
                  <a:schemeClr val="tx2"/>
                </a:solidFill>
              </a:rPr>
              <a:t>Flexcube User Manuals</a:t>
            </a:r>
          </a:p>
          <a:p>
            <a:r>
              <a:rPr lang="en-US" sz="2000" dirty="0">
                <a:solidFill>
                  <a:schemeClr val="tx2"/>
                </a:solidFill>
              </a:rPr>
              <a:t>Wikipedia</a:t>
            </a:r>
          </a:p>
        </p:txBody>
      </p:sp>
    </p:spTree>
    <p:extLst>
      <p:ext uri="{BB962C8B-B14F-4D97-AF65-F5344CB8AC3E}">
        <p14:creationId xmlns:p14="http://schemas.microsoft.com/office/powerpoint/2010/main" val="6041388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60A171-2B3E-47E8-85EB-AC271E56F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2127" y="3985"/>
            <a:ext cx="9747620" cy="808815"/>
          </a:xfrm>
        </p:spPr>
        <p:txBody>
          <a:bodyPr anchor="b">
            <a:normAutofit/>
          </a:bodyPr>
          <a:lstStyle/>
          <a:p>
            <a:pPr algn="ctr"/>
            <a:r>
              <a:rPr lang="en-US" sz="3600" dirty="0">
                <a:solidFill>
                  <a:schemeClr val="tx2"/>
                </a:solidFill>
              </a:rPr>
              <a:t>Quiz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C3921CD-DDE5-4B57-8FDF-B37ADE4EDA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91219" y="3985"/>
            <a:ext cx="9747620" cy="6858000"/>
            <a:chOff x="1318434" y="36937"/>
            <a:chExt cx="9747620" cy="685800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4CBEDF6-7B5F-471F-AF99-301A237481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D43DB10-4F84-47C2-8170-CB9EED8667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accent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F35C7A0-1526-4D97-BCD8-91B3576E3C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009574A-38B7-43A8-A925-1FB54C6B1A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A3AAA50-DE22-4E5D-9064-A37786C590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E0F76-B2E5-476A-9DBF-53E130F1AF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840" y="1188720"/>
            <a:ext cx="10495280" cy="5394960"/>
          </a:xfrm>
        </p:spPr>
        <p:txBody>
          <a:bodyPr anchor="t"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tx2"/>
                </a:solidFill>
              </a:rPr>
              <a:t>What are the types of TD ?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tx2"/>
                </a:solidFill>
              </a:rPr>
              <a:t>LC transactions can be booked from PCDTRONL screen. Is it true or false ?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tx2"/>
                </a:solidFill>
              </a:rPr>
              <a:t>What kind of transactions can be booked from PC module ?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tx2"/>
                </a:solidFill>
              </a:rPr>
              <a:t>I have booked a transaction from maker user. Will that transaction be processed or not ?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tx2"/>
                </a:solidFill>
              </a:rPr>
              <a:t>Can we book cash deposit/ cash withdrawal transaction without opening Till ?</a:t>
            </a:r>
          </a:p>
        </p:txBody>
      </p:sp>
    </p:spTree>
    <p:extLst>
      <p:ext uri="{BB962C8B-B14F-4D97-AF65-F5344CB8AC3E}">
        <p14:creationId xmlns:p14="http://schemas.microsoft.com/office/powerpoint/2010/main" val="17935241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60A171-2B3E-47E8-85EB-AC271E56F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3466" y="991261"/>
            <a:ext cx="5754696" cy="2839059"/>
          </a:xfrm>
        </p:spPr>
        <p:txBody>
          <a:bodyPr anchor="b">
            <a:normAutofit/>
          </a:bodyPr>
          <a:lstStyle/>
          <a:p>
            <a:pPr algn="ctr"/>
            <a:r>
              <a:rPr lang="en-US" sz="6000" b="1" dirty="0">
                <a:solidFill>
                  <a:schemeClr val="tx2"/>
                </a:solidFill>
              </a:rPr>
              <a:t>Thank You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C3921CD-DDE5-4B57-8FDF-B37ADE4EDA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91219" y="3985"/>
            <a:ext cx="9747620" cy="6858000"/>
            <a:chOff x="1318434" y="36937"/>
            <a:chExt cx="9747620" cy="685800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4CBEDF6-7B5F-471F-AF99-301A237481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D43DB10-4F84-47C2-8170-CB9EED8667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accent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F35C7A0-1526-4D97-BCD8-91B3576E3C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009574A-38B7-43A8-A925-1FB54C6B1A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A3AAA50-DE22-4E5D-9064-A37786C590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282194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0bfa236d-8472-42aa-9a40-ab46036c5596}" enabled="1" method="Privileged" siteId="{e0793d39-0939-496d-b129-198edd916feb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7428</TotalTime>
  <Words>1213</Words>
  <Application>Microsoft Office PowerPoint</Application>
  <PresentationFormat>Widescreen</PresentationFormat>
  <Paragraphs>467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Arial</vt:lpstr>
      <vt:lpstr>Calibri</vt:lpstr>
      <vt:lpstr>Calibri Light</vt:lpstr>
      <vt:lpstr>Wingdings</vt:lpstr>
      <vt:lpstr>Office Theme</vt:lpstr>
      <vt:lpstr>Oracle Flexcube Core Banking</vt:lpstr>
      <vt:lpstr>What is Flexcube</vt:lpstr>
      <vt:lpstr>History</vt:lpstr>
      <vt:lpstr>Banks using Flexcube</vt:lpstr>
      <vt:lpstr>Other Banking Applications</vt:lpstr>
      <vt:lpstr>Advantages</vt:lpstr>
      <vt:lpstr>Specifications</vt:lpstr>
      <vt:lpstr>Flexcube Modules</vt:lpstr>
      <vt:lpstr>About Application</vt:lpstr>
      <vt:lpstr>About Application</vt:lpstr>
      <vt:lpstr>About Application</vt:lpstr>
      <vt:lpstr>About Application</vt:lpstr>
      <vt:lpstr>About Application</vt:lpstr>
      <vt:lpstr>Customer Information Filing (CIF)</vt:lpstr>
      <vt:lpstr>Current Account Saving Account</vt:lpstr>
      <vt:lpstr>Term Deposit</vt:lpstr>
      <vt:lpstr>TD Lifecycle</vt:lpstr>
      <vt:lpstr>Loan</vt:lpstr>
      <vt:lpstr>Loan Lifecycle</vt:lpstr>
      <vt:lpstr>Retail Teller</vt:lpstr>
      <vt:lpstr>Payments</vt:lpstr>
      <vt:lpstr>PowerPoint Presentation</vt:lpstr>
      <vt:lpstr>PowerPoint Presentation</vt:lpstr>
      <vt:lpstr>Fund Transfer</vt:lpstr>
      <vt:lpstr>PowerPoint Presentation</vt:lpstr>
      <vt:lpstr>Trade Finance</vt:lpstr>
      <vt:lpstr>PowerPoint Presentation</vt:lpstr>
      <vt:lpstr>FCDB</vt:lpstr>
      <vt:lpstr>References</vt:lpstr>
      <vt:lpstr>Quiz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Oracle Flexcube Core Banking</dc:title>
  <dc:creator>Neha, Singh A.</dc:creator>
  <cp:lastModifiedBy>Mutalikdesai, Suma</cp:lastModifiedBy>
  <cp:revision>45</cp:revision>
  <dcterms:created xsi:type="dcterms:W3CDTF">2022-11-27T15:06:27Z</dcterms:created>
  <dcterms:modified xsi:type="dcterms:W3CDTF">2026-09-18T03:08:48Z</dcterms:modified>
</cp:coreProperties>
</file>