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7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jay Tilekar, Ritu" userId="d8ab143c-c703-4546-a19a-d8dce44322af" providerId="ADAL" clId="{7489A5B9-7718-4F0C-A9A1-4AEDF584552D}"/>
    <pc:docChg chg="modSld">
      <pc:chgData name="Sanjay Tilekar, Ritu" userId="d8ab143c-c703-4546-a19a-d8dce44322af" providerId="ADAL" clId="{7489A5B9-7718-4F0C-A9A1-4AEDF584552D}" dt="2026-10-29T09:03:59.845" v="6" actId="113"/>
      <pc:docMkLst>
        <pc:docMk/>
      </pc:docMkLst>
      <pc:sldChg chg="modSp mod">
        <pc:chgData name="Sanjay Tilekar, Ritu" userId="d8ab143c-c703-4546-a19a-d8dce44322af" providerId="ADAL" clId="{7489A5B9-7718-4F0C-A9A1-4AEDF584552D}" dt="2026-10-29T09:03:59.845" v="6" actId="113"/>
        <pc:sldMkLst>
          <pc:docMk/>
          <pc:sldMk cId="0" sldId="256"/>
        </pc:sldMkLst>
        <pc:spChg chg="mod">
          <ac:chgData name="Sanjay Tilekar, Ritu" userId="d8ab143c-c703-4546-a19a-d8dce44322af" providerId="ADAL" clId="{7489A5B9-7718-4F0C-A9A1-4AEDF584552D}" dt="2026-10-29T09:03:59.845" v="6" actId="113"/>
          <ac:spMkLst>
            <pc:docMk/>
            <pc:sldMk cId="0" sldId="256"/>
            <ac:spMk id="8" creationId="{5D57E091-824E-8FB0-8D13-6F655EC37B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with: “GitLab Duo is like a helpful assistant sitting beside a tester. It can suggest tests and explain failures, but the tester still checks and decides.”
[Sources]
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GitLab Duo provides AI-native help in GitLab and IDE workflows. Avoid saying it replaces testers.
[Sources]
https://docs.gitlab.com/user/gitlab_duo/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familiar example: for a login screen, Duo can suggest valid login, wrong password, empty fields, locked account and very long input.
[Sources]
Visual on this slide was generated with Microsoft Copilot.
https://docs.gitlab.com/user/gitlab_duo/use_cases/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Repeat the sequence: show, ask, check, run, improve. This is the main learning point.
[Sources]
https://docs.gitlab.com/user/gitlab_duo/prompt_examples/generate_tests/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audience for one more test case. Then explain that Duo helps expand thinking, but business rules decide which cases matter.
[Sources]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GitLab recommends selecting a specific function or class, naming the testing framework, requesting edge and error cases, and refining the generated tests.
[Sources]
https://docs.gitlab.com/user/gitlab_duo/prompt_examples/generate_tests/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phrase: “Duo is like a junior helper with great speed but incomplete context.” Always apply your organization’s approved data-handling rules.
[Sources]
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asking: “What is one testing task in your project where a first draft from Duo would save time?”
[Sources]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7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C6D26"/>
          </a:solidFill>
          <a:ln w="12700">
            <a:solidFill>
              <a:srgbClr val="FC6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65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7180"/>
                </a:solidFill>
              </a:rPr>
              <a:t>GITLAB DUO IN TESTING • EASY OVERVIEW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5624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C71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5624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C71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generated_image_0A27673171DB_04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0B16">
              <a:alpha val="6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sv-SE" dirty="0"/>
              <a:t> 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93192" y="265176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</a:rPr>
              <a:t>GitLab Duo in Testing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713232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13232" y="254203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58978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57E091-824E-8FB0-8D13-6F655EC37B3C}"/>
              </a:ext>
            </a:extLst>
          </p:cNvPr>
          <p:cNvSpPr txBox="1"/>
          <p:nvPr/>
        </p:nvSpPr>
        <p:spPr>
          <a:xfrm>
            <a:off x="9164320" y="5645051"/>
            <a:ext cx="279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>
                <a:solidFill>
                  <a:schemeClr val="bg1"/>
                </a:solidFill>
              </a:rPr>
              <a:t>Trainer:​</a:t>
            </a:r>
          </a:p>
          <a:p>
            <a:r>
              <a:rPr lang="sv-SE" b="1" dirty="0">
                <a:solidFill>
                  <a:schemeClr val="bg1"/>
                </a:solidFill>
              </a:rPr>
              <a:t>Ritu S Tilekar​</a:t>
            </a:r>
          </a:p>
          <a:p>
            <a:endParaRPr lang="sv-SE" b="1" dirty="0">
              <a:solidFill>
                <a:schemeClr val="bg1"/>
              </a:solidFill>
            </a:endParaRPr>
          </a:p>
          <a:p>
            <a:r>
              <a:rPr lang="sv-SE" b="1" dirty="0">
                <a:solidFill>
                  <a:schemeClr val="bg1"/>
                </a:solidFill>
              </a:rPr>
              <a:t>SDET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6D26"/>
                </a:solidFill>
              </a:rPr>
              <a:t>THE IDEA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2648" y="6583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52D"/>
                </a:solidFill>
              </a:rPr>
              <a:t>What is GitLab Duo?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55D69"/>
                </a:solidFill>
              </a:rPr>
              <a:t>A simple comparison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2763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E2C91"/>
                </a:solidFill>
              </a:rPr>
              <a:t>Imagine a smart assistant inside your coding and GitLab tools.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77240" y="2423160"/>
            <a:ext cx="324612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DDE7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73152" cy="2240280"/>
          </a:xfrm>
          <a:prstGeom prst="rect">
            <a:avLst/>
          </a:prstGeom>
          <a:solidFill>
            <a:srgbClr val="FC6D26"/>
          </a:solidFill>
          <a:ln w="12700">
            <a:solidFill>
              <a:srgbClr val="FC6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52D"/>
                </a:solidFill>
              </a:rPr>
              <a:t>You show 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3026664"/>
            <a:ext cx="280720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655D69"/>
                </a:solidFill>
              </a:rPr>
              <a:t>Code, a requirement, a test case, or an error message.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4462272" y="2423160"/>
            <a:ext cx="324612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DDE7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62272" y="2423160"/>
            <a:ext cx="73152" cy="2240280"/>
          </a:xfrm>
          <a:prstGeom prst="rect">
            <a:avLst/>
          </a:prstGeom>
          <a:solidFill>
            <a:srgbClr val="6E2C91"/>
          </a:solidFill>
          <a:ln w="12700">
            <a:solidFill>
              <a:srgbClr val="6E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90872" y="2606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52D"/>
                </a:solidFill>
              </a:rPr>
              <a:t>It suggests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90872" y="3026664"/>
            <a:ext cx="280720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655D69"/>
                </a:solidFill>
              </a:rPr>
              <a:t>Test ideas, sample automation code, explanations, and possible causes.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8138160" y="2423160"/>
            <a:ext cx="324612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DDE7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38160" y="2423160"/>
            <a:ext cx="73152" cy="2240280"/>
          </a:xfrm>
          <a:prstGeom prst="rect">
            <a:avLst/>
          </a:prstGeom>
          <a:solidFill>
            <a:srgbClr val="159A68"/>
          </a:solidFill>
          <a:ln w="12700">
            <a:solidFill>
              <a:srgbClr val="159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66760" y="2606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52D"/>
                </a:solidFill>
              </a:rPr>
              <a:t>You decide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66760" y="3026664"/>
            <a:ext cx="280720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655D69"/>
                </a:solidFill>
              </a:rPr>
              <a:t>Whether the suggestion is correct, safe, useful, and ready to use.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2103120" y="51663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C6D26"/>
                </a:solidFill>
              </a:rPr>
              <a:t>Duo helps. The tester owns the result.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5624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C71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6D26"/>
                </a:solidFill>
              </a:rPr>
              <a:t>EVERYDAY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2648" y="6583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52D"/>
                </a:solidFill>
              </a:rPr>
              <a:t>How can it help a tester?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55D69"/>
                </a:solidFill>
              </a:rPr>
              <a:t>Four common tasks</a:t>
            </a:r>
            <a:endParaRPr lang="en-US" sz="1300" dirty="0"/>
          </a:p>
        </p:txBody>
      </p:sp>
      <p:pic>
        <p:nvPicPr>
          <p:cNvPr id="5" name="Image 0" descr="/mnt/data/generated_image_0A27673171DB_01.png"/>
          <p:cNvPicPr>
            <a:picLocks noChangeAspect="1"/>
          </p:cNvPicPr>
          <p:nvPr/>
        </p:nvPicPr>
        <p:blipFill>
          <a:blip r:embed="rId3"/>
          <a:srcRect l="13430" r="13430"/>
          <a:stretch/>
        </p:blipFill>
        <p:spPr>
          <a:xfrm>
            <a:off x="6400800" y="1444752"/>
            <a:ext cx="5166360" cy="4709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1572768"/>
            <a:ext cx="254203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DDE7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58368" y="1572768"/>
            <a:ext cx="73152" cy="1371600"/>
          </a:xfrm>
          <a:prstGeom prst="rect">
            <a:avLst/>
          </a:prstGeom>
          <a:solidFill>
            <a:srgbClr val="FC6D26"/>
          </a:solidFill>
          <a:ln w="12700">
            <a:solidFill>
              <a:srgbClr val="FC6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86968" y="1755648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52D"/>
                </a:solidFill>
              </a:rPr>
              <a:t>Create tests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86968" y="217627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655D69"/>
                </a:solidFill>
              </a:rPr>
              <a:t>Suggest normal, negative and boundary test cases.</a:t>
            </a:r>
            <a:endParaRPr lang="en-US" sz="1230" dirty="0"/>
          </a:p>
        </p:txBody>
      </p:sp>
      <p:sp>
        <p:nvSpPr>
          <p:cNvPr id="10" name="Shape 7"/>
          <p:cNvSpPr/>
          <p:nvPr/>
        </p:nvSpPr>
        <p:spPr>
          <a:xfrm>
            <a:off x="3401568" y="1572768"/>
            <a:ext cx="254203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DDE7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01568" y="1572768"/>
            <a:ext cx="73152" cy="1371600"/>
          </a:xfrm>
          <a:prstGeom prst="rect">
            <a:avLst/>
          </a:prstGeom>
          <a:solidFill>
            <a:srgbClr val="6E2C91"/>
          </a:solidFill>
          <a:ln w="12700">
            <a:solidFill>
              <a:srgbClr val="6E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630168" y="1755648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52D"/>
                </a:solidFill>
              </a:rPr>
              <a:t>Write automation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630168" y="217627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655D69"/>
                </a:solidFill>
              </a:rPr>
              <a:t>Create a first draft of unit, API or BDD tests.</a:t>
            </a:r>
            <a:endParaRPr lang="en-US" sz="1230" dirty="0"/>
          </a:p>
        </p:txBody>
      </p:sp>
      <p:sp>
        <p:nvSpPr>
          <p:cNvPr id="14" name="Shape 11"/>
          <p:cNvSpPr/>
          <p:nvPr/>
        </p:nvSpPr>
        <p:spPr>
          <a:xfrm>
            <a:off x="658368" y="3246120"/>
            <a:ext cx="254203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DDE7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58368" y="3246120"/>
            <a:ext cx="73152" cy="1371600"/>
          </a:xfrm>
          <a:prstGeom prst="rect">
            <a:avLst/>
          </a:prstGeom>
          <a:solidFill>
            <a:srgbClr val="159A68"/>
          </a:solidFill>
          <a:ln w="12700">
            <a:solidFill>
              <a:srgbClr val="159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86968" y="342900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52D"/>
                </a:solidFill>
              </a:rPr>
              <a:t>Find missing cases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86968" y="3849624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655D69"/>
                </a:solidFill>
              </a:rPr>
              <a:t>Spot empty values, limits, errors and unusual conditions.</a:t>
            </a:r>
            <a:endParaRPr lang="en-US" sz="1230" dirty="0"/>
          </a:p>
        </p:txBody>
      </p:sp>
      <p:sp>
        <p:nvSpPr>
          <p:cNvPr id="18" name="Shape 15"/>
          <p:cNvSpPr/>
          <p:nvPr/>
        </p:nvSpPr>
        <p:spPr>
          <a:xfrm>
            <a:off x="3401568" y="3246120"/>
            <a:ext cx="254203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DDE7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401568" y="3246120"/>
            <a:ext cx="73152" cy="1371600"/>
          </a:xfrm>
          <a:prstGeom prst="rect">
            <a:avLst/>
          </a:prstGeom>
          <a:solidFill>
            <a:srgbClr val="D94B5B"/>
          </a:solidFill>
          <a:ln w="12700">
            <a:solidFill>
              <a:srgbClr val="D94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630168" y="342900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52D"/>
                </a:solidFill>
              </a:rPr>
              <a:t>Explain failures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3630168" y="3849624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655D69"/>
                </a:solidFill>
              </a:rPr>
              <a:t>Summarize a failed job and suggest what to check next.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5624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C71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6D26"/>
                </a:solidFill>
              </a:rPr>
              <a:t>SIMPLE 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2648" y="6583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52D"/>
                </a:solidFill>
              </a:rPr>
              <a:t>How does it work?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55D69"/>
                </a:solidFill>
              </a:rPr>
              <a:t>Five easy steps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2176272"/>
            <a:ext cx="594360" cy="594360"/>
          </a:xfrm>
          <a:prstGeom prst="rect">
            <a:avLst/>
          </a:prstGeom>
          <a:solidFill>
            <a:srgbClr val="6E2C9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152D"/>
                </a:solidFill>
              </a:rPr>
              <a:t>Give context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3456432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55D69"/>
                </a:solidFill>
              </a:rPr>
              <a:t>Show the code or requirement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2834640" y="187452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20440" y="2176272"/>
            <a:ext cx="594360" cy="594360"/>
          </a:xfrm>
          <a:prstGeom prst="rect">
            <a:avLst/>
          </a:prstGeom>
          <a:solidFill>
            <a:srgbClr val="6E2C9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01752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152D"/>
                </a:solidFill>
              </a:rPr>
              <a:t>Ask clearly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44952" y="3456432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55D69"/>
                </a:solidFill>
              </a:rPr>
              <a:t>Say what type of tests you need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5166360" y="187452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52160" y="2176272"/>
            <a:ext cx="594360" cy="594360"/>
          </a:xfrm>
          <a:prstGeom prst="rect">
            <a:avLst/>
          </a:prstGeom>
          <a:solidFill>
            <a:srgbClr val="6E2C9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34924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152D"/>
                </a:solidFill>
              </a:rPr>
              <a:t>Review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76672" y="3456432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55D69"/>
                </a:solidFill>
              </a:rPr>
              <a:t>Check the suggested tests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7498080" y="187452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FF0E8"/>
          </a:solidFill>
          <a:ln w="12700">
            <a:solidFill>
              <a:srgbClr val="FC6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183880" y="2176272"/>
            <a:ext cx="594360" cy="594360"/>
          </a:xfrm>
          <a:prstGeom prst="rect">
            <a:avLst/>
          </a:prstGeom>
          <a:solidFill>
            <a:srgbClr val="FC6D2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68096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152D"/>
                </a:solidFill>
              </a:rPr>
              <a:t>Run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08392" y="3456432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55D69"/>
                </a:solidFill>
              </a:rPr>
              <a:t>Execute them in the real system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9829800" y="187452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515600" y="2176272"/>
            <a:ext cx="594360" cy="594360"/>
          </a:xfrm>
          <a:prstGeom prst="rect">
            <a:avLst/>
          </a:prstGeom>
          <a:solidFill>
            <a:srgbClr val="6E2C9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01268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152D"/>
                </a:solidFill>
              </a:rPr>
              <a:t>Improve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40112" y="3456432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55D69"/>
                </a:solidFill>
              </a:rPr>
              <a:t>Fix gaps and add stronger checks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1005840" y="507492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94B5B"/>
                </a:solidFill>
              </a:rPr>
              <a:t>Important: A suggested test is not finished until it has been reviewed and run.</a:t>
            </a:r>
            <a:endParaRPr lang="en-US" sz="17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5624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C71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6D26"/>
                </a:solidFill>
              </a:rPr>
              <a:t>EXAMPLE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2648" y="6583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52D"/>
                </a:solidFill>
              </a:rPr>
              <a:t>A simple login-page example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55D69"/>
                </a:solidFill>
              </a:rPr>
              <a:t>How one requirement becomes several tests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572768"/>
            <a:ext cx="3749040" cy="4206240"/>
          </a:xfrm>
          <a:prstGeom prst="roundRect">
            <a:avLst>
              <a:gd name="adj" fmla="val 1463"/>
            </a:avLst>
          </a:prstGeom>
          <a:solidFill>
            <a:srgbClr val="191321"/>
          </a:solidFill>
          <a:ln w="12700">
            <a:solidFill>
              <a:srgbClr val="1913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4128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28F"/>
                </a:solidFill>
              </a:rPr>
              <a:t>Requirement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4128" y="24231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“A registered user should be able to log in with the correct username and password.”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24128" y="40690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DDEB"/>
                </a:solidFill>
              </a:rPr>
              <a:t>Ask Duo: “Suggest positive, negative and boundary test cases.”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92040" y="1664208"/>
            <a:ext cx="6172200" cy="484632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3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02352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9A68"/>
                </a:solidFill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532120" y="177393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52D"/>
                </a:solidFill>
              </a:rPr>
              <a:t>Correct username and password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92040" y="2322576"/>
            <a:ext cx="6172200" cy="484632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3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02352" y="2441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4B5B"/>
                </a:solidFill>
              </a:rPr>
              <a:t>×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532120" y="243230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52D"/>
                </a:solidFill>
              </a:rPr>
              <a:t>Wrong password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92040" y="2980944"/>
            <a:ext cx="6172200" cy="484632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3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02352" y="3099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4B5B"/>
                </a:solidFill>
              </a:rPr>
              <a:t>×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532120" y="309067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52D"/>
                </a:solidFill>
              </a:rPr>
              <a:t>Empty username or password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92040" y="3639312"/>
            <a:ext cx="6172200" cy="484632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3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02352" y="3758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C6D26"/>
                </a:solidFill>
              </a:rPr>
              <a:t>!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532120" y="374904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52D"/>
                </a:solidFill>
              </a:rPr>
              <a:t>Locked account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92040" y="4297680"/>
            <a:ext cx="6172200" cy="484632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3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02352" y="4416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C6D26"/>
                </a:solidFill>
              </a:rPr>
              <a:t>!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32120" y="440740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52D"/>
                </a:solidFill>
              </a:rPr>
              <a:t>Very long input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92040" y="4956048"/>
            <a:ext cx="6172200" cy="484632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3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02352" y="5074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C6D26"/>
                </a:solidFill>
              </a:rPr>
              <a:t>!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532120" y="506577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52D"/>
                </a:solidFill>
              </a:rPr>
              <a:t>Special characters</a:t>
            </a:r>
            <a:endParaRPr lang="en-US" sz="13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5624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C71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6D26"/>
                </a:solidFill>
              </a:rPr>
              <a:t>GOOD QUESTIONS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2648" y="6583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52D"/>
                </a:solidFill>
              </a:rPr>
              <a:t>How to ask GitLab Duo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55D69"/>
                </a:solidFill>
              </a:rPr>
              <a:t>Clear questions produce better suggestions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64208"/>
            <a:ext cx="3657600" cy="2560320"/>
          </a:xfrm>
          <a:prstGeom prst="roundRect">
            <a:avLst>
              <a:gd name="adj" fmla="val 2143"/>
            </a:avLst>
          </a:prstGeom>
          <a:solidFill>
            <a:srgbClr val="FFF0F1"/>
          </a:solidFill>
          <a:ln w="12700">
            <a:solidFill>
              <a:srgbClr val="D94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4128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4B5B"/>
                </a:solidFill>
              </a:rPr>
              <a:t>Too broad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" y="26060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4152D"/>
                </a:solidFill>
              </a:rPr>
              <a:t>“Write tests.”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4754880" y="1664208"/>
            <a:ext cx="6675120" cy="2560320"/>
          </a:xfrm>
          <a:prstGeom prst="roundRect">
            <a:avLst>
              <a:gd name="adj" fmla="val 2143"/>
            </a:avLst>
          </a:prstGeom>
          <a:solidFill>
            <a:srgbClr val="EEF8F3"/>
          </a:solidFill>
          <a:ln w="12700">
            <a:solidFill>
              <a:srgbClr val="159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74920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9A68"/>
                </a:solidFill>
              </a:rPr>
              <a:t>Clear and useful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74920" y="2514600"/>
            <a:ext cx="5989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52D"/>
                </a:solidFill>
              </a:rPr>
              <a:t>“Create JUnit 5 tests for this login method. Include successful login, wrong password, empty values and locked accounts. Follow our existing test naming style.”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88720" y="4892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2C91"/>
                </a:solidFill>
              </a:rPr>
              <a:t>Simple formula: What to test + tool/framework + important cases + team rules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5624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C71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6D26"/>
                </a:solidFill>
              </a:rPr>
              <a:t>SAFETY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2648" y="6583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52D"/>
                </a:solidFill>
              </a:rPr>
              <a:t>What GitLab Duo cannot do for 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0936" y="12070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55D69"/>
                </a:solidFill>
              </a:rPr>
              <a:t>It is helpful, but it can still be wrong</a:t>
            </a:r>
            <a:endParaRPr lang="en-US" sz="1300" dirty="0"/>
          </a:p>
        </p:txBody>
      </p:sp>
      <p:pic>
        <p:nvPicPr>
          <p:cNvPr id="5" name="Image 0" descr="/mnt/data/generated_image_0A27673171DB_02.png"/>
          <p:cNvPicPr>
            <a:picLocks noChangeAspect="1"/>
          </p:cNvPicPr>
          <p:nvPr/>
        </p:nvPicPr>
        <p:blipFill>
          <a:blip r:embed="rId3"/>
          <a:srcRect l="12092" r="12092"/>
          <a:stretch/>
        </p:blipFill>
        <p:spPr>
          <a:xfrm>
            <a:off x="658368" y="1463040"/>
            <a:ext cx="5303520" cy="4663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508760"/>
            <a:ext cx="5029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3DDE7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309360" y="1508760"/>
            <a:ext cx="73152" cy="841248"/>
          </a:xfrm>
          <a:prstGeom prst="rect">
            <a:avLst/>
          </a:prstGeom>
          <a:solidFill>
            <a:srgbClr val="FC6D26"/>
          </a:solidFill>
          <a:ln w="12700">
            <a:solidFill>
              <a:srgbClr val="FC6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37960" y="16916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52D"/>
                </a:solidFill>
              </a:rPr>
              <a:t>It may guess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537960" y="2112264"/>
            <a:ext cx="45902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655D69"/>
                </a:solidFill>
              </a:rPr>
              <a:t>A field, endpoint, cause, or expected result may be incorrect.</a:t>
            </a:r>
            <a:endParaRPr lang="en-US" sz="1230" dirty="0"/>
          </a:p>
        </p:txBody>
      </p:sp>
      <p:sp>
        <p:nvSpPr>
          <p:cNvPr id="10" name="Shape 7"/>
          <p:cNvSpPr/>
          <p:nvPr/>
        </p:nvSpPr>
        <p:spPr>
          <a:xfrm>
            <a:off x="6309360" y="2606040"/>
            <a:ext cx="5029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3DDE7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309360" y="2606040"/>
            <a:ext cx="73152" cy="841248"/>
          </a:xfrm>
          <a:prstGeom prst="rect">
            <a:avLst/>
          </a:prstGeom>
          <a:solidFill>
            <a:srgbClr val="FC6D26"/>
          </a:solidFill>
          <a:ln w="12700">
            <a:solidFill>
              <a:srgbClr val="FC6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37960" y="27889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52D"/>
                </a:solidFill>
              </a:rPr>
              <a:t>It may miss risks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537960" y="3209544"/>
            <a:ext cx="45902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655D69"/>
                </a:solidFill>
              </a:rPr>
              <a:t>Important business rules or rare conditions may be absent.</a:t>
            </a:r>
            <a:endParaRPr lang="en-US" sz="1230" dirty="0"/>
          </a:p>
        </p:txBody>
      </p:sp>
      <p:sp>
        <p:nvSpPr>
          <p:cNvPr id="14" name="Shape 11"/>
          <p:cNvSpPr/>
          <p:nvPr/>
        </p:nvSpPr>
        <p:spPr>
          <a:xfrm>
            <a:off x="6309360" y="3703320"/>
            <a:ext cx="5029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3DDE7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309360" y="3703320"/>
            <a:ext cx="73152" cy="841248"/>
          </a:xfrm>
          <a:prstGeom prst="rect">
            <a:avLst/>
          </a:prstGeom>
          <a:solidFill>
            <a:srgbClr val="FC6D26"/>
          </a:solidFill>
          <a:ln w="12700">
            <a:solidFill>
              <a:srgbClr val="FC6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537960" y="38862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52D"/>
                </a:solidFill>
              </a:rPr>
              <a:t>It cannot own quality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537960" y="4306824"/>
            <a:ext cx="45902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655D69"/>
                </a:solidFill>
              </a:rPr>
              <a:t>People must review, run and approve the tests.</a:t>
            </a:r>
            <a:endParaRPr lang="en-US" sz="1230" dirty="0"/>
          </a:p>
        </p:txBody>
      </p:sp>
      <p:sp>
        <p:nvSpPr>
          <p:cNvPr id="18" name="Shape 15"/>
          <p:cNvSpPr/>
          <p:nvPr/>
        </p:nvSpPr>
        <p:spPr>
          <a:xfrm>
            <a:off x="6309360" y="4800600"/>
            <a:ext cx="5029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3DDE7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309360" y="4800600"/>
            <a:ext cx="73152" cy="841248"/>
          </a:xfrm>
          <a:prstGeom prst="rect">
            <a:avLst/>
          </a:prstGeom>
          <a:solidFill>
            <a:srgbClr val="D94B5B"/>
          </a:solidFill>
          <a:ln w="12700">
            <a:solidFill>
              <a:srgbClr val="D94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537960" y="49834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52D"/>
                </a:solidFill>
              </a:rPr>
              <a:t>Never share secrets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537960" y="5404104"/>
            <a:ext cx="45902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655D69"/>
                </a:solidFill>
              </a:rPr>
              <a:t>Do not paste passwords, tokens or sensitive customer data.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5624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C71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6D26"/>
                </a:solidFill>
              </a:rPr>
              <a:t>TAKEAWAY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2648" y="6583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52D"/>
                </a:solidFill>
              </a:rPr>
              <a:t>Remember these three points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8992" y="1728216"/>
            <a:ext cx="457200" cy="457200"/>
          </a:xfrm>
          <a:prstGeom prst="rect">
            <a:avLst/>
          </a:prstGeom>
          <a:solidFill>
            <a:srgbClr val="6E2C9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783080" y="1673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52D"/>
                </a:solidFill>
              </a:rPr>
              <a:t>Duo suggests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703320" y="167335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55D69"/>
                </a:solidFill>
              </a:rPr>
              <a:t>It can create test ideas, draft automation and explain failures.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78992" y="2962656"/>
            <a:ext cx="457200" cy="457200"/>
          </a:xfrm>
          <a:prstGeom prst="rect">
            <a:avLst/>
          </a:prstGeom>
          <a:solidFill>
            <a:srgbClr val="6E2C9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83080" y="2907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52D"/>
                </a:solidFill>
              </a:rPr>
              <a:t>Tester checks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03320" y="290779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55D69"/>
                </a:solidFill>
              </a:rPr>
              <a:t>Review the logic, data, assertions and missing cases.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97764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FFF0E8"/>
          </a:solidFill>
          <a:ln w="12700">
            <a:solidFill>
              <a:srgbClr val="FC6D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78992" y="4197096"/>
            <a:ext cx="457200" cy="457200"/>
          </a:xfrm>
          <a:prstGeom prst="rect">
            <a:avLst/>
          </a:prstGeom>
          <a:solidFill>
            <a:srgbClr val="FC6D2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83080" y="4142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52D"/>
                </a:solidFill>
              </a:rPr>
              <a:t>Evidence decides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703320" y="414223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55D69"/>
                </a:solidFill>
              </a:rPr>
              <a:t>Run the tests and use real results before approving changes.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280160" y="54406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E2C91"/>
                </a:solidFill>
              </a:rPr>
              <a:t>GitLab Duo helps us move faster. Good testing still needs human thinking.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5624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C71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0bfa236d-8472-42aa-9a40-ab46036c5596}" enabled="1" method="Privileged" siteId="{e0793d39-0939-496d-b129-198edd916fe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194077364</TotalTime>
  <Words>864</Words>
  <Application>Microsoft Office PowerPoint</Application>
  <PresentationFormat>Widescreen</PresentationFormat>
  <Paragraphs>119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GitLab Duo in Testing - Easy Overview</dc:title>
  <dc:subject>Layman-friendly overview</dc:subject>
  <dc:creator>Sanjay Tilekar, Ritu</dc:creator>
  <cp:lastModifiedBy>Mutalikdesai, Suma</cp:lastModifiedBy>
  <cp:revision>3</cp:revision>
  <dcterms:created xsi:type="dcterms:W3CDTF">2026-10-22T13:55:26Z</dcterms:created>
  <dcterms:modified xsi:type="dcterms:W3CDTF">2026-10-29T09:05:41Z</dcterms:modified>
</cp:coreProperties>
</file>