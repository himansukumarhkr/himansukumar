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9" r:id="rId5"/>
    <p:sldId id="261" r:id="rId6"/>
    <p:sldId id="264" r:id="rId7"/>
    <p:sldId id="265" r:id="rId8"/>
    <p:sldId id="266" r:id="rId9"/>
    <p:sldId id="267" r:id="rId10"/>
    <p:sldId id="268" r:id="rId11"/>
    <p:sldId id="270" r:id="rId12"/>
    <p:sldId id="271" r:id="rId13"/>
    <p:sldId id="269" r:id="rId14"/>
    <p:sldId id="272" r:id="rId15"/>
    <p:sldId id="273" r:id="rId16"/>
    <p:sldId id="274" r:id="rId17"/>
    <p:sldId id="275" r:id="rId18"/>
    <p:sldId id="276" r:id="rId19"/>
    <p:sldId id="277" r:id="rId20"/>
    <p:sldId id="278" r:id="rId21"/>
    <p:sldId id="279" r:id="rId22"/>
    <p:sldId id="290"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06" d="100"/>
          <a:sy n="106" d="100"/>
        </p:scale>
        <p:origin x="79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1F9754-F89C-19E2-3B9C-C2018102B98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824D99-1C4F-E218-B59C-9FD42E6B3A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63A6348-D6AD-C49C-B4F5-2F4DC2926EB2}"/>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5" name="Footer Placeholder 4">
            <a:extLst>
              <a:ext uri="{FF2B5EF4-FFF2-40B4-BE49-F238E27FC236}">
                <a16:creationId xmlns:a16="http://schemas.microsoft.com/office/drawing/2014/main" id="{4C9AB73A-DFED-FCEC-A557-249CDB1E2F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45CB4C-B59B-97A6-5168-13E31362C711}"/>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28313059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C28E3-4661-3BD1-8799-E408342B05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A7B7E1-40EF-6560-745E-0712AB8F891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105894-F11F-C61F-15E1-F013F8AC4714}"/>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5" name="Footer Placeholder 4">
            <a:extLst>
              <a:ext uri="{FF2B5EF4-FFF2-40B4-BE49-F238E27FC236}">
                <a16:creationId xmlns:a16="http://schemas.microsoft.com/office/drawing/2014/main" id="{636DCFCB-3313-ACAC-83F9-749DAC61D8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4FA4D-443F-CF0A-4C9A-FEFC3073A6EB}"/>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7166907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90441-BBA6-D23A-8A32-56E4ED153F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FE8D3F-7C10-5756-2B87-8946A9D327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0F8758-EB2B-7132-E0DE-C8E6B54269C2}"/>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5" name="Footer Placeholder 4">
            <a:extLst>
              <a:ext uri="{FF2B5EF4-FFF2-40B4-BE49-F238E27FC236}">
                <a16:creationId xmlns:a16="http://schemas.microsoft.com/office/drawing/2014/main" id="{F31C1DC0-8B1E-FF49-9FD0-CBB0FC3C53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2DB86E-172B-CF92-ED81-023B6897114C}"/>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1559075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C41C6A-4285-ACE2-0E45-A9407FF1DD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AAEC66-5CA0-80DE-D0B7-5D0E8C9A038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CE060EF-097E-6A98-2F25-E30D46C27A5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FF3FA3F-6796-054B-C6CD-A3E4EE77A71D}"/>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6" name="Footer Placeholder 5">
            <a:extLst>
              <a:ext uri="{FF2B5EF4-FFF2-40B4-BE49-F238E27FC236}">
                <a16:creationId xmlns:a16="http://schemas.microsoft.com/office/drawing/2014/main" id="{32A55D95-EC27-C800-C3E0-D2BC564424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7D15C82-5E31-FEAE-FFDD-B8F81718B00C}"/>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40231162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A266C-CB91-9A7D-1684-8215503B62D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2BA194-C58F-8F17-6C46-1CFED94616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AD4D1-2703-8C16-84BB-2BE2698276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F69BA56-239B-F358-78D0-339CBB3117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C03AE52-B2BD-B2DF-133C-BE7189DB0E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8A86444-EEAD-259C-9074-60C76C6DE96F}"/>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8" name="Footer Placeholder 7">
            <a:extLst>
              <a:ext uri="{FF2B5EF4-FFF2-40B4-BE49-F238E27FC236}">
                <a16:creationId xmlns:a16="http://schemas.microsoft.com/office/drawing/2014/main" id="{85FD3106-C022-75D9-0E77-A3E0D46AF79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3A94AC-BC07-1DBC-8B58-872E9286F6D0}"/>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32966718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8CFAFE-2B95-B299-272A-4A1092D72F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ED6D0F6-2707-C61F-35FD-29DEEDD56799}"/>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4" name="Footer Placeholder 3">
            <a:extLst>
              <a:ext uri="{FF2B5EF4-FFF2-40B4-BE49-F238E27FC236}">
                <a16:creationId xmlns:a16="http://schemas.microsoft.com/office/drawing/2014/main" id="{DE6752EC-953A-6286-933A-53120388EC1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269D787-6CF9-52B0-66B8-B7D47E9D2D34}"/>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42580958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9439E3-0E43-745A-F346-D1E1EBCBD9C4}"/>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3" name="Footer Placeholder 2">
            <a:extLst>
              <a:ext uri="{FF2B5EF4-FFF2-40B4-BE49-F238E27FC236}">
                <a16:creationId xmlns:a16="http://schemas.microsoft.com/office/drawing/2014/main" id="{88EFB71A-BE03-F38F-B9CF-4BEB6DE507A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BD8A92D-EA67-519A-9F0F-335CDE586F5E}"/>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31113660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11D40-DA0A-44A7-638F-5D66BF1E58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70B8A3-0942-A504-78C8-27BA413F24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18912A9-6AE3-2842-460F-FEBB949998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B2DFCC-7E8B-325F-B918-53C7481AF251}"/>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6" name="Footer Placeholder 5">
            <a:extLst>
              <a:ext uri="{FF2B5EF4-FFF2-40B4-BE49-F238E27FC236}">
                <a16:creationId xmlns:a16="http://schemas.microsoft.com/office/drawing/2014/main" id="{32462EFF-3A71-402A-1EC8-363BFD2898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3EC249-9878-4190-0120-8BD307243384}"/>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3590742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42F01-25D5-9C7E-0834-1786F94974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5D6184A-4BB5-34C5-371E-8D6E502686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46DF18-9DAF-4716-D890-D4352104E0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6A849B-5C17-C928-6CC3-4100F5A3933E}"/>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6" name="Footer Placeholder 5">
            <a:extLst>
              <a:ext uri="{FF2B5EF4-FFF2-40B4-BE49-F238E27FC236}">
                <a16:creationId xmlns:a16="http://schemas.microsoft.com/office/drawing/2014/main" id="{34881033-9417-B1D8-53EE-15D15151DE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1BC2A5-76F4-FCB8-5193-272F3842406A}"/>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38143902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8A204-C370-D982-C2FA-929D8292B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966F32-A346-B55D-2742-AA63105531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91B468-4095-8D66-C92A-81091CCA065B}"/>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5" name="Footer Placeholder 4">
            <a:extLst>
              <a:ext uri="{FF2B5EF4-FFF2-40B4-BE49-F238E27FC236}">
                <a16:creationId xmlns:a16="http://schemas.microsoft.com/office/drawing/2014/main" id="{982ABD37-DE4C-322B-AFBE-80DD7EF134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6BA785-8028-3141-221B-21E0B3A5F85F}"/>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4144758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DADC63-7EC5-262E-523D-8E92BC9D85A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B422262-D8C6-3491-ED21-D716309CAFE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E5FC78-9528-A4AC-9299-E3136D7E29BA}"/>
              </a:ext>
            </a:extLst>
          </p:cNvPr>
          <p:cNvSpPr>
            <a:spLocks noGrp="1"/>
          </p:cNvSpPr>
          <p:nvPr>
            <p:ph type="dt" sz="half" idx="10"/>
          </p:nvPr>
        </p:nvSpPr>
        <p:spPr/>
        <p:txBody>
          <a:bodyPr/>
          <a:lstStyle/>
          <a:p>
            <a:fld id="{62D2962F-4808-4A97-8CB1-7B24E660F785}" type="datetimeFigureOut">
              <a:rPr lang="en-US" smtClean="0"/>
              <a:t>9/30/2026</a:t>
            </a:fld>
            <a:endParaRPr lang="en-US"/>
          </a:p>
        </p:txBody>
      </p:sp>
      <p:sp>
        <p:nvSpPr>
          <p:cNvPr id="5" name="Footer Placeholder 4">
            <a:extLst>
              <a:ext uri="{FF2B5EF4-FFF2-40B4-BE49-F238E27FC236}">
                <a16:creationId xmlns:a16="http://schemas.microsoft.com/office/drawing/2014/main" id="{85E86A7E-C77E-40BB-5894-D6DEA4B089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00954D-46D8-B6C5-52AF-197F7028DCD3}"/>
              </a:ext>
            </a:extLst>
          </p:cNvPr>
          <p:cNvSpPr>
            <a:spLocks noGrp="1"/>
          </p:cNvSpPr>
          <p:nvPr>
            <p:ph type="sldNum" sz="quarter" idx="12"/>
          </p:nvPr>
        </p:nvSpPr>
        <p:spPr/>
        <p:txBody>
          <a:bodyPr/>
          <a:lstStyle/>
          <a:p>
            <a:fld id="{129B33D5-AF25-451D-8E5D-8A11CF42B264}" type="slidenum">
              <a:rPr lang="en-US" smtClean="0"/>
              <a:t>‹#›</a:t>
            </a:fld>
            <a:endParaRPr lang="en-US"/>
          </a:p>
        </p:txBody>
      </p:sp>
    </p:spTree>
    <p:extLst>
      <p:ext uri="{BB962C8B-B14F-4D97-AF65-F5344CB8AC3E}">
        <p14:creationId xmlns:p14="http://schemas.microsoft.com/office/powerpoint/2010/main" val="75389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D82F0E-C04F-C54D-B858-E233605441A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D74617-7B65-FAB0-EF16-C23D2710DC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720FEA-9FF6-7864-D54A-473664D534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D2962F-4808-4A97-8CB1-7B24E660F785}" type="datetimeFigureOut">
              <a:rPr lang="en-US" smtClean="0"/>
              <a:t>9/30/2026</a:t>
            </a:fld>
            <a:endParaRPr lang="en-US"/>
          </a:p>
        </p:txBody>
      </p:sp>
      <p:sp>
        <p:nvSpPr>
          <p:cNvPr id="5" name="Footer Placeholder 4">
            <a:extLst>
              <a:ext uri="{FF2B5EF4-FFF2-40B4-BE49-F238E27FC236}">
                <a16:creationId xmlns:a16="http://schemas.microsoft.com/office/drawing/2014/main" id="{6971BA44-3884-04AA-19ED-81E22384EB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ADFAC4B-556F-5DCB-B60B-3424FC0F8B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9B33D5-AF25-451D-8E5D-8A11CF42B264}" type="slidenum">
              <a:rPr lang="en-US" smtClean="0"/>
              <a:t>‹#›</a:t>
            </a:fld>
            <a:endParaRPr lang="en-US"/>
          </a:p>
        </p:txBody>
      </p:sp>
    </p:spTree>
    <p:extLst>
      <p:ext uri="{BB962C8B-B14F-4D97-AF65-F5344CB8AC3E}">
        <p14:creationId xmlns:p14="http://schemas.microsoft.com/office/powerpoint/2010/main" val="9302963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CABDDC67-E6EB-DCBE-4B97-0F17BD595530}"/>
              </a:ext>
            </a:extLst>
          </p:cNvPr>
          <p:cNvSpPr>
            <a:spLocks noGrp="1"/>
          </p:cNvSpPr>
          <p:nvPr>
            <p:ph type="ctrTitle"/>
          </p:nvPr>
        </p:nvSpPr>
        <p:spPr>
          <a:xfrm>
            <a:off x="1314824" y="735106"/>
            <a:ext cx="10053763" cy="2928470"/>
          </a:xfrm>
        </p:spPr>
        <p:txBody>
          <a:bodyPr anchor="b">
            <a:normAutofit/>
          </a:bodyPr>
          <a:lstStyle/>
          <a:p>
            <a:pPr algn="l"/>
            <a:r>
              <a:rPr lang="en-US" sz="4800" dirty="0">
                <a:solidFill>
                  <a:srgbClr val="FFFFFF"/>
                </a:solidFill>
              </a:rPr>
              <a:t>XPATHS and Different Waits in Selenium Web driver</a:t>
            </a:r>
          </a:p>
        </p:txBody>
      </p:sp>
      <p:sp>
        <p:nvSpPr>
          <p:cNvPr id="3" name="Subtitle 2">
            <a:extLst>
              <a:ext uri="{FF2B5EF4-FFF2-40B4-BE49-F238E27FC236}">
                <a16:creationId xmlns:a16="http://schemas.microsoft.com/office/drawing/2014/main" id="{B9AC201B-5CA4-9EB0-9B1B-07E20859B828}"/>
              </a:ext>
            </a:extLst>
          </p:cNvPr>
          <p:cNvSpPr>
            <a:spLocks noGrp="1"/>
          </p:cNvSpPr>
          <p:nvPr>
            <p:ph type="subTitle" idx="1"/>
          </p:nvPr>
        </p:nvSpPr>
        <p:spPr>
          <a:xfrm>
            <a:off x="1350682" y="4870824"/>
            <a:ext cx="10005951" cy="1458258"/>
          </a:xfrm>
        </p:spPr>
        <p:txBody>
          <a:bodyPr anchor="ctr">
            <a:normAutofit/>
          </a:bodyPr>
          <a:lstStyle/>
          <a:p>
            <a:pPr indent="-228600" algn="l">
              <a:buFont typeface="Arial" panose="020B0604020202020204" pitchFamily="34" charset="0"/>
              <a:buChar char="•"/>
            </a:pPr>
            <a:r>
              <a:rPr lang="en-US" b="1" dirty="0"/>
              <a:t>Abhijeet Pathak</a:t>
            </a:r>
            <a:endParaRPr lang="en-US" dirty="0"/>
          </a:p>
          <a:p>
            <a:pPr indent="-228600" algn="l">
              <a:buFont typeface="Arial" panose="020B0604020202020204" pitchFamily="34" charset="0"/>
              <a:buChar char="•"/>
            </a:pPr>
            <a:r>
              <a:rPr lang="en-US" dirty="0"/>
              <a:t>|SDET | BFG|</a:t>
            </a:r>
          </a:p>
          <a:p>
            <a:pPr indent="-228600" algn="l">
              <a:buFont typeface="Arial" panose="020B0604020202020204" pitchFamily="34" charset="0"/>
              <a:buChar char="•"/>
            </a:pPr>
            <a:r>
              <a:rPr lang="en-US" b="1" dirty="0"/>
              <a:t>Email</a:t>
            </a:r>
            <a:r>
              <a:rPr lang="en-US" dirty="0"/>
              <a:t>: </a:t>
            </a:r>
            <a:r>
              <a:rPr lang="en-US" u="sng" dirty="0"/>
              <a:t>abhijeet.b.pathak@accenture.com</a:t>
            </a:r>
            <a:endParaRPr lang="en-US" dirty="0"/>
          </a:p>
        </p:txBody>
      </p:sp>
      <p:pic>
        <p:nvPicPr>
          <p:cNvPr id="8" name="Picture 7">
            <a:extLst>
              <a:ext uri="{FF2B5EF4-FFF2-40B4-BE49-F238E27FC236}">
                <a16:creationId xmlns:a16="http://schemas.microsoft.com/office/drawing/2014/main" id="{4C5E1143-D490-12B8-4553-0FFBFDBE8483}"/>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0452271" y="6258479"/>
            <a:ext cx="1438275" cy="438150"/>
          </a:xfrm>
          <a:prstGeom prst="rect">
            <a:avLst/>
          </a:prstGeom>
        </p:spPr>
      </p:pic>
    </p:spTree>
    <p:extLst>
      <p:ext uri="{BB962C8B-B14F-4D97-AF65-F5344CB8AC3E}">
        <p14:creationId xmlns:p14="http://schemas.microsoft.com/office/powerpoint/2010/main" val="682983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A3EA74A-398D-D370-B186-92C25EAB86B9}"/>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Let's explore XPATHS:</a:t>
            </a:r>
          </a:p>
        </p:txBody>
      </p:sp>
      <p:sp>
        <p:nvSpPr>
          <p:cNvPr id="3" name="Content Placeholder 2">
            <a:extLst>
              <a:ext uri="{FF2B5EF4-FFF2-40B4-BE49-F238E27FC236}">
                <a16:creationId xmlns:a16="http://schemas.microsoft.com/office/drawing/2014/main" id="{DC40AD35-8C01-2ABC-AC09-4DBC5C939CE1}"/>
              </a:ext>
            </a:extLst>
          </p:cNvPr>
          <p:cNvSpPr>
            <a:spLocks noGrp="1"/>
          </p:cNvSpPr>
          <p:nvPr>
            <p:ph idx="1"/>
          </p:nvPr>
        </p:nvSpPr>
        <p:spPr>
          <a:xfrm>
            <a:off x="847725" y="2009774"/>
            <a:ext cx="10247905" cy="4371976"/>
          </a:xfrm>
        </p:spPr>
        <p:txBody>
          <a:bodyPr anchor="ctr">
            <a:noAutofit/>
          </a:bodyPr>
          <a:lstStyle/>
          <a:p>
            <a:pPr marL="0" indent="0">
              <a:buNone/>
            </a:pPr>
            <a:r>
              <a:rPr lang="en-US" sz="2000" b="1" dirty="0"/>
              <a:t>What is XPATH?</a:t>
            </a:r>
          </a:p>
          <a:p>
            <a:r>
              <a:rPr lang="en-US" sz="2000" i="0" dirty="0">
                <a:effectLst/>
              </a:rPr>
              <a:t>XPath in Selenium is </a:t>
            </a:r>
            <a:r>
              <a:rPr lang="en-US" sz="2000" b="0" i="0" dirty="0">
                <a:effectLst/>
                <a:latin typeface="source-serif-pro"/>
              </a:rPr>
              <a:t>a query language that can be used to search and locate web elements in HTML documents</a:t>
            </a:r>
            <a:r>
              <a:rPr lang="en-US" sz="2000" i="0" dirty="0">
                <a:effectLst/>
              </a:rPr>
              <a:t>. </a:t>
            </a:r>
          </a:p>
          <a:p>
            <a:r>
              <a:rPr lang="en-US" sz="2000" i="0" dirty="0">
                <a:effectLst/>
              </a:rPr>
              <a:t>In Selenium automation, if the elements are not found by the general locators like id, class, name, etc. then XPath is used to find an element on the web page.</a:t>
            </a:r>
          </a:p>
          <a:p>
            <a:r>
              <a:rPr lang="en-US" sz="2000" b="0" i="0" dirty="0">
                <a:effectLst/>
                <a:latin typeface="source-serif-pro"/>
              </a:rPr>
              <a:t>XPath follows an XML path to navigate through the HTML structure of a web page.</a:t>
            </a:r>
            <a:endParaRPr lang="en-US" sz="2000" i="0" dirty="0">
              <a:effectLst/>
            </a:endParaRPr>
          </a:p>
          <a:p>
            <a:endParaRPr lang="en-US" sz="2000" dirty="0"/>
          </a:p>
          <a:p>
            <a:r>
              <a:rPr lang="en-US" sz="2000" dirty="0"/>
              <a:t>Below is the Syntax of </a:t>
            </a:r>
            <a:r>
              <a:rPr lang="en-US" sz="2000" dirty="0" err="1"/>
              <a:t>xpath</a:t>
            </a:r>
            <a:r>
              <a:rPr lang="en-US" sz="2000" dirty="0"/>
              <a:t>:</a:t>
            </a:r>
          </a:p>
          <a:p>
            <a:pPr marL="0" indent="0">
              <a:buNone/>
            </a:pPr>
            <a:r>
              <a:rPr lang="en-US" sz="2000" dirty="0"/>
              <a:t>   </a:t>
            </a:r>
            <a:r>
              <a:rPr lang="en-US" sz="2000" b="1" i="0" dirty="0">
                <a:effectLst/>
                <a:latin typeface="source-serif-pro"/>
              </a:rPr>
              <a:t>Syntax:</a:t>
            </a:r>
            <a:r>
              <a:rPr lang="en-US" sz="2000" b="0" i="0" dirty="0">
                <a:effectLst/>
                <a:latin typeface="source-serif-pro"/>
              </a:rPr>
              <a:t>  //</a:t>
            </a:r>
            <a:r>
              <a:rPr lang="en-US" sz="2000" b="0" i="0" dirty="0" err="1">
                <a:effectLst/>
                <a:latin typeface="source-serif-pro"/>
              </a:rPr>
              <a:t>tagname</a:t>
            </a:r>
            <a:r>
              <a:rPr lang="en-US" sz="2000" b="0" i="0" dirty="0">
                <a:effectLst/>
                <a:latin typeface="source-serif-pro"/>
              </a:rPr>
              <a:t>[@Attribute =’Value’]</a:t>
            </a:r>
          </a:p>
          <a:p>
            <a:r>
              <a:rPr lang="en-US" sz="2000" b="1" dirty="0">
                <a:latin typeface="source-serif-pro"/>
              </a:rPr>
              <a:t>Example</a:t>
            </a:r>
            <a:r>
              <a:rPr lang="en-US" sz="2000" dirty="0">
                <a:latin typeface="source-serif-pro"/>
              </a:rPr>
              <a:t>:  //div[@class =”</a:t>
            </a:r>
            <a:r>
              <a:rPr lang="en-US" sz="2000" dirty="0" err="1">
                <a:latin typeface="source-serif-pro"/>
              </a:rPr>
              <a:t>firstname</a:t>
            </a:r>
            <a:r>
              <a:rPr lang="en-US" sz="2000" dirty="0">
                <a:latin typeface="source-serif-pro"/>
              </a:rPr>
              <a:t>”]</a:t>
            </a:r>
          </a:p>
        </p:txBody>
      </p:sp>
      <p:pic>
        <p:nvPicPr>
          <p:cNvPr id="4" name="Picture 3">
            <a:extLst>
              <a:ext uri="{FF2B5EF4-FFF2-40B4-BE49-F238E27FC236}">
                <a16:creationId xmlns:a16="http://schemas.microsoft.com/office/drawing/2014/main" id="{D687A4D6-2D8E-7F6D-AA2C-4EAF5FDA9B0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1143952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4AA642-5649-F103-C7A5-BE99F434DF86}"/>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Types of </a:t>
            </a:r>
            <a:r>
              <a:rPr lang="en-US" sz="4000" dirty="0" err="1">
                <a:solidFill>
                  <a:srgbClr val="FFFFFF"/>
                </a:solidFill>
              </a:rPr>
              <a:t>Xpath</a:t>
            </a:r>
            <a:r>
              <a:rPr lang="en-US" sz="4000" dirty="0">
                <a:solidFill>
                  <a:srgbClr val="FFFFFF"/>
                </a:solidFill>
              </a:rPr>
              <a:t>:</a:t>
            </a:r>
          </a:p>
        </p:txBody>
      </p:sp>
      <p:sp>
        <p:nvSpPr>
          <p:cNvPr id="3" name="Content Placeholder 2">
            <a:extLst>
              <a:ext uri="{FF2B5EF4-FFF2-40B4-BE49-F238E27FC236}">
                <a16:creationId xmlns:a16="http://schemas.microsoft.com/office/drawing/2014/main" id="{CE432A68-E059-FD5F-2206-F7B85135B181}"/>
              </a:ext>
            </a:extLst>
          </p:cNvPr>
          <p:cNvSpPr>
            <a:spLocks noGrp="1"/>
          </p:cNvSpPr>
          <p:nvPr>
            <p:ph idx="1"/>
          </p:nvPr>
        </p:nvSpPr>
        <p:spPr>
          <a:xfrm>
            <a:off x="4810259" y="649480"/>
            <a:ext cx="6555347" cy="5546047"/>
          </a:xfrm>
        </p:spPr>
        <p:txBody>
          <a:bodyPr anchor="ctr">
            <a:normAutofit/>
          </a:bodyPr>
          <a:lstStyle/>
          <a:p>
            <a:r>
              <a:rPr lang="en-US" sz="2000" b="0" i="0" dirty="0">
                <a:effectLst/>
                <a:latin typeface="source-serif-pro"/>
              </a:rPr>
              <a:t>There are two types of XPath in Selenium.</a:t>
            </a:r>
          </a:p>
          <a:p>
            <a:pPr>
              <a:buFont typeface="+mj-lt"/>
              <a:buAutoNum type="arabicPeriod"/>
            </a:pPr>
            <a:r>
              <a:rPr lang="en-US" sz="2000" b="0" i="0" dirty="0">
                <a:effectLst/>
                <a:latin typeface="source-serif-pro"/>
              </a:rPr>
              <a:t>Absolute XPath</a:t>
            </a:r>
          </a:p>
          <a:p>
            <a:pPr>
              <a:buFont typeface="+mj-lt"/>
              <a:buAutoNum type="arabicPeriod"/>
            </a:pPr>
            <a:r>
              <a:rPr lang="en-US" sz="2000" b="0" i="0" dirty="0">
                <a:effectLst/>
                <a:latin typeface="source-serif-pro"/>
              </a:rPr>
              <a:t>Relative </a:t>
            </a:r>
            <a:r>
              <a:rPr lang="en-US" sz="2000" b="0" i="0" dirty="0" err="1">
                <a:effectLst/>
                <a:latin typeface="source-serif-pro"/>
              </a:rPr>
              <a:t>Xpath</a:t>
            </a:r>
            <a:endParaRPr lang="en-US" sz="2000" b="0" i="0" dirty="0">
              <a:effectLst/>
              <a:latin typeface="source-serif-pro"/>
            </a:endParaRPr>
          </a:p>
          <a:p>
            <a:endParaRPr lang="en-US" sz="2000" dirty="0"/>
          </a:p>
          <a:p>
            <a:r>
              <a:rPr lang="en-US" sz="2000" dirty="0"/>
              <a:t>And we have- </a:t>
            </a:r>
            <a:r>
              <a:rPr lang="en-US" sz="2000" dirty="0" err="1">
                <a:latin typeface="source-serif-pro"/>
              </a:rPr>
              <a:t>Xpaths</a:t>
            </a:r>
            <a:r>
              <a:rPr lang="en-US" sz="2000" dirty="0">
                <a:latin typeface="source-serif-pro"/>
              </a:rPr>
              <a:t> for Dynamic Elements</a:t>
            </a:r>
            <a:endParaRPr lang="en-US" sz="2000" b="0" i="0" dirty="0">
              <a:effectLst/>
              <a:latin typeface="source-serif-pro"/>
            </a:endParaRPr>
          </a:p>
          <a:p>
            <a:pPr marL="0" indent="0">
              <a:buNone/>
            </a:pPr>
            <a:endParaRPr lang="en-US" sz="2000" dirty="0"/>
          </a:p>
        </p:txBody>
      </p:sp>
      <p:pic>
        <p:nvPicPr>
          <p:cNvPr id="4" name="Picture 3">
            <a:extLst>
              <a:ext uri="{FF2B5EF4-FFF2-40B4-BE49-F238E27FC236}">
                <a16:creationId xmlns:a16="http://schemas.microsoft.com/office/drawing/2014/main" id="{A4497C5B-120C-54FE-A063-C310612C9239}"/>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9338086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8" name="Rectangle 57">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E80937-81AE-B5E5-789B-E22159A7DB42}"/>
              </a:ext>
            </a:extLst>
          </p:cNvPr>
          <p:cNvSpPr>
            <a:spLocks noGrp="1"/>
          </p:cNvSpPr>
          <p:nvPr>
            <p:ph type="title"/>
          </p:nvPr>
        </p:nvSpPr>
        <p:spPr>
          <a:xfrm>
            <a:off x="1136397" y="502021"/>
            <a:ext cx="4959603" cy="1642969"/>
          </a:xfrm>
        </p:spPr>
        <p:txBody>
          <a:bodyPr vert="horz" lIns="91440" tIns="45720" rIns="91440" bIns="45720" rtlCol="0" anchor="b">
            <a:normAutofit/>
          </a:bodyPr>
          <a:lstStyle/>
          <a:p>
            <a:r>
              <a:rPr lang="en-US" sz="4000" kern="1200" dirty="0">
                <a:solidFill>
                  <a:schemeClr val="tx1"/>
                </a:solidFill>
                <a:latin typeface="+mj-lt"/>
                <a:ea typeface="+mj-ea"/>
                <a:cs typeface="+mj-cs"/>
              </a:rPr>
              <a:t>Absolute XPATH</a:t>
            </a:r>
            <a:br>
              <a:rPr lang="en-US" sz="4000" kern="1200" dirty="0">
                <a:solidFill>
                  <a:schemeClr val="tx1"/>
                </a:solidFill>
                <a:latin typeface="+mj-lt"/>
                <a:ea typeface="+mj-ea"/>
                <a:cs typeface="+mj-cs"/>
              </a:rPr>
            </a:br>
            <a:endParaRPr lang="en-US" sz="4000" kern="1200" dirty="0">
              <a:solidFill>
                <a:schemeClr val="tx1"/>
              </a:solidFill>
              <a:latin typeface="+mj-lt"/>
              <a:ea typeface="+mj-ea"/>
              <a:cs typeface="+mj-cs"/>
            </a:endParaRPr>
          </a:p>
        </p:txBody>
      </p:sp>
      <p:sp>
        <p:nvSpPr>
          <p:cNvPr id="5" name="TextBox 4">
            <a:extLst>
              <a:ext uri="{FF2B5EF4-FFF2-40B4-BE49-F238E27FC236}">
                <a16:creationId xmlns:a16="http://schemas.microsoft.com/office/drawing/2014/main" id="{373313A4-AD23-AB3A-BB94-538C444742B7}"/>
              </a:ext>
            </a:extLst>
          </p:cNvPr>
          <p:cNvSpPr txBox="1"/>
          <p:nvPr/>
        </p:nvSpPr>
        <p:spPr>
          <a:xfrm>
            <a:off x="457200" y="1887802"/>
            <a:ext cx="5057775" cy="3522569"/>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000" b="1" i="0" dirty="0">
                <a:effectLst/>
                <a:latin typeface="source-serif-pro"/>
              </a:rPr>
              <a:t>Absolute XPath: </a:t>
            </a:r>
            <a:r>
              <a:rPr lang="en-US" sz="2000" b="0" i="0" dirty="0">
                <a:effectLst/>
                <a:latin typeface="source-serif-pro"/>
              </a:rPr>
              <a:t>Absolute </a:t>
            </a:r>
            <a:r>
              <a:rPr lang="en-US" sz="2000" b="0" i="0" dirty="0" err="1">
                <a:effectLst/>
                <a:latin typeface="source-serif-pro"/>
              </a:rPr>
              <a:t>Xpath</a:t>
            </a:r>
            <a:r>
              <a:rPr lang="en-US" sz="2000" b="0" i="0" dirty="0">
                <a:effectLst/>
                <a:latin typeface="source-serif-pro"/>
              </a:rPr>
              <a:t> is the simplest form of XPath in Selenium. It starts with a single slash ‘/’ and provides the absolute path of an element in the entire DOM.</a:t>
            </a:r>
          </a:p>
          <a:p>
            <a:pPr indent="-228600">
              <a:lnSpc>
                <a:spcPct val="90000"/>
              </a:lnSpc>
              <a:spcAft>
                <a:spcPts val="600"/>
              </a:spcAft>
              <a:buFont typeface="Arial" panose="020B0604020202020204" pitchFamily="34" charset="0"/>
              <a:buChar char="•"/>
            </a:pPr>
            <a:endParaRPr lang="en-US" sz="2000" dirty="0">
              <a:latin typeface="source-serif-pro"/>
            </a:endParaRPr>
          </a:p>
          <a:p>
            <a:pPr indent="-228600">
              <a:lnSpc>
                <a:spcPct val="90000"/>
              </a:lnSpc>
              <a:spcAft>
                <a:spcPts val="600"/>
              </a:spcAft>
              <a:buFont typeface="Arial" panose="020B0604020202020204" pitchFamily="34" charset="0"/>
              <a:buChar char="•"/>
            </a:pPr>
            <a:r>
              <a:rPr lang="en-US" sz="2000" b="1" dirty="0">
                <a:latin typeface="source-serif-pro"/>
              </a:rPr>
              <a:t>Syntax</a:t>
            </a:r>
            <a:r>
              <a:rPr lang="en-US" sz="2000" dirty="0">
                <a:latin typeface="source-serif-pro"/>
              </a:rPr>
              <a:t>: </a:t>
            </a:r>
            <a:r>
              <a:rPr lang="en-US" sz="2000" b="0" i="0" dirty="0">
                <a:effectLst/>
                <a:latin typeface="source-serif-pro"/>
              </a:rPr>
              <a:t> html/body/div[1]/header/div/div[1]/div[3]/div/form/div[3]/div[1]/input.</a:t>
            </a:r>
            <a:endParaRPr lang="en-US" sz="2000" dirty="0">
              <a:latin typeface="source-serif-pro"/>
            </a:endParaRPr>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pic>
        <p:nvPicPr>
          <p:cNvPr id="4" name="Picture 6" descr="Absolute XPath">
            <a:extLst>
              <a:ext uri="{FF2B5EF4-FFF2-40B4-BE49-F238E27FC236}">
                <a16:creationId xmlns:a16="http://schemas.microsoft.com/office/drawing/2014/main" id="{875C9FBC-ED7F-97A5-9657-92CD4F79039D}"/>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514975" y="1887375"/>
            <a:ext cx="6474046" cy="3408780"/>
          </a:xfrm>
          <a:prstGeom prst="rect">
            <a:avLst/>
          </a:prstGeom>
        </p:spPr>
        <p:style>
          <a:lnRef idx="2">
            <a:schemeClr val="dk1"/>
          </a:lnRef>
          <a:fillRef idx="1">
            <a:schemeClr val="lt1"/>
          </a:fillRef>
          <a:effectRef idx="0">
            <a:schemeClr val="dk1"/>
          </a:effectRef>
          <a:fontRef idx="minor">
            <a:schemeClr val="dk1"/>
          </a:fontRef>
        </p:style>
      </p:pic>
      <p:sp>
        <p:nvSpPr>
          <p:cNvPr id="60" name="Rectangle 59">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F0A95E9-DE80-483B-B705-327840EFF5A4}"/>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2852071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E80937-81AE-B5E5-789B-E22159A7DB42}"/>
              </a:ext>
            </a:extLst>
          </p:cNvPr>
          <p:cNvSpPr>
            <a:spLocks noGrp="1"/>
          </p:cNvSpPr>
          <p:nvPr>
            <p:ph type="title"/>
          </p:nvPr>
        </p:nvSpPr>
        <p:spPr>
          <a:xfrm>
            <a:off x="1136397" y="502021"/>
            <a:ext cx="4959603" cy="1642969"/>
          </a:xfrm>
        </p:spPr>
        <p:txBody>
          <a:bodyPr vert="horz" lIns="91440" tIns="45720" rIns="91440" bIns="45720" rtlCol="0" anchor="b">
            <a:normAutofit/>
          </a:bodyPr>
          <a:lstStyle/>
          <a:p>
            <a:r>
              <a:rPr lang="en-US" sz="4000" kern="1200">
                <a:solidFill>
                  <a:schemeClr val="tx1"/>
                </a:solidFill>
                <a:latin typeface="+mj-lt"/>
                <a:ea typeface="+mj-ea"/>
                <a:cs typeface="+mj-cs"/>
              </a:rPr>
              <a:t>Relative XPATH</a:t>
            </a:r>
            <a:br>
              <a:rPr lang="en-US" sz="4000" kern="1200">
                <a:solidFill>
                  <a:schemeClr val="tx1"/>
                </a:solidFill>
                <a:latin typeface="+mj-lt"/>
                <a:ea typeface="+mj-ea"/>
                <a:cs typeface="+mj-cs"/>
              </a:rPr>
            </a:br>
            <a:endParaRPr lang="en-US" sz="4000" kern="1200">
              <a:solidFill>
                <a:schemeClr val="tx1"/>
              </a:solidFill>
              <a:latin typeface="+mj-lt"/>
              <a:ea typeface="+mj-ea"/>
              <a:cs typeface="+mj-cs"/>
            </a:endParaRPr>
          </a:p>
        </p:txBody>
      </p:sp>
      <p:sp>
        <p:nvSpPr>
          <p:cNvPr id="5" name="TextBox 4">
            <a:extLst>
              <a:ext uri="{FF2B5EF4-FFF2-40B4-BE49-F238E27FC236}">
                <a16:creationId xmlns:a16="http://schemas.microsoft.com/office/drawing/2014/main" id="{373313A4-AD23-AB3A-BB94-538C444742B7}"/>
              </a:ext>
            </a:extLst>
          </p:cNvPr>
          <p:cNvSpPr txBox="1"/>
          <p:nvPr/>
        </p:nvSpPr>
        <p:spPr>
          <a:xfrm>
            <a:off x="510032" y="1893635"/>
            <a:ext cx="4959603" cy="3522569"/>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000" b="1" i="0" dirty="0">
                <a:effectLst/>
                <a:latin typeface="source-serif-pro"/>
              </a:rPr>
              <a:t>Relative XPath: </a:t>
            </a:r>
            <a:r>
              <a:rPr lang="en-US" sz="2000" b="0" i="0" dirty="0">
                <a:effectLst/>
                <a:latin typeface="source-serif-pro"/>
              </a:rPr>
              <a:t>In the case of relative XPath in Selenium, the XPath expression starts from anywhere in the DOM structure. It is represented by a double slash ‘//’ denoting the current node.</a:t>
            </a:r>
            <a:endParaRPr lang="en-US" sz="2000" dirty="0">
              <a:latin typeface="source-serif-pro"/>
            </a:endParaRPr>
          </a:p>
          <a:p>
            <a:pPr indent="-228600">
              <a:lnSpc>
                <a:spcPct val="90000"/>
              </a:lnSpc>
              <a:spcAft>
                <a:spcPts val="600"/>
              </a:spcAft>
              <a:buFont typeface="Arial" panose="020B0604020202020204" pitchFamily="34" charset="0"/>
              <a:buChar char="•"/>
            </a:pPr>
            <a:endParaRPr lang="en-US" sz="2000" b="1" dirty="0">
              <a:latin typeface="source-serif-pro"/>
            </a:endParaRPr>
          </a:p>
          <a:p>
            <a:pPr indent="-228600">
              <a:lnSpc>
                <a:spcPct val="90000"/>
              </a:lnSpc>
              <a:spcAft>
                <a:spcPts val="600"/>
              </a:spcAft>
              <a:buFont typeface="Arial" panose="020B0604020202020204" pitchFamily="34" charset="0"/>
              <a:buChar char="•"/>
            </a:pPr>
            <a:endParaRPr lang="en-US" sz="2000" b="1" dirty="0">
              <a:latin typeface="source-serif-pro"/>
            </a:endParaRPr>
          </a:p>
          <a:p>
            <a:pPr indent="-228600">
              <a:lnSpc>
                <a:spcPct val="90000"/>
              </a:lnSpc>
              <a:spcAft>
                <a:spcPts val="600"/>
              </a:spcAft>
              <a:buFont typeface="Arial" panose="020B0604020202020204" pitchFamily="34" charset="0"/>
              <a:buChar char="•"/>
            </a:pPr>
            <a:r>
              <a:rPr lang="en-US" sz="2000" b="1" dirty="0">
                <a:latin typeface="source-serif-pro"/>
              </a:rPr>
              <a:t>Syntax</a:t>
            </a:r>
            <a:r>
              <a:rPr lang="en-US" sz="2000" dirty="0">
                <a:latin typeface="source-serif-pro"/>
              </a:rPr>
              <a:t>: </a:t>
            </a:r>
            <a:r>
              <a:rPr lang="en-US" sz="2000" b="0" i="0" dirty="0">
                <a:effectLst/>
                <a:latin typeface="source-serif-pro"/>
              </a:rPr>
              <a:t> //div[@class='featured-box -column size']//h4[1]//b[1]</a:t>
            </a:r>
            <a:endParaRPr lang="en-US" sz="2000" dirty="0">
              <a:latin typeface="source-serif-pro"/>
            </a:endParaRPr>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pic>
        <p:nvPicPr>
          <p:cNvPr id="6" name="Picture 4" descr="Relative XPath">
            <a:extLst>
              <a:ext uri="{FF2B5EF4-FFF2-40B4-BE49-F238E27FC236}">
                <a16:creationId xmlns:a16="http://schemas.microsoft.com/office/drawing/2014/main" id="{FFFFE127-9F9A-6F4D-1281-47AD87E8ECC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836630" y="1893634"/>
            <a:ext cx="5876836" cy="3002215"/>
          </a:xfrm>
          <a:prstGeom prst="rect">
            <a:avLst/>
          </a:prstGeom>
        </p:spPr>
        <p:style>
          <a:lnRef idx="2">
            <a:schemeClr val="dk1"/>
          </a:lnRef>
          <a:fillRef idx="1">
            <a:schemeClr val="lt1"/>
          </a:fillRef>
          <a:effectRef idx="0">
            <a:schemeClr val="dk1"/>
          </a:effectRef>
          <a:fontRef idx="minor">
            <a:schemeClr val="dk1"/>
          </a:fontRef>
        </p:style>
      </p:pic>
      <p:sp>
        <p:nvSpPr>
          <p:cNvPr id="46" name="Rectangle 45">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DA970924-4E3B-973C-DC4D-13747A276FC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1323761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4AA642-5649-F103-C7A5-BE99F434DF86}"/>
              </a:ext>
            </a:extLst>
          </p:cNvPr>
          <p:cNvSpPr>
            <a:spLocks noGrp="1"/>
          </p:cNvSpPr>
          <p:nvPr>
            <p:ph type="title"/>
          </p:nvPr>
        </p:nvSpPr>
        <p:spPr>
          <a:xfrm>
            <a:off x="418225" y="1250994"/>
            <a:ext cx="3201366" cy="3387497"/>
          </a:xfrm>
        </p:spPr>
        <p:txBody>
          <a:bodyPr anchor="b">
            <a:normAutofit/>
          </a:bodyPr>
          <a:lstStyle/>
          <a:p>
            <a:pPr algn="r"/>
            <a:r>
              <a:rPr lang="en-US" sz="4000" dirty="0" err="1">
                <a:solidFill>
                  <a:srgbClr val="FFFFFF"/>
                </a:solidFill>
              </a:rPr>
              <a:t>Xpaths</a:t>
            </a:r>
            <a:r>
              <a:rPr lang="en-US" sz="4000" dirty="0">
                <a:solidFill>
                  <a:srgbClr val="FFFFFF"/>
                </a:solidFill>
              </a:rPr>
              <a:t> for Dynamic Elements</a:t>
            </a:r>
          </a:p>
        </p:txBody>
      </p:sp>
      <p:sp>
        <p:nvSpPr>
          <p:cNvPr id="3" name="Content Placeholder 2">
            <a:extLst>
              <a:ext uri="{FF2B5EF4-FFF2-40B4-BE49-F238E27FC236}">
                <a16:creationId xmlns:a16="http://schemas.microsoft.com/office/drawing/2014/main" id="{CE432A68-E059-FD5F-2206-F7B85135B181}"/>
              </a:ext>
            </a:extLst>
          </p:cNvPr>
          <p:cNvSpPr>
            <a:spLocks noGrp="1"/>
          </p:cNvSpPr>
          <p:nvPr>
            <p:ph idx="1"/>
          </p:nvPr>
        </p:nvSpPr>
        <p:spPr>
          <a:xfrm>
            <a:off x="4810259" y="649480"/>
            <a:ext cx="6555347" cy="5546047"/>
          </a:xfrm>
        </p:spPr>
        <p:txBody>
          <a:bodyPr anchor="ctr">
            <a:normAutofit/>
          </a:bodyPr>
          <a:lstStyle/>
          <a:p>
            <a:r>
              <a:rPr lang="en-US" sz="2000" b="0" i="0" dirty="0">
                <a:effectLst/>
                <a:latin typeface="source-serif-pro"/>
              </a:rPr>
              <a:t>Dynamic elements are the elements for which value is changing and we are not able to use single attribute to locate the web element. In this case we have bunch of methods or combination of operators etc. to write </a:t>
            </a:r>
            <a:r>
              <a:rPr lang="en-US" sz="2000" b="0" i="0" dirty="0" err="1">
                <a:effectLst/>
                <a:latin typeface="source-serif-pro"/>
              </a:rPr>
              <a:t>Xpath</a:t>
            </a:r>
            <a:r>
              <a:rPr lang="en-US" sz="2000" b="0" i="0" dirty="0">
                <a:effectLst/>
                <a:latin typeface="source-serif-pro"/>
              </a:rPr>
              <a:t>. </a:t>
            </a:r>
          </a:p>
          <a:p>
            <a:pPr marL="457200" indent="-457200">
              <a:buFont typeface="+mj-lt"/>
              <a:buAutoNum type="arabicPeriod"/>
            </a:pPr>
            <a:endParaRPr lang="en-US" sz="2000" dirty="0">
              <a:latin typeface="source-serif-pro"/>
            </a:endParaRPr>
          </a:p>
          <a:p>
            <a:pPr marL="457200" indent="-457200">
              <a:buFont typeface="+mj-lt"/>
              <a:buAutoNum type="arabicPeriod"/>
            </a:pPr>
            <a:r>
              <a:rPr lang="en-US" sz="2000" dirty="0">
                <a:latin typeface="source-serif-pro"/>
              </a:rPr>
              <a:t>Using ‘and’ Operator</a:t>
            </a:r>
          </a:p>
          <a:p>
            <a:pPr marL="457200" indent="-457200">
              <a:buFont typeface="+mj-lt"/>
              <a:buAutoNum type="arabicPeriod"/>
            </a:pPr>
            <a:r>
              <a:rPr lang="en-US" sz="2000" dirty="0">
                <a:latin typeface="source-serif-pro"/>
              </a:rPr>
              <a:t>Using ‘or’ Operator</a:t>
            </a:r>
          </a:p>
          <a:p>
            <a:pPr marL="457200" indent="-457200">
              <a:buFont typeface="+mj-lt"/>
              <a:buAutoNum type="arabicPeriod"/>
            </a:pPr>
            <a:r>
              <a:rPr lang="en-US" sz="2000" dirty="0">
                <a:latin typeface="source-serif-pro"/>
              </a:rPr>
              <a:t>Using ‘contains’</a:t>
            </a:r>
          </a:p>
          <a:p>
            <a:pPr marL="457200" indent="-457200">
              <a:buFont typeface="+mj-lt"/>
              <a:buAutoNum type="arabicPeriod"/>
            </a:pPr>
            <a:r>
              <a:rPr lang="en-US" sz="2000" dirty="0">
                <a:latin typeface="source-serif-pro"/>
              </a:rPr>
              <a:t>Using text()</a:t>
            </a:r>
          </a:p>
          <a:p>
            <a:pPr marL="457200" indent="-457200">
              <a:buFont typeface="+mj-lt"/>
              <a:buAutoNum type="arabicPeriod"/>
            </a:pPr>
            <a:r>
              <a:rPr lang="en-US" sz="2000" dirty="0">
                <a:latin typeface="source-serif-pro"/>
              </a:rPr>
              <a:t>Using Starts-with </a:t>
            </a:r>
          </a:p>
          <a:p>
            <a:pPr marL="457200" indent="-457200">
              <a:buFont typeface="+mj-lt"/>
              <a:buAutoNum type="arabicPeriod"/>
            </a:pPr>
            <a:r>
              <a:rPr lang="en-US" sz="2000" dirty="0" err="1">
                <a:latin typeface="source-serif-pro"/>
              </a:rPr>
              <a:t>Xpath</a:t>
            </a:r>
            <a:r>
              <a:rPr lang="en-US" sz="2000" dirty="0">
                <a:latin typeface="source-serif-pro"/>
              </a:rPr>
              <a:t> Axes methods</a:t>
            </a:r>
          </a:p>
          <a:p>
            <a:pPr marL="457200" indent="-457200">
              <a:buFont typeface="+mj-lt"/>
              <a:buAutoNum type="arabicPeriod"/>
            </a:pPr>
            <a:endParaRPr lang="en-US" sz="2000" b="0" i="0" dirty="0">
              <a:effectLst/>
              <a:latin typeface="source-serif-pro"/>
            </a:endParaRPr>
          </a:p>
        </p:txBody>
      </p:sp>
      <p:pic>
        <p:nvPicPr>
          <p:cNvPr id="4" name="Picture 3">
            <a:extLst>
              <a:ext uri="{FF2B5EF4-FFF2-40B4-BE49-F238E27FC236}">
                <a16:creationId xmlns:a16="http://schemas.microsoft.com/office/drawing/2014/main" id="{42E21DD4-C666-E01A-EE2C-B3D976C3B3DD}"/>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6090955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E80937-81AE-B5E5-789B-E22159A7DB42}"/>
              </a:ext>
            </a:extLst>
          </p:cNvPr>
          <p:cNvSpPr>
            <a:spLocks noGrp="1"/>
          </p:cNvSpPr>
          <p:nvPr>
            <p:ph type="title"/>
          </p:nvPr>
        </p:nvSpPr>
        <p:spPr>
          <a:xfrm>
            <a:off x="567230" y="235480"/>
            <a:ext cx="7494419" cy="1024153"/>
          </a:xfrm>
        </p:spPr>
        <p:txBody>
          <a:bodyPr vert="horz" lIns="91440" tIns="45720" rIns="91440" bIns="45720" rtlCol="0" anchor="b">
            <a:normAutofit/>
          </a:bodyPr>
          <a:lstStyle/>
          <a:p>
            <a:r>
              <a:rPr lang="en-US" sz="4000" kern="1200" dirty="0">
                <a:solidFill>
                  <a:schemeClr val="tx1"/>
                </a:solidFill>
                <a:latin typeface="+mj-lt"/>
                <a:ea typeface="+mj-ea"/>
                <a:cs typeface="+mj-cs"/>
              </a:rPr>
              <a:t>Using ‘AND’ operator</a:t>
            </a:r>
          </a:p>
        </p:txBody>
      </p:sp>
      <p:sp>
        <p:nvSpPr>
          <p:cNvPr id="5" name="TextBox 4">
            <a:extLst>
              <a:ext uri="{FF2B5EF4-FFF2-40B4-BE49-F238E27FC236}">
                <a16:creationId xmlns:a16="http://schemas.microsoft.com/office/drawing/2014/main" id="{373313A4-AD23-AB3A-BB94-538C444742B7}"/>
              </a:ext>
            </a:extLst>
          </p:cNvPr>
          <p:cNvSpPr txBox="1"/>
          <p:nvPr/>
        </p:nvSpPr>
        <p:spPr>
          <a:xfrm>
            <a:off x="167132" y="1720640"/>
            <a:ext cx="5533872" cy="3522569"/>
          </a:xfrm>
          <a:prstGeom prst="rect">
            <a:avLst/>
          </a:prstGeom>
        </p:spPr>
        <p:txBody>
          <a:bodyPr vert="horz" lIns="91440" tIns="45720" rIns="91440" bIns="45720" rtlCol="0" anchor="t">
            <a:normAutofit/>
          </a:bodyPr>
          <a:lstStyle/>
          <a:p>
            <a:pPr marL="342900" indent="-342900">
              <a:buFont typeface="Arial" panose="020B0604020202020204" pitchFamily="34" charset="0"/>
              <a:buChar char="•"/>
            </a:pPr>
            <a:r>
              <a:rPr lang="en-US" sz="2000" b="0" i="0" dirty="0">
                <a:effectLst/>
                <a:latin typeface="source-serif-pro"/>
              </a:rPr>
              <a:t>In this case we will be using more than one attribute to locate a web element. </a:t>
            </a:r>
          </a:p>
          <a:p>
            <a:endParaRPr lang="en-US" sz="2000" dirty="0">
              <a:latin typeface="source-serif-pro"/>
            </a:endParaRPr>
          </a:p>
          <a:p>
            <a:pPr marL="342900" indent="-342900">
              <a:buFont typeface="Arial" panose="020B0604020202020204" pitchFamily="34" charset="0"/>
              <a:buChar char="•"/>
            </a:pPr>
            <a:r>
              <a:rPr lang="en-US" sz="2000" b="0" i="0" dirty="0">
                <a:effectLst/>
                <a:latin typeface="source-serif-pro"/>
              </a:rPr>
              <a:t>Here both expressions needs to satisfy the condition.</a:t>
            </a:r>
          </a:p>
          <a:p>
            <a:endParaRPr lang="en-US" sz="2000" b="1" i="0" dirty="0">
              <a:effectLst/>
              <a:latin typeface="source-serif-pro"/>
            </a:endParaRPr>
          </a:p>
          <a:p>
            <a:r>
              <a:rPr lang="en-US" sz="2000" b="1" i="0" dirty="0">
                <a:effectLst/>
                <a:latin typeface="source-serif-pro"/>
              </a:rPr>
              <a:t>Syntax:</a:t>
            </a:r>
            <a:r>
              <a:rPr lang="en-US" sz="2000" b="0" i="0" dirty="0">
                <a:effectLst/>
                <a:latin typeface="source-serif-pro"/>
              </a:rPr>
              <a:t> //</a:t>
            </a:r>
            <a:r>
              <a:rPr lang="en-US" sz="2000" b="0" i="0" dirty="0" err="1">
                <a:effectLst/>
                <a:latin typeface="source-serif-pro"/>
              </a:rPr>
              <a:t>tagname</a:t>
            </a:r>
            <a:r>
              <a:rPr lang="en-US" sz="2000" b="0" i="0" dirty="0">
                <a:effectLst/>
                <a:latin typeface="source-serif-pro"/>
              </a:rPr>
              <a:t>[@att1=’value1’ </a:t>
            </a:r>
            <a:r>
              <a:rPr lang="en-US" sz="2000" b="1" i="0" dirty="0">
                <a:effectLst/>
                <a:latin typeface="source-serif-pro"/>
              </a:rPr>
              <a:t>and</a:t>
            </a:r>
            <a:r>
              <a:rPr lang="en-US" sz="2000" b="0" i="0" dirty="0">
                <a:effectLst/>
                <a:latin typeface="source-serif-pro"/>
              </a:rPr>
              <a:t> @att2=’value2’] </a:t>
            </a:r>
          </a:p>
          <a:p>
            <a:pPr marL="0" indent="0">
              <a:buNone/>
            </a:pPr>
            <a:r>
              <a:rPr lang="en-US" sz="2000" dirty="0">
                <a:latin typeface="source-serif-pro"/>
              </a:rPr>
              <a:t> </a:t>
            </a:r>
          </a:p>
          <a:p>
            <a:pPr marL="0" indent="0">
              <a:buNone/>
            </a:pPr>
            <a:r>
              <a:rPr lang="en-US" sz="2000" b="0" i="0" dirty="0">
                <a:effectLst/>
                <a:latin typeface="source-serif-pro"/>
              </a:rPr>
              <a:t>For </a:t>
            </a:r>
            <a:r>
              <a:rPr lang="en-US" sz="2000" b="0" i="0" dirty="0" err="1">
                <a:effectLst/>
                <a:latin typeface="source-serif-pro"/>
              </a:rPr>
              <a:t>eg.</a:t>
            </a:r>
            <a:r>
              <a:rPr lang="en-US" sz="2000" b="0" i="0" dirty="0">
                <a:effectLst/>
                <a:latin typeface="source-serif-pro"/>
              </a:rPr>
              <a:t> //div[@id=”f_name” and @name=”firstname”]</a:t>
            </a:r>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46" name="Rectangle 45">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55B082E3-953A-5C0C-9179-22A75DFE6D1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52" t="-11" r="9850" b="14280"/>
          <a:stretch/>
        </p:blipFill>
        <p:spPr bwMode="auto">
          <a:xfrm>
            <a:off x="5701004" y="1567086"/>
            <a:ext cx="6353708" cy="3723827"/>
          </a:xfrm>
          <a:prstGeom prst="rect">
            <a:avLst/>
          </a:prstGeom>
        </p:spPr>
        <p:style>
          <a:lnRef idx="2">
            <a:schemeClr val="dk1"/>
          </a:lnRef>
          <a:fillRef idx="1">
            <a:schemeClr val="lt1"/>
          </a:fillRef>
          <a:effectRef idx="0">
            <a:schemeClr val="dk1"/>
          </a:effectRef>
          <a:fontRef idx="minor">
            <a:schemeClr val="dk1"/>
          </a:fontRef>
        </p:style>
      </p:pic>
      <p:sp>
        <p:nvSpPr>
          <p:cNvPr id="7" name="Rectangle 6">
            <a:extLst>
              <a:ext uri="{FF2B5EF4-FFF2-40B4-BE49-F238E27FC236}">
                <a16:creationId xmlns:a16="http://schemas.microsoft.com/office/drawing/2014/main" id="{C0C9A313-D9FB-A63D-2E4E-F39AA80E0826}"/>
              </a:ext>
            </a:extLst>
          </p:cNvPr>
          <p:cNvSpPr/>
          <p:nvPr/>
        </p:nvSpPr>
        <p:spPr>
          <a:xfrm>
            <a:off x="9797143" y="3960091"/>
            <a:ext cx="1604865" cy="359982"/>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92CE97-F962-8A8A-A47E-C95D2719A4AD}"/>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
        <p:nvSpPr>
          <p:cNvPr id="11" name="Rectangle 10">
            <a:extLst>
              <a:ext uri="{FF2B5EF4-FFF2-40B4-BE49-F238E27FC236}">
                <a16:creationId xmlns:a16="http://schemas.microsoft.com/office/drawing/2014/main" id="{EF28904F-A624-5000-C036-1DD44F714450}"/>
              </a:ext>
            </a:extLst>
          </p:cNvPr>
          <p:cNvSpPr/>
          <p:nvPr/>
        </p:nvSpPr>
        <p:spPr>
          <a:xfrm>
            <a:off x="5924939" y="4637314"/>
            <a:ext cx="905069" cy="177282"/>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DA60DF8-ABFD-418D-8994-75F0D1C8AB61}"/>
              </a:ext>
            </a:extLst>
          </p:cNvPr>
          <p:cNvSpPr/>
          <p:nvPr/>
        </p:nvSpPr>
        <p:spPr>
          <a:xfrm>
            <a:off x="8798767" y="4637314"/>
            <a:ext cx="541176" cy="177282"/>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48984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E80937-81AE-B5E5-789B-E22159A7DB42}"/>
              </a:ext>
            </a:extLst>
          </p:cNvPr>
          <p:cNvSpPr>
            <a:spLocks noGrp="1"/>
          </p:cNvSpPr>
          <p:nvPr>
            <p:ph type="title"/>
          </p:nvPr>
        </p:nvSpPr>
        <p:spPr>
          <a:xfrm>
            <a:off x="567230" y="235480"/>
            <a:ext cx="7494419" cy="1024153"/>
          </a:xfrm>
        </p:spPr>
        <p:txBody>
          <a:bodyPr vert="horz" lIns="91440" tIns="45720" rIns="91440" bIns="45720" rtlCol="0" anchor="b">
            <a:normAutofit/>
          </a:bodyPr>
          <a:lstStyle/>
          <a:p>
            <a:r>
              <a:rPr lang="en-US" sz="4000" kern="1200" dirty="0">
                <a:solidFill>
                  <a:schemeClr val="tx1"/>
                </a:solidFill>
                <a:latin typeface="+mj-lt"/>
                <a:ea typeface="+mj-ea"/>
                <a:cs typeface="+mj-cs"/>
              </a:rPr>
              <a:t>Using ‘OR’ operator</a:t>
            </a:r>
          </a:p>
        </p:txBody>
      </p:sp>
      <p:sp>
        <p:nvSpPr>
          <p:cNvPr id="5" name="TextBox 4">
            <a:extLst>
              <a:ext uri="{FF2B5EF4-FFF2-40B4-BE49-F238E27FC236}">
                <a16:creationId xmlns:a16="http://schemas.microsoft.com/office/drawing/2014/main" id="{373313A4-AD23-AB3A-BB94-538C444742B7}"/>
              </a:ext>
            </a:extLst>
          </p:cNvPr>
          <p:cNvSpPr txBox="1"/>
          <p:nvPr/>
        </p:nvSpPr>
        <p:spPr>
          <a:xfrm>
            <a:off x="167132" y="1720640"/>
            <a:ext cx="5347260" cy="3859066"/>
          </a:xfrm>
          <a:prstGeom prst="rect">
            <a:avLst/>
          </a:prstGeom>
        </p:spPr>
        <p:txBody>
          <a:bodyPr vert="horz" lIns="91440" tIns="45720" rIns="91440" bIns="45720" rtlCol="0" anchor="t">
            <a:normAutofit/>
          </a:bodyPr>
          <a:lstStyle/>
          <a:p>
            <a:pPr marL="342900" indent="-342900">
              <a:buFont typeface="Arial" panose="020B0604020202020204" pitchFamily="34" charset="0"/>
              <a:buChar char="•"/>
            </a:pPr>
            <a:r>
              <a:rPr lang="en-US" sz="2000" b="0" i="0" dirty="0">
                <a:solidFill>
                  <a:srgbClr val="242424"/>
                </a:solidFill>
                <a:effectLst/>
                <a:latin typeface="source-serif-pro"/>
              </a:rPr>
              <a:t>In this case we will be using more than one attribute to locate the </a:t>
            </a:r>
            <a:r>
              <a:rPr lang="en-US" sz="2000" b="0" i="0" dirty="0" err="1">
                <a:solidFill>
                  <a:srgbClr val="242424"/>
                </a:solidFill>
                <a:effectLst/>
                <a:latin typeface="source-serif-pro"/>
              </a:rPr>
              <a:t>webelement</a:t>
            </a:r>
            <a:r>
              <a:rPr lang="en-US" sz="2000" b="0" i="0" dirty="0">
                <a:solidFill>
                  <a:srgbClr val="242424"/>
                </a:solidFill>
                <a:effectLst/>
                <a:latin typeface="source-serif-pro"/>
              </a:rPr>
              <a:t> using ‘or’ operator. We use this in the cases where element locator values can change</a:t>
            </a:r>
            <a:r>
              <a:rPr lang="en-US" sz="2000" b="0" i="0" dirty="0">
                <a:effectLst/>
                <a:latin typeface="source-serif-pro"/>
              </a:rPr>
              <a:t>.</a:t>
            </a:r>
          </a:p>
          <a:p>
            <a:pPr marL="342900" indent="-342900">
              <a:buFont typeface="Arial" panose="020B0604020202020204" pitchFamily="34" charset="0"/>
              <a:buChar char="•"/>
            </a:pPr>
            <a:endParaRPr lang="en-US" sz="2000" b="0" i="0" dirty="0">
              <a:solidFill>
                <a:srgbClr val="242424"/>
              </a:solidFill>
              <a:effectLst/>
              <a:latin typeface="source-serif-pro"/>
            </a:endParaRPr>
          </a:p>
          <a:p>
            <a:pPr marL="342900" indent="-342900">
              <a:buFont typeface="Arial" panose="020B0604020202020204" pitchFamily="34" charset="0"/>
              <a:buChar char="•"/>
            </a:pPr>
            <a:r>
              <a:rPr lang="en-US" sz="2000" b="0" i="0" dirty="0">
                <a:solidFill>
                  <a:srgbClr val="242424"/>
                </a:solidFill>
                <a:effectLst/>
                <a:latin typeface="source-serif-pro"/>
              </a:rPr>
              <a:t>For </a:t>
            </a:r>
            <a:r>
              <a:rPr lang="en-US" sz="2000" b="0" i="0" dirty="0" err="1">
                <a:solidFill>
                  <a:srgbClr val="242424"/>
                </a:solidFill>
                <a:effectLst/>
                <a:latin typeface="source-serif-pro"/>
              </a:rPr>
              <a:t>eg.</a:t>
            </a:r>
            <a:r>
              <a:rPr lang="en-US" sz="2000" b="0" i="0" dirty="0">
                <a:solidFill>
                  <a:srgbClr val="242424"/>
                </a:solidFill>
                <a:effectLst/>
                <a:latin typeface="source-serif-pro"/>
              </a:rPr>
              <a:t> for Login, sometimes word ‘Sign In’ can also be used as an alternative to ‘Login’.</a:t>
            </a:r>
            <a:r>
              <a:rPr lang="en-US" sz="2000" b="0" i="0" dirty="0">
                <a:effectLst/>
                <a:latin typeface="source-serif-pro"/>
              </a:rPr>
              <a:t> </a:t>
            </a:r>
          </a:p>
          <a:p>
            <a:endParaRPr lang="en-US" sz="2000" b="1" i="0" dirty="0">
              <a:effectLst/>
              <a:latin typeface="source-serif-pro"/>
            </a:endParaRPr>
          </a:p>
          <a:p>
            <a:r>
              <a:rPr lang="en-US" sz="2000" b="1" dirty="0">
                <a:latin typeface="source-serif-pro"/>
              </a:rPr>
              <a:t>     </a:t>
            </a:r>
            <a:r>
              <a:rPr lang="en-US" sz="2000" b="1" i="0" dirty="0">
                <a:effectLst/>
                <a:latin typeface="source-serif-pro"/>
              </a:rPr>
              <a:t>Syntax:</a:t>
            </a:r>
            <a:r>
              <a:rPr lang="en-US" sz="2000" b="0" i="0" dirty="0">
                <a:effectLst/>
                <a:latin typeface="source-serif-pro"/>
              </a:rPr>
              <a:t> </a:t>
            </a:r>
            <a:r>
              <a:rPr lang="en-US" sz="2000" b="0" i="0" dirty="0">
                <a:solidFill>
                  <a:srgbClr val="242424"/>
                </a:solidFill>
                <a:effectLst/>
                <a:latin typeface="source-serif-pro"/>
              </a:rPr>
              <a:t>//</a:t>
            </a:r>
            <a:r>
              <a:rPr lang="en-US" sz="2000" b="0" i="0" dirty="0" err="1">
                <a:solidFill>
                  <a:srgbClr val="242424"/>
                </a:solidFill>
                <a:effectLst/>
                <a:latin typeface="source-serif-pro"/>
              </a:rPr>
              <a:t>tagname</a:t>
            </a:r>
            <a:r>
              <a:rPr lang="en-US" sz="2000" b="0" i="0" dirty="0">
                <a:solidFill>
                  <a:srgbClr val="242424"/>
                </a:solidFill>
                <a:effectLst/>
                <a:latin typeface="source-serif-pro"/>
              </a:rPr>
              <a:t>[@att1=’value1’ or @att2             	   =’value2’]</a:t>
            </a: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46" name="Rectangle 45">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55665D8-8890-C37A-2F5E-2337E3ADF8F9}"/>
              </a:ext>
            </a:extLst>
          </p:cNvPr>
          <p:cNvPicPr>
            <a:picLocks noChangeAspect="1"/>
          </p:cNvPicPr>
          <p:nvPr/>
        </p:nvPicPr>
        <p:blipFill rotWithShape="1">
          <a:blip r:embed="rId2"/>
          <a:srcRect l="9921" r="1949" b="13234"/>
          <a:stretch/>
        </p:blipFill>
        <p:spPr>
          <a:xfrm>
            <a:off x="5579706" y="1614790"/>
            <a:ext cx="6445162" cy="3522569"/>
          </a:xfrm>
          <a:prstGeom prst="rect">
            <a:avLst/>
          </a:prstGeom>
        </p:spPr>
        <p:style>
          <a:lnRef idx="2">
            <a:schemeClr val="dk1"/>
          </a:lnRef>
          <a:fillRef idx="1">
            <a:schemeClr val="lt1"/>
          </a:fillRef>
          <a:effectRef idx="0">
            <a:schemeClr val="dk1"/>
          </a:effectRef>
          <a:fontRef idx="minor">
            <a:schemeClr val="dk1"/>
          </a:fontRef>
        </p:style>
      </p:pic>
      <p:sp>
        <p:nvSpPr>
          <p:cNvPr id="4" name="Rectangle 3">
            <a:extLst>
              <a:ext uri="{FF2B5EF4-FFF2-40B4-BE49-F238E27FC236}">
                <a16:creationId xmlns:a16="http://schemas.microsoft.com/office/drawing/2014/main" id="{E304FF7C-6867-435D-BF3A-36E00172CFB4}"/>
              </a:ext>
            </a:extLst>
          </p:cNvPr>
          <p:cNvSpPr/>
          <p:nvPr/>
        </p:nvSpPr>
        <p:spPr>
          <a:xfrm>
            <a:off x="9414588" y="4113206"/>
            <a:ext cx="1483567" cy="272182"/>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D362494F-664B-2C69-770A-CB5DD530E785}"/>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2545467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E80937-81AE-B5E5-789B-E22159A7DB42}"/>
              </a:ext>
            </a:extLst>
          </p:cNvPr>
          <p:cNvSpPr>
            <a:spLocks noGrp="1"/>
          </p:cNvSpPr>
          <p:nvPr>
            <p:ph type="title"/>
          </p:nvPr>
        </p:nvSpPr>
        <p:spPr>
          <a:xfrm>
            <a:off x="567230" y="235480"/>
            <a:ext cx="7494419" cy="1024153"/>
          </a:xfrm>
        </p:spPr>
        <p:txBody>
          <a:bodyPr vert="horz" lIns="91440" tIns="45720" rIns="91440" bIns="45720" rtlCol="0" anchor="b">
            <a:normAutofit/>
          </a:bodyPr>
          <a:lstStyle/>
          <a:p>
            <a:r>
              <a:rPr lang="en-US" sz="4000" kern="1200" dirty="0">
                <a:solidFill>
                  <a:schemeClr val="tx1"/>
                </a:solidFill>
                <a:latin typeface="+mj-lt"/>
                <a:ea typeface="+mj-ea"/>
                <a:cs typeface="+mj-cs"/>
              </a:rPr>
              <a:t>Using </a:t>
            </a:r>
            <a:r>
              <a:rPr lang="en-US" sz="4000" dirty="0"/>
              <a:t>‘contains’</a:t>
            </a:r>
            <a:endParaRPr lang="en-US" sz="4000" kern="1200" dirty="0">
              <a:solidFill>
                <a:schemeClr val="tx1"/>
              </a:solidFill>
              <a:latin typeface="+mj-lt"/>
              <a:ea typeface="+mj-ea"/>
              <a:cs typeface="+mj-cs"/>
            </a:endParaRPr>
          </a:p>
        </p:txBody>
      </p:sp>
      <p:sp>
        <p:nvSpPr>
          <p:cNvPr id="5" name="TextBox 4">
            <a:extLst>
              <a:ext uri="{FF2B5EF4-FFF2-40B4-BE49-F238E27FC236}">
                <a16:creationId xmlns:a16="http://schemas.microsoft.com/office/drawing/2014/main" id="{373313A4-AD23-AB3A-BB94-538C444742B7}"/>
              </a:ext>
            </a:extLst>
          </p:cNvPr>
          <p:cNvSpPr txBox="1"/>
          <p:nvPr/>
        </p:nvSpPr>
        <p:spPr>
          <a:xfrm>
            <a:off x="167132" y="1720640"/>
            <a:ext cx="5533872" cy="3522569"/>
          </a:xfrm>
          <a:prstGeom prst="rect">
            <a:avLst/>
          </a:prstGeom>
        </p:spPr>
        <p:txBody>
          <a:bodyPr vert="horz" lIns="91440" tIns="45720" rIns="91440" bIns="45720" rtlCol="0" anchor="t">
            <a:normAutofit/>
          </a:bodyPr>
          <a:lstStyle/>
          <a:p>
            <a:pPr marL="342900" indent="-342900">
              <a:buFont typeface="Arial" panose="020B0604020202020204" pitchFamily="34" charset="0"/>
              <a:buChar char="•"/>
            </a:pPr>
            <a:r>
              <a:rPr lang="en-US" sz="2000" b="0" i="0" dirty="0">
                <a:solidFill>
                  <a:srgbClr val="242424"/>
                </a:solidFill>
                <a:effectLst/>
                <a:latin typeface="source-serif-pro"/>
              </a:rPr>
              <a:t>This is very useful when user do not want to use the complete value of the attribute, or attribute value is not always fixed.</a:t>
            </a:r>
            <a:endParaRPr lang="en-US" sz="2000" b="1" i="0" dirty="0">
              <a:effectLst/>
              <a:latin typeface="source-serif-pro"/>
            </a:endParaRPr>
          </a:p>
          <a:p>
            <a:endParaRPr lang="en-US" sz="2000" b="1" i="0" dirty="0">
              <a:effectLst/>
              <a:latin typeface="source-serif-pro"/>
            </a:endParaRPr>
          </a:p>
          <a:p>
            <a:endParaRPr lang="en-US" sz="2000" b="1" dirty="0">
              <a:latin typeface="source-serif-pro"/>
            </a:endParaRPr>
          </a:p>
          <a:p>
            <a:r>
              <a:rPr lang="en-US" sz="2000" b="1" i="0" dirty="0">
                <a:effectLst/>
                <a:latin typeface="source-serif-pro"/>
              </a:rPr>
              <a:t>Syntax:</a:t>
            </a:r>
            <a:r>
              <a:rPr lang="en-US" sz="2000" b="0" i="0" dirty="0">
                <a:effectLst/>
                <a:latin typeface="source-serif-pro"/>
              </a:rPr>
              <a:t> </a:t>
            </a:r>
            <a:r>
              <a:rPr lang="en-US" sz="2000" b="0" i="0" dirty="0">
                <a:solidFill>
                  <a:srgbClr val="242424"/>
                </a:solidFill>
                <a:effectLst/>
                <a:latin typeface="source-serif-pro"/>
              </a:rPr>
              <a:t>//</a:t>
            </a:r>
            <a:r>
              <a:rPr lang="en-US" sz="2000" b="0" i="0" dirty="0" err="1">
                <a:solidFill>
                  <a:srgbClr val="242424"/>
                </a:solidFill>
                <a:effectLst/>
                <a:latin typeface="source-serif-pro"/>
              </a:rPr>
              <a:t>tagname</a:t>
            </a:r>
            <a:r>
              <a:rPr lang="en-US" sz="2000" b="0" i="0" dirty="0">
                <a:solidFill>
                  <a:srgbClr val="242424"/>
                </a:solidFill>
                <a:effectLst/>
                <a:latin typeface="source-serif-pro"/>
              </a:rPr>
              <a:t>[contains(@att, ’value’)]</a:t>
            </a:r>
          </a:p>
          <a:p>
            <a:endParaRPr lang="en-US" sz="2000" dirty="0">
              <a:solidFill>
                <a:srgbClr val="242424"/>
              </a:solidFill>
              <a:latin typeface="source-serif-pro"/>
            </a:endParaRPr>
          </a:p>
          <a:p>
            <a:r>
              <a:rPr lang="en-US" sz="2000" dirty="0">
                <a:solidFill>
                  <a:srgbClr val="242424"/>
                </a:solidFill>
                <a:latin typeface="source-serif-pro"/>
              </a:rPr>
              <a:t>For ex. </a:t>
            </a:r>
            <a:r>
              <a:rPr lang="en-US" sz="2000" b="0" i="0" dirty="0">
                <a:solidFill>
                  <a:srgbClr val="242424"/>
                </a:solidFill>
                <a:effectLst/>
                <a:latin typeface="source-serif-pro"/>
              </a:rPr>
              <a:t>//</a:t>
            </a:r>
            <a:r>
              <a:rPr lang="en-US" sz="2000" b="0" i="0" dirty="0" err="1">
                <a:solidFill>
                  <a:srgbClr val="242424"/>
                </a:solidFill>
                <a:effectLst/>
                <a:latin typeface="source-serif-pro"/>
              </a:rPr>
              <a:t>tagname</a:t>
            </a:r>
            <a:r>
              <a:rPr lang="en-US" sz="2000" b="0" i="0" dirty="0">
                <a:solidFill>
                  <a:srgbClr val="242424"/>
                </a:solidFill>
                <a:effectLst/>
                <a:latin typeface="source-serif-pro"/>
              </a:rPr>
              <a:t>[contains(text(), ’value’)]</a:t>
            </a: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46" name="Rectangle 45">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XPath in Selenium WebDriver: Complete Tutorial">
            <a:extLst>
              <a:ext uri="{FF2B5EF4-FFF2-40B4-BE49-F238E27FC236}">
                <a16:creationId xmlns:a16="http://schemas.microsoft.com/office/drawing/2014/main" id="{513FC7CF-A3CD-6427-E2C9-7116DAE1D0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68234" y="969961"/>
            <a:ext cx="5686425" cy="475297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C37CB187-F637-8F1A-20B8-2C95B9856B5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1506714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E80937-81AE-B5E5-789B-E22159A7DB42}"/>
              </a:ext>
            </a:extLst>
          </p:cNvPr>
          <p:cNvSpPr>
            <a:spLocks noGrp="1"/>
          </p:cNvSpPr>
          <p:nvPr>
            <p:ph type="title"/>
          </p:nvPr>
        </p:nvSpPr>
        <p:spPr>
          <a:xfrm>
            <a:off x="546235" y="216780"/>
            <a:ext cx="7494419" cy="1024153"/>
          </a:xfrm>
        </p:spPr>
        <p:txBody>
          <a:bodyPr vert="horz" lIns="91440" tIns="45720" rIns="91440" bIns="45720" rtlCol="0" anchor="b">
            <a:normAutofit/>
          </a:bodyPr>
          <a:lstStyle/>
          <a:p>
            <a:r>
              <a:rPr lang="en-US" sz="4000" kern="1200" dirty="0">
                <a:solidFill>
                  <a:schemeClr val="tx1"/>
                </a:solidFill>
                <a:latin typeface="+mj-lt"/>
                <a:ea typeface="+mj-ea"/>
                <a:cs typeface="+mj-cs"/>
              </a:rPr>
              <a:t>Using </a:t>
            </a:r>
            <a:r>
              <a:rPr lang="en-US" sz="4000" dirty="0"/>
              <a:t>‘text()’</a:t>
            </a:r>
            <a:endParaRPr lang="en-US" sz="4000" kern="1200" dirty="0">
              <a:solidFill>
                <a:schemeClr val="tx1"/>
              </a:solidFill>
              <a:latin typeface="+mj-lt"/>
              <a:ea typeface="+mj-ea"/>
              <a:cs typeface="+mj-cs"/>
            </a:endParaRPr>
          </a:p>
        </p:txBody>
      </p:sp>
      <p:sp>
        <p:nvSpPr>
          <p:cNvPr id="5" name="TextBox 4">
            <a:extLst>
              <a:ext uri="{FF2B5EF4-FFF2-40B4-BE49-F238E27FC236}">
                <a16:creationId xmlns:a16="http://schemas.microsoft.com/office/drawing/2014/main" id="{373313A4-AD23-AB3A-BB94-538C444742B7}"/>
              </a:ext>
            </a:extLst>
          </p:cNvPr>
          <p:cNvSpPr txBox="1"/>
          <p:nvPr/>
        </p:nvSpPr>
        <p:spPr>
          <a:xfrm>
            <a:off x="396874" y="1741829"/>
            <a:ext cx="5533872" cy="3522569"/>
          </a:xfrm>
          <a:prstGeom prst="rect">
            <a:avLst/>
          </a:prstGeom>
        </p:spPr>
        <p:txBody>
          <a:bodyPr vert="horz" lIns="91440" tIns="45720" rIns="91440" bIns="45720" rtlCol="0" anchor="t">
            <a:normAutofit/>
          </a:bodyPr>
          <a:lstStyle/>
          <a:p>
            <a:pPr marL="342900" indent="-342900">
              <a:buFont typeface="Arial" panose="020B0604020202020204" pitchFamily="34" charset="0"/>
              <a:buChar char="•"/>
            </a:pPr>
            <a:r>
              <a:rPr lang="en-US" sz="2000" b="0" i="0" dirty="0">
                <a:solidFill>
                  <a:srgbClr val="222222"/>
                </a:solidFill>
                <a:effectLst/>
                <a:latin typeface="Source Sans Pro" panose="020B0503030403020204" pitchFamily="34" charset="0"/>
              </a:rPr>
              <a:t>The </a:t>
            </a:r>
            <a:r>
              <a:rPr lang="en-US" sz="2000" i="0" dirty="0">
                <a:solidFill>
                  <a:srgbClr val="222222"/>
                </a:solidFill>
                <a:effectLst/>
                <a:latin typeface="Source Sans Pro" panose="020B0503030403020204" pitchFamily="34" charset="0"/>
              </a:rPr>
              <a:t>XPath</a:t>
            </a:r>
            <a:r>
              <a:rPr lang="en-US" sz="2000" b="1" i="0" dirty="0">
                <a:solidFill>
                  <a:srgbClr val="222222"/>
                </a:solidFill>
                <a:effectLst/>
                <a:latin typeface="Source Sans Pro" panose="020B0503030403020204" pitchFamily="34" charset="0"/>
              </a:rPr>
              <a:t> text() function</a:t>
            </a:r>
            <a:r>
              <a:rPr lang="en-US" sz="2000" b="0" i="0" dirty="0">
                <a:solidFill>
                  <a:srgbClr val="222222"/>
                </a:solidFill>
                <a:effectLst/>
                <a:latin typeface="Source Sans Pro" panose="020B0503030403020204" pitchFamily="34" charset="0"/>
              </a:rPr>
              <a:t> is a built-in function of selenium </a:t>
            </a:r>
            <a:r>
              <a:rPr lang="en-US" sz="2000" b="0" i="0" dirty="0" err="1">
                <a:solidFill>
                  <a:srgbClr val="222222"/>
                </a:solidFill>
                <a:effectLst/>
                <a:latin typeface="Source Sans Pro" panose="020B0503030403020204" pitchFamily="34" charset="0"/>
              </a:rPr>
              <a:t>webdriver</a:t>
            </a:r>
            <a:r>
              <a:rPr lang="en-US" sz="2000" b="0" i="0" dirty="0">
                <a:solidFill>
                  <a:srgbClr val="222222"/>
                </a:solidFill>
                <a:effectLst/>
                <a:latin typeface="Source Sans Pro" panose="020B0503030403020204" pitchFamily="34" charset="0"/>
              </a:rPr>
              <a:t> which is used to locate elements based on text of a web element.</a:t>
            </a:r>
          </a:p>
          <a:p>
            <a:pPr marL="342900" indent="-342900">
              <a:buFont typeface="Arial" panose="020B0604020202020204" pitchFamily="34" charset="0"/>
              <a:buChar char="•"/>
            </a:pPr>
            <a:endParaRPr lang="en-US" sz="2000" b="0" i="0" dirty="0">
              <a:solidFill>
                <a:srgbClr val="222222"/>
              </a:solidFill>
              <a:effectLst/>
              <a:latin typeface="Source Sans Pro" panose="020B0503030403020204" pitchFamily="34" charset="0"/>
            </a:endParaRPr>
          </a:p>
          <a:p>
            <a:pPr marL="342900" indent="-342900">
              <a:buFont typeface="Arial" panose="020B0604020202020204" pitchFamily="34" charset="0"/>
              <a:buChar char="•"/>
            </a:pPr>
            <a:r>
              <a:rPr lang="en-US" sz="2000" b="0" i="0" dirty="0">
                <a:solidFill>
                  <a:srgbClr val="222222"/>
                </a:solidFill>
                <a:effectLst/>
                <a:latin typeface="Source Sans Pro" panose="020B0503030403020204" pitchFamily="34" charset="0"/>
              </a:rPr>
              <a:t>It helps to find the exact text elements</a:t>
            </a:r>
            <a:endParaRPr lang="en-US" sz="2000" b="1" i="0" dirty="0">
              <a:effectLst/>
              <a:latin typeface="source-serif-pro"/>
            </a:endParaRPr>
          </a:p>
          <a:p>
            <a:endParaRPr lang="en-US" sz="2000" b="1" dirty="0">
              <a:latin typeface="source-serif-pro"/>
            </a:endParaRPr>
          </a:p>
          <a:p>
            <a:r>
              <a:rPr lang="en-US" sz="2000" b="1" i="0" dirty="0">
                <a:effectLst/>
                <a:latin typeface="source-serif-pro"/>
              </a:rPr>
              <a:t>Syntax:</a:t>
            </a:r>
            <a:r>
              <a:rPr lang="en-US" sz="2000" b="0" i="0" dirty="0">
                <a:effectLst/>
                <a:latin typeface="source-serif-pro"/>
              </a:rPr>
              <a:t> </a:t>
            </a:r>
            <a:r>
              <a:rPr lang="en-US" sz="2000" b="0" i="0" dirty="0">
                <a:solidFill>
                  <a:srgbClr val="242424"/>
                </a:solidFill>
                <a:effectLst/>
                <a:latin typeface="source-serif-pro"/>
              </a:rPr>
              <a:t> //</a:t>
            </a:r>
            <a:r>
              <a:rPr lang="en-US" sz="2000" b="0" i="0" dirty="0" err="1">
                <a:solidFill>
                  <a:srgbClr val="242424"/>
                </a:solidFill>
                <a:effectLst/>
                <a:latin typeface="source-serif-pro"/>
              </a:rPr>
              <a:t>tagname</a:t>
            </a:r>
            <a:r>
              <a:rPr lang="en-US" sz="2000" b="0" i="0" dirty="0">
                <a:solidFill>
                  <a:srgbClr val="242424"/>
                </a:solidFill>
                <a:effectLst/>
                <a:latin typeface="source-serif-pro"/>
              </a:rPr>
              <a:t>[text(), ’value’)]</a:t>
            </a:r>
            <a:r>
              <a:rPr lang="en-US" sz="2000" dirty="0">
                <a:solidFill>
                  <a:srgbClr val="242424"/>
                </a:solidFill>
                <a:latin typeface="source-serif-pro"/>
              </a:rPr>
              <a:t> </a:t>
            </a:r>
          </a:p>
          <a:p>
            <a:endParaRPr lang="en-US" sz="2000" dirty="0">
              <a:solidFill>
                <a:srgbClr val="242424"/>
              </a:solidFill>
              <a:latin typeface="source-serif-pro"/>
            </a:endParaRPr>
          </a:p>
          <a:p>
            <a:r>
              <a:rPr lang="en-US" sz="2000" dirty="0">
                <a:solidFill>
                  <a:srgbClr val="242424"/>
                </a:solidFill>
                <a:latin typeface="source-serif-pro"/>
              </a:rPr>
              <a:t>For ex.  </a:t>
            </a:r>
            <a:r>
              <a:rPr lang="en-US" sz="2000" dirty="0" err="1">
                <a:solidFill>
                  <a:srgbClr val="242424"/>
                </a:solidFill>
                <a:latin typeface="source-serif-pro"/>
              </a:rPr>
              <a:t>Xpath</a:t>
            </a:r>
            <a:r>
              <a:rPr lang="en-US" sz="2000" dirty="0">
                <a:solidFill>
                  <a:srgbClr val="242424"/>
                </a:solidFill>
                <a:latin typeface="source-serif-pro"/>
              </a:rPr>
              <a:t>=//td[text()='</a:t>
            </a:r>
            <a:r>
              <a:rPr lang="en-US" sz="2000" dirty="0" err="1">
                <a:solidFill>
                  <a:srgbClr val="242424"/>
                </a:solidFill>
                <a:latin typeface="source-serif-pro"/>
              </a:rPr>
              <a:t>UserID</a:t>
            </a:r>
            <a:r>
              <a:rPr lang="en-US" sz="2000" dirty="0">
                <a:solidFill>
                  <a:srgbClr val="242424"/>
                </a:solidFill>
                <a:latin typeface="source-serif-pro"/>
              </a:rPr>
              <a:t>’]</a:t>
            </a:r>
          </a:p>
          <a:p>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46" name="Rectangle 45">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XPath Text() Function">
            <a:extLst>
              <a:ext uri="{FF2B5EF4-FFF2-40B4-BE49-F238E27FC236}">
                <a16:creationId xmlns:a16="http://schemas.microsoft.com/office/drawing/2014/main" id="{26A484FF-2BE5-C02F-22DA-A46678A0A7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599771"/>
            <a:ext cx="5915025" cy="40386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73BFF2F-7965-7E70-3EA0-FEDD4278B33A}"/>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8044780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E80937-81AE-B5E5-789B-E22159A7DB42}"/>
              </a:ext>
            </a:extLst>
          </p:cNvPr>
          <p:cNvSpPr>
            <a:spLocks noGrp="1"/>
          </p:cNvSpPr>
          <p:nvPr>
            <p:ph type="title"/>
          </p:nvPr>
        </p:nvSpPr>
        <p:spPr>
          <a:xfrm>
            <a:off x="480850" y="96311"/>
            <a:ext cx="7494419" cy="1024153"/>
          </a:xfrm>
        </p:spPr>
        <p:txBody>
          <a:bodyPr vert="horz" lIns="91440" tIns="45720" rIns="91440" bIns="45720" rtlCol="0" anchor="b">
            <a:normAutofit/>
          </a:bodyPr>
          <a:lstStyle/>
          <a:p>
            <a:r>
              <a:rPr lang="en-US" sz="4000" kern="1200" dirty="0">
                <a:solidFill>
                  <a:schemeClr val="tx1"/>
                </a:solidFill>
                <a:latin typeface="+mj-lt"/>
                <a:ea typeface="+mj-ea"/>
                <a:cs typeface="+mj-cs"/>
              </a:rPr>
              <a:t>Using </a:t>
            </a:r>
            <a:r>
              <a:rPr lang="en-US" sz="4000" dirty="0"/>
              <a:t>‘starts-with()’</a:t>
            </a:r>
            <a:endParaRPr lang="en-US" sz="4000" kern="1200" dirty="0">
              <a:solidFill>
                <a:schemeClr val="tx1"/>
              </a:solidFill>
              <a:latin typeface="+mj-lt"/>
              <a:ea typeface="+mj-ea"/>
              <a:cs typeface="+mj-cs"/>
            </a:endParaRPr>
          </a:p>
        </p:txBody>
      </p:sp>
      <p:sp>
        <p:nvSpPr>
          <p:cNvPr id="5" name="TextBox 4">
            <a:extLst>
              <a:ext uri="{FF2B5EF4-FFF2-40B4-BE49-F238E27FC236}">
                <a16:creationId xmlns:a16="http://schemas.microsoft.com/office/drawing/2014/main" id="{373313A4-AD23-AB3A-BB94-538C444742B7}"/>
              </a:ext>
            </a:extLst>
          </p:cNvPr>
          <p:cNvSpPr txBox="1"/>
          <p:nvPr/>
        </p:nvSpPr>
        <p:spPr>
          <a:xfrm>
            <a:off x="185814" y="1449587"/>
            <a:ext cx="5343372" cy="4568657"/>
          </a:xfrm>
          <a:prstGeom prst="rect">
            <a:avLst/>
          </a:prstGeom>
        </p:spPr>
        <p:txBody>
          <a:bodyPr vert="horz" lIns="91440" tIns="45720" rIns="91440" bIns="45720" rtlCol="0" anchor="t">
            <a:normAutofit lnSpcReduction="10000"/>
          </a:bodyPr>
          <a:lstStyle/>
          <a:p>
            <a:pPr marL="342900" indent="-342900">
              <a:buFont typeface="Arial" panose="020B0604020202020204" pitchFamily="34" charset="0"/>
              <a:buChar char="•"/>
            </a:pPr>
            <a:r>
              <a:rPr lang="en-US" sz="2000" i="0" dirty="0">
                <a:solidFill>
                  <a:srgbClr val="222222"/>
                </a:solidFill>
                <a:effectLst/>
                <a:latin typeface="Source Sans Pro" panose="020B0503030403020204" pitchFamily="34" charset="0"/>
              </a:rPr>
              <a:t>XPath</a:t>
            </a:r>
            <a:r>
              <a:rPr lang="en-US" sz="2000" b="1" i="0" dirty="0">
                <a:solidFill>
                  <a:srgbClr val="222222"/>
                </a:solidFill>
                <a:effectLst/>
                <a:latin typeface="Source Sans Pro" panose="020B0503030403020204" pitchFamily="34" charset="0"/>
              </a:rPr>
              <a:t> starts-with()</a:t>
            </a:r>
            <a:r>
              <a:rPr lang="en-US" sz="2000" b="0" i="0" dirty="0">
                <a:solidFill>
                  <a:srgbClr val="222222"/>
                </a:solidFill>
                <a:effectLst/>
                <a:latin typeface="Source Sans Pro" panose="020B0503030403020204" pitchFamily="34" charset="0"/>
              </a:rPr>
              <a:t> is a function used for finding the web element whose attribute value gets changed on refresh or by other dynamic operations on the webpage</a:t>
            </a:r>
          </a:p>
          <a:p>
            <a:pPr marL="342900" indent="-342900">
              <a:buFont typeface="Arial" panose="020B0604020202020204" pitchFamily="34" charset="0"/>
              <a:buChar char="•"/>
            </a:pPr>
            <a:endParaRPr lang="en-US" sz="2000" b="0" i="0" dirty="0">
              <a:solidFill>
                <a:srgbClr val="222222"/>
              </a:solidFill>
              <a:effectLst/>
              <a:latin typeface="Source Sans Pro" panose="020B0503030403020204" pitchFamily="34" charset="0"/>
            </a:endParaRPr>
          </a:p>
          <a:p>
            <a:pPr marL="342900" indent="-342900">
              <a:buFont typeface="Arial" panose="020B0604020202020204" pitchFamily="34" charset="0"/>
              <a:buChar char="•"/>
            </a:pPr>
            <a:r>
              <a:rPr lang="en-US" sz="2000" b="0" i="0" dirty="0">
                <a:solidFill>
                  <a:srgbClr val="222222"/>
                </a:solidFill>
                <a:effectLst/>
                <a:latin typeface="Source Sans Pro" panose="020B0503030403020204" pitchFamily="34" charset="0"/>
              </a:rPr>
              <a:t> In this method, the starting text of the attribute is matched to find the element whose attribute value changes dynamically</a:t>
            </a:r>
            <a:endParaRPr lang="en-US" sz="2000" b="1" dirty="0">
              <a:latin typeface="source-serif-pro"/>
            </a:endParaRPr>
          </a:p>
          <a:p>
            <a:pPr lvl="1"/>
            <a:endParaRPr lang="en-US" sz="2000" dirty="0">
              <a:solidFill>
                <a:srgbClr val="242424"/>
              </a:solidFill>
              <a:latin typeface="source-serif-pro"/>
            </a:endParaRPr>
          </a:p>
          <a:p>
            <a:pPr lvl="1"/>
            <a:r>
              <a:rPr lang="en-US" sz="2000" dirty="0">
                <a:solidFill>
                  <a:srgbClr val="242424"/>
                </a:solidFill>
                <a:latin typeface="source-serif-pro"/>
              </a:rPr>
              <a:t>For ex. </a:t>
            </a:r>
            <a:r>
              <a:rPr lang="en-US" sz="2000" b="0" i="0" dirty="0">
                <a:solidFill>
                  <a:srgbClr val="222222"/>
                </a:solidFill>
                <a:effectLst/>
                <a:latin typeface="Source Sans Pro" panose="020B0503030403020204" pitchFamily="34" charset="0"/>
              </a:rPr>
              <a:t>Suppose the ID of particular element changes dynamically like</a:t>
            </a:r>
          </a:p>
          <a:p>
            <a:pPr lvl="1"/>
            <a:endParaRPr lang="en-US" sz="2000" dirty="0">
              <a:solidFill>
                <a:srgbClr val="242424"/>
              </a:solidFill>
              <a:latin typeface="source-serif-pro"/>
            </a:endParaRPr>
          </a:p>
          <a:p>
            <a:pPr lvl="1"/>
            <a:r>
              <a:rPr lang="en-US" sz="2000" b="0" i="0" dirty="0">
                <a:solidFill>
                  <a:srgbClr val="222222"/>
                </a:solidFill>
                <a:effectLst/>
                <a:latin typeface="Source Sans Pro" panose="020B0503030403020204" pitchFamily="34" charset="0"/>
              </a:rPr>
              <a:t>Id=” message12″</a:t>
            </a:r>
          </a:p>
          <a:p>
            <a:pPr lvl="1"/>
            <a:r>
              <a:rPr lang="en-US" sz="2000" b="0" i="0" dirty="0">
                <a:solidFill>
                  <a:srgbClr val="222222"/>
                </a:solidFill>
                <a:effectLst/>
                <a:latin typeface="Source Sans Pro" panose="020B0503030403020204" pitchFamily="34" charset="0"/>
              </a:rPr>
              <a:t>Id=” message345″</a:t>
            </a:r>
          </a:p>
          <a:p>
            <a:pPr lvl="1"/>
            <a:endParaRPr lang="en-US" sz="2000" dirty="0">
              <a:solidFill>
                <a:srgbClr val="242424"/>
              </a:solidFill>
              <a:latin typeface="source-serif-pro"/>
            </a:endParaRPr>
          </a:p>
          <a:p>
            <a:pPr lvl="1"/>
            <a:r>
              <a:rPr lang="en-US" sz="2000" b="1" dirty="0">
                <a:solidFill>
                  <a:srgbClr val="242424"/>
                </a:solidFill>
                <a:latin typeface="source-serif-pro"/>
              </a:rPr>
              <a:t>Syntax : </a:t>
            </a:r>
            <a:r>
              <a:rPr lang="en-US" sz="2000" dirty="0">
                <a:solidFill>
                  <a:srgbClr val="242424"/>
                </a:solidFill>
                <a:latin typeface="source-serif-pro"/>
              </a:rPr>
              <a:t>//label[</a:t>
            </a:r>
            <a:r>
              <a:rPr lang="en-US" sz="2000" dirty="0" err="1">
                <a:solidFill>
                  <a:srgbClr val="242424"/>
                </a:solidFill>
                <a:latin typeface="source-serif-pro"/>
              </a:rPr>
              <a:t>startswith</a:t>
            </a:r>
            <a:r>
              <a:rPr lang="en-US" sz="2000" dirty="0">
                <a:solidFill>
                  <a:srgbClr val="242424"/>
                </a:solidFill>
                <a:latin typeface="source-serif-pro"/>
              </a:rPr>
              <a:t>(@id,'message’)]</a:t>
            </a:r>
          </a:p>
          <a:p>
            <a:pPr lvl="1"/>
            <a:endParaRPr lang="en-US" sz="2000" dirty="0">
              <a:solidFill>
                <a:srgbClr val="242424"/>
              </a:solidFill>
              <a:latin typeface="source-serif-pro"/>
            </a:endParaRPr>
          </a:p>
          <a:p>
            <a:pPr lvl="1"/>
            <a:endParaRPr lang="en-US" sz="2000" dirty="0">
              <a:solidFill>
                <a:srgbClr val="242424"/>
              </a:solidFill>
              <a:latin typeface="source-serif-pro"/>
            </a:endParaRPr>
          </a:p>
          <a:p>
            <a:pPr indent="-228600">
              <a:lnSpc>
                <a:spcPct val="90000"/>
              </a:lnSpc>
              <a:spcAft>
                <a:spcPts val="600"/>
              </a:spcAft>
              <a:buFont typeface="Arial" panose="020B0604020202020204" pitchFamily="34" charset="0"/>
              <a:buChar char="•"/>
            </a:pPr>
            <a:endParaRPr lang="en-US" sz="2000" dirty="0"/>
          </a:p>
        </p:txBody>
      </p:sp>
      <p:sp>
        <p:nvSpPr>
          <p:cNvPr id="46" name="Rectangle 45">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a:extLst>
              <a:ext uri="{FF2B5EF4-FFF2-40B4-BE49-F238E27FC236}">
                <a16:creationId xmlns:a16="http://schemas.microsoft.com/office/drawing/2014/main" id="{99A0D09D-6EF6-B519-B6DC-036C405ACD0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25235"/>
          <a:stretch/>
        </p:blipFill>
        <p:spPr bwMode="auto">
          <a:xfrm>
            <a:off x="5715000" y="1333181"/>
            <a:ext cx="6080126" cy="3958824"/>
          </a:xfrm>
          <a:prstGeom prst="rect">
            <a:avLst/>
          </a:prstGeom>
        </p:spPr>
        <p:style>
          <a:lnRef idx="2">
            <a:schemeClr val="dk1"/>
          </a:lnRef>
          <a:fillRef idx="1">
            <a:schemeClr val="lt1"/>
          </a:fillRef>
          <a:effectRef idx="0">
            <a:schemeClr val="dk1"/>
          </a:effectRef>
          <a:fontRef idx="minor">
            <a:schemeClr val="dk1"/>
          </a:fontRef>
        </p:style>
      </p:pic>
      <p:pic>
        <p:nvPicPr>
          <p:cNvPr id="3" name="Picture 2">
            <a:extLst>
              <a:ext uri="{FF2B5EF4-FFF2-40B4-BE49-F238E27FC236}">
                <a16:creationId xmlns:a16="http://schemas.microsoft.com/office/drawing/2014/main" id="{74693B45-EBC0-C3E4-FF77-BBC313F46A33}"/>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12633976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4AA642-5649-F103-C7A5-BE99F434DF86}"/>
              </a:ext>
            </a:extLst>
          </p:cNvPr>
          <p:cNvSpPr>
            <a:spLocks noGrp="1"/>
          </p:cNvSpPr>
          <p:nvPr>
            <p:ph type="title"/>
          </p:nvPr>
        </p:nvSpPr>
        <p:spPr>
          <a:xfrm>
            <a:off x="561975" y="315617"/>
            <a:ext cx="5534025" cy="1597159"/>
          </a:xfrm>
        </p:spPr>
        <p:txBody>
          <a:bodyPr anchor="b">
            <a:normAutofit fontScale="90000"/>
          </a:bodyPr>
          <a:lstStyle/>
          <a:p>
            <a:r>
              <a:rPr lang="en-US" sz="4000" dirty="0"/>
              <a:t>What </a:t>
            </a:r>
            <a:r>
              <a:rPr lang="en-US" dirty="0"/>
              <a:t>are</a:t>
            </a:r>
            <a:r>
              <a:rPr lang="en-US" sz="4000" dirty="0"/>
              <a:t> </a:t>
            </a:r>
            <a:r>
              <a:rPr lang="en-US" sz="4000" dirty="0" err="1"/>
              <a:t>xpath</a:t>
            </a:r>
            <a:r>
              <a:rPr lang="en-US" sz="4000" dirty="0"/>
              <a:t> axes?</a:t>
            </a:r>
            <a:br>
              <a:rPr lang="en-US" sz="4000" dirty="0"/>
            </a:br>
            <a:br>
              <a:rPr lang="en-US" sz="4000" dirty="0"/>
            </a:br>
            <a:endParaRPr lang="en-US" sz="4000" dirty="0"/>
          </a:p>
        </p:txBody>
      </p:sp>
      <p:sp>
        <p:nvSpPr>
          <p:cNvPr id="3" name="Content Placeholder 2">
            <a:extLst>
              <a:ext uri="{FF2B5EF4-FFF2-40B4-BE49-F238E27FC236}">
                <a16:creationId xmlns:a16="http://schemas.microsoft.com/office/drawing/2014/main" id="{CE432A68-E059-FD5F-2206-F7B85135B181}"/>
              </a:ext>
            </a:extLst>
          </p:cNvPr>
          <p:cNvSpPr>
            <a:spLocks noGrp="1"/>
          </p:cNvSpPr>
          <p:nvPr>
            <p:ph idx="1"/>
          </p:nvPr>
        </p:nvSpPr>
        <p:spPr>
          <a:xfrm>
            <a:off x="409575" y="1667715"/>
            <a:ext cx="5781675" cy="3675810"/>
          </a:xfrm>
        </p:spPr>
        <p:txBody>
          <a:bodyPr anchor="t">
            <a:normAutofit/>
          </a:bodyPr>
          <a:lstStyle/>
          <a:p>
            <a:pPr marL="0" marR="0">
              <a:spcBef>
                <a:spcPts val="0"/>
              </a:spcBef>
              <a:spcAft>
                <a:spcPts val="1950"/>
              </a:spcAft>
            </a:pPr>
            <a:r>
              <a:rPr lang="en-IN" sz="2000" dirty="0">
                <a:latin typeface="Source Sans Pro" panose="020B0503030403020204" pitchFamily="34" charset="0"/>
              </a:rPr>
              <a:t>All the XML DOM elements are in a hierarchical structure and can be either located using Absolute paths or Relative paths. For this, XPath provides specific attributes called "XPath Axis.“</a:t>
            </a:r>
          </a:p>
          <a:p>
            <a:pPr marL="0" marR="0" indent="0">
              <a:spcBef>
                <a:spcPts val="0"/>
              </a:spcBef>
              <a:spcAft>
                <a:spcPts val="1950"/>
              </a:spcAft>
              <a:buNone/>
            </a:pPr>
            <a:endParaRPr lang="en-US" sz="2000" dirty="0">
              <a:latin typeface="Source Sans Pro" panose="020B0503030403020204" pitchFamily="34" charset="0"/>
            </a:endParaRPr>
          </a:p>
          <a:p>
            <a:pPr marL="0" marR="0">
              <a:spcBef>
                <a:spcPts val="0"/>
              </a:spcBef>
              <a:spcAft>
                <a:spcPts val="1950"/>
              </a:spcAft>
            </a:pPr>
            <a:r>
              <a:rPr lang="en-IN" sz="2000" dirty="0">
                <a:latin typeface="Source Sans Pro" panose="020B0503030403020204" pitchFamily="34" charset="0"/>
              </a:rPr>
              <a:t>Here, </a:t>
            </a:r>
            <a:r>
              <a:rPr lang="en-US" sz="2000" dirty="0">
                <a:latin typeface="Source Sans Pro" panose="020B0503030403020204" pitchFamily="34" charset="0"/>
              </a:rPr>
              <a:t>An axis represents a relationship to the context (current) node and is used to locate nodes relative to that node on the tree.</a:t>
            </a:r>
            <a:r>
              <a:rPr lang="en-IN" sz="2000" dirty="0">
                <a:latin typeface="Source Sans Pro" panose="020B0503030403020204" pitchFamily="34" charset="0"/>
              </a:rPr>
              <a:t> So, the XPath Axis uses the relation between several nodes to find those nodes in the DOM structure.</a:t>
            </a:r>
          </a:p>
          <a:p>
            <a:pPr marL="0" marR="0">
              <a:spcBef>
                <a:spcPts val="0"/>
              </a:spcBef>
              <a:spcAft>
                <a:spcPts val="1950"/>
              </a:spcAft>
            </a:pPr>
            <a:endParaRPr lang="en-IN" sz="2000" dirty="0">
              <a:latin typeface="Source Sans Pro" panose="020B0503030403020204" pitchFamily="34" charset="0"/>
            </a:endParaRPr>
          </a:p>
          <a:p>
            <a:pPr marL="0" marR="0">
              <a:spcBef>
                <a:spcPts val="0"/>
              </a:spcBef>
              <a:spcAft>
                <a:spcPts val="1950"/>
              </a:spcAft>
            </a:pPr>
            <a:endParaRPr lang="en-US" sz="2000" dirty="0">
              <a:latin typeface="Source Sans Pro" panose="020B0503030403020204" pitchFamily="34" charset="0"/>
            </a:endParaRPr>
          </a:p>
          <a:p>
            <a:pPr marL="457200" indent="-457200">
              <a:buFont typeface="+mj-lt"/>
              <a:buAutoNum type="arabicPeriod"/>
            </a:pPr>
            <a:endParaRPr lang="en-US" sz="2000" b="0" i="0" dirty="0">
              <a:effectLst/>
              <a:latin typeface="source-serif-pro"/>
            </a:endParaRPr>
          </a:p>
        </p:txBody>
      </p:sp>
      <p:pic>
        <p:nvPicPr>
          <p:cNvPr id="4" name="Picture 3" descr="XPath_Axes_In_Selenium">
            <a:extLst>
              <a:ext uri="{FF2B5EF4-FFF2-40B4-BE49-F238E27FC236}">
                <a16:creationId xmlns:a16="http://schemas.microsoft.com/office/drawing/2014/main" id="{4243708C-AB03-4E59-54DC-BB8F39CC10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6248400" y="1667714"/>
            <a:ext cx="5465065" cy="3305501"/>
          </a:xfrm>
          <a:prstGeom prst="rect">
            <a:avLst/>
          </a:prstGeom>
        </p:spPr>
        <p:style>
          <a:lnRef idx="2">
            <a:schemeClr val="dk1"/>
          </a:lnRef>
          <a:fillRef idx="1">
            <a:schemeClr val="lt1"/>
          </a:fillRef>
          <a:effectRef idx="0">
            <a:schemeClr val="dk1"/>
          </a:effectRef>
          <a:fontRef idx="minor">
            <a:schemeClr val="dk1"/>
          </a:fontRef>
        </p:style>
      </p:pic>
      <p:sp>
        <p:nvSpPr>
          <p:cNvPr id="36" name="Rectangle 35">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4EBFD95B-24BF-9D68-C4CB-0174A47E227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1783230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FFF6F-D646-B476-D8BA-FAE4E6098137}"/>
              </a:ext>
            </a:extLst>
          </p:cNvPr>
          <p:cNvSpPr>
            <a:spLocks noGrp="1"/>
          </p:cNvSpPr>
          <p:nvPr>
            <p:ph type="title"/>
          </p:nvPr>
        </p:nvSpPr>
        <p:spPr/>
        <p:txBody>
          <a:bodyPr/>
          <a:lstStyle/>
          <a:p>
            <a:pPr marL="0" marR="0">
              <a:lnSpc>
                <a:spcPts val="1875"/>
              </a:lnSpc>
              <a:spcBef>
                <a:spcPts val="0"/>
              </a:spcBef>
              <a:spcAft>
                <a:spcPts val="600"/>
              </a:spcAft>
            </a:pPr>
            <a:r>
              <a:rPr lang="en-US" dirty="0"/>
              <a:t>Following</a:t>
            </a:r>
          </a:p>
        </p:txBody>
      </p:sp>
      <p:sp>
        <p:nvSpPr>
          <p:cNvPr id="3" name="Content Placeholder 2">
            <a:extLst>
              <a:ext uri="{FF2B5EF4-FFF2-40B4-BE49-F238E27FC236}">
                <a16:creationId xmlns:a16="http://schemas.microsoft.com/office/drawing/2014/main" id="{9B230DC9-D13F-D7B3-AA13-CB51DF8F4811}"/>
              </a:ext>
            </a:extLst>
          </p:cNvPr>
          <p:cNvSpPr>
            <a:spLocks noGrp="1"/>
          </p:cNvSpPr>
          <p:nvPr>
            <p:ph idx="1"/>
          </p:nvPr>
        </p:nvSpPr>
        <p:spPr>
          <a:xfrm>
            <a:off x="418321" y="1383960"/>
            <a:ext cx="4956112" cy="5239544"/>
          </a:xfrm>
        </p:spPr>
        <p:txBody>
          <a:bodyPr/>
          <a:lstStyle/>
          <a:p>
            <a:r>
              <a:rPr lang="en-US" sz="2000" dirty="0">
                <a:latin typeface="Source Sans Pro" panose="020B0503030403020204" pitchFamily="34" charset="0"/>
              </a:rPr>
              <a:t>Selects all elements in the document of the current node( ).</a:t>
            </a:r>
          </a:p>
          <a:p>
            <a:endParaRPr lang="en-US" sz="2000" dirty="0">
              <a:latin typeface="Source Sans Pro" panose="020B0503030403020204" pitchFamily="34" charset="0"/>
            </a:endParaRPr>
          </a:p>
          <a:p>
            <a:r>
              <a:rPr lang="en-US" sz="2000" dirty="0">
                <a:latin typeface="Source Sans Pro" panose="020B0503030403020204" pitchFamily="34" charset="0"/>
              </a:rPr>
              <a:t>(</a:t>
            </a:r>
            <a:r>
              <a:rPr lang="en-US" sz="2000" dirty="0" err="1">
                <a:latin typeface="Source Sans Pro" panose="020B0503030403020204" pitchFamily="34" charset="0"/>
              </a:rPr>
              <a:t>UserID</a:t>
            </a:r>
            <a:r>
              <a:rPr lang="en-US" sz="2000" dirty="0">
                <a:latin typeface="Source Sans Pro" panose="020B0503030403020204" pitchFamily="34" charset="0"/>
              </a:rPr>
              <a:t> input box is the current node) as shown in the image.</a:t>
            </a:r>
          </a:p>
          <a:p>
            <a:endParaRPr lang="en-US" sz="2000" b="1" dirty="0">
              <a:latin typeface="Source Sans Pro" panose="020B0503030403020204" pitchFamily="34" charset="0"/>
            </a:endParaRPr>
          </a:p>
          <a:p>
            <a:r>
              <a:rPr lang="en-US" sz="2000" b="1" dirty="0">
                <a:latin typeface="Source Sans Pro" panose="020B0503030403020204" pitchFamily="34" charset="0"/>
              </a:rPr>
              <a:t>Syntax</a:t>
            </a:r>
            <a:r>
              <a:rPr lang="en-US" sz="2000" dirty="0">
                <a:latin typeface="Source Sans Pro" panose="020B0503030403020204" pitchFamily="34" charset="0"/>
              </a:rPr>
              <a:t>://*[@type='text']//following::input</a:t>
            </a:r>
          </a:p>
          <a:p>
            <a:endParaRPr lang="en-US" sz="2000" dirty="0">
              <a:latin typeface="Source Sans Pro" panose="020B0503030403020204" pitchFamily="34" charset="0"/>
            </a:endParaRPr>
          </a:p>
          <a:p>
            <a:r>
              <a:rPr lang="en-US" sz="2000" dirty="0">
                <a:latin typeface="Source Sans Pro" panose="020B0503030403020204" pitchFamily="34" charset="0"/>
              </a:rPr>
              <a:t>There are 3 “input” nodes matching by using “following” axis- password, login and reset button. </a:t>
            </a:r>
          </a:p>
          <a:p>
            <a:r>
              <a:rPr lang="en-US" sz="2000" dirty="0">
                <a:latin typeface="Source Sans Pro" panose="020B0503030403020204" pitchFamily="34" charset="0"/>
              </a:rPr>
              <a:t>//*[@type='text']//following::input[1]</a:t>
            </a:r>
          </a:p>
        </p:txBody>
      </p:sp>
      <p:pic>
        <p:nvPicPr>
          <p:cNvPr id="4100" name="Picture 4">
            <a:extLst>
              <a:ext uri="{FF2B5EF4-FFF2-40B4-BE49-F238E27FC236}">
                <a16:creationId xmlns:a16="http://schemas.microsoft.com/office/drawing/2014/main" id="{F5D590AC-803E-70AE-ED30-C5D10719A88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425" r="3257" b="3883"/>
          <a:stretch/>
        </p:blipFill>
        <p:spPr bwMode="auto">
          <a:xfrm>
            <a:off x="5491844" y="1468907"/>
            <a:ext cx="6488663" cy="3616277"/>
          </a:xfrm>
          <a:prstGeom prst="rect">
            <a:avLst/>
          </a:prstGeom>
          <a:ln/>
        </p:spPr>
        <p:style>
          <a:lnRef idx="2">
            <a:schemeClr val="dk1"/>
          </a:lnRef>
          <a:fillRef idx="1">
            <a:schemeClr val="lt1"/>
          </a:fillRef>
          <a:effectRef idx="0">
            <a:schemeClr val="dk1"/>
          </a:effectRef>
          <a:fontRef idx="minor">
            <a:schemeClr val="dk1"/>
          </a:fontRef>
        </p:style>
      </p:pic>
      <p:pic>
        <p:nvPicPr>
          <p:cNvPr id="7" name="Picture 6">
            <a:extLst>
              <a:ext uri="{FF2B5EF4-FFF2-40B4-BE49-F238E27FC236}">
                <a16:creationId xmlns:a16="http://schemas.microsoft.com/office/drawing/2014/main" id="{9A68631C-96C5-E198-6996-BAAEA973B1C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24419721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FFF6F-D646-B476-D8BA-FAE4E6098137}"/>
              </a:ext>
            </a:extLst>
          </p:cNvPr>
          <p:cNvSpPr>
            <a:spLocks noGrp="1"/>
          </p:cNvSpPr>
          <p:nvPr>
            <p:ph type="title"/>
          </p:nvPr>
        </p:nvSpPr>
        <p:spPr>
          <a:xfrm>
            <a:off x="548951" y="193675"/>
            <a:ext cx="10515600" cy="1325563"/>
          </a:xfrm>
        </p:spPr>
        <p:txBody>
          <a:bodyPr/>
          <a:lstStyle/>
          <a:p>
            <a:pPr>
              <a:lnSpc>
                <a:spcPts val="1875"/>
              </a:lnSpc>
              <a:spcBef>
                <a:spcPts val="0"/>
              </a:spcBef>
              <a:spcAft>
                <a:spcPts val="600"/>
              </a:spcAft>
            </a:pPr>
            <a:r>
              <a:rPr lang="en-US" dirty="0"/>
              <a:t>Ancestor</a:t>
            </a:r>
            <a:br>
              <a:rPr lang="en-US" b="1" i="0" dirty="0">
                <a:solidFill>
                  <a:srgbClr val="222222"/>
                </a:solidFill>
                <a:effectLst/>
                <a:latin typeface="Source Sans Pro" panose="020B0503030403020204" pitchFamily="34" charset="0"/>
              </a:rPr>
            </a:br>
            <a:endParaRPr lang="en-US" dirty="0"/>
          </a:p>
        </p:txBody>
      </p:sp>
      <p:sp>
        <p:nvSpPr>
          <p:cNvPr id="3" name="Content Placeholder 2">
            <a:extLst>
              <a:ext uri="{FF2B5EF4-FFF2-40B4-BE49-F238E27FC236}">
                <a16:creationId xmlns:a16="http://schemas.microsoft.com/office/drawing/2014/main" id="{9B230DC9-D13F-D7B3-AA13-CB51DF8F4811}"/>
              </a:ext>
            </a:extLst>
          </p:cNvPr>
          <p:cNvSpPr>
            <a:spLocks noGrp="1"/>
          </p:cNvSpPr>
          <p:nvPr>
            <p:ph idx="1"/>
          </p:nvPr>
        </p:nvSpPr>
        <p:spPr>
          <a:xfrm>
            <a:off x="418320" y="1091681"/>
            <a:ext cx="11116455" cy="2720975"/>
          </a:xfrm>
        </p:spPr>
        <p:txBody>
          <a:bodyPr>
            <a:normAutofit/>
          </a:bodyPr>
          <a:lstStyle/>
          <a:p>
            <a:r>
              <a:rPr lang="en-US" sz="2000" dirty="0">
                <a:latin typeface="Source Sans Pro" panose="020B0503030403020204" pitchFamily="34" charset="0"/>
              </a:rPr>
              <a:t>The ancestor axis selects all ancestors element (grandparent, parent, etc.) of the current node.</a:t>
            </a:r>
          </a:p>
          <a:p>
            <a:r>
              <a:rPr lang="en-US" sz="2000" dirty="0">
                <a:latin typeface="Source Sans Pro" panose="020B0503030403020204" pitchFamily="34" charset="0"/>
              </a:rPr>
              <a:t>In the below image, we are finding ancestors element of the current node(“ENTERPRISE TESTING” node).</a:t>
            </a:r>
          </a:p>
          <a:p>
            <a:r>
              <a:rPr lang="en-US" sz="2000" b="1" dirty="0">
                <a:latin typeface="Source Sans Pro" panose="020B0503030403020204" pitchFamily="34" charset="0"/>
              </a:rPr>
              <a:t>Syntax</a:t>
            </a:r>
            <a:r>
              <a:rPr lang="en-US" sz="2000" dirty="0">
                <a:latin typeface="Source Sans Pro" panose="020B0503030403020204" pitchFamily="34" charset="0"/>
              </a:rPr>
              <a:t>://*[@type='text']// ancestor::div </a:t>
            </a:r>
          </a:p>
          <a:p>
            <a:r>
              <a:rPr lang="en-US" sz="2000" dirty="0">
                <a:latin typeface="Source Sans Pro" panose="020B0503030403020204" pitchFamily="34" charset="0"/>
              </a:rPr>
              <a:t>There are 13 “div” nodes matching by using “Ancestor” axis- if you want to focus on element use index as shown below. </a:t>
            </a:r>
          </a:p>
          <a:p>
            <a:r>
              <a:rPr lang="en-US" sz="2000" dirty="0">
                <a:latin typeface="Source Sans Pro" panose="020B0503030403020204" pitchFamily="34" charset="0"/>
              </a:rPr>
              <a:t>//*[text()='Enterprise Testing']//ancestor::div[1]</a:t>
            </a:r>
          </a:p>
        </p:txBody>
      </p:sp>
      <p:pic>
        <p:nvPicPr>
          <p:cNvPr id="5122" name="Picture 2">
            <a:extLst>
              <a:ext uri="{FF2B5EF4-FFF2-40B4-BE49-F238E27FC236}">
                <a16:creationId xmlns:a16="http://schemas.microsoft.com/office/drawing/2014/main" id="{0A669314-B5E1-2EE1-FEAC-65F11781B13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14" t="3130" r="3285" b="7473"/>
          <a:stretch/>
        </p:blipFill>
        <p:spPr bwMode="auto">
          <a:xfrm>
            <a:off x="704849" y="3943350"/>
            <a:ext cx="10515601" cy="2720975"/>
          </a:xfrm>
          <a:prstGeom prst="rect">
            <a:avLst/>
          </a:prstGeom>
        </p:spPr>
        <p:style>
          <a:lnRef idx="2">
            <a:schemeClr val="dk1"/>
          </a:lnRef>
          <a:fillRef idx="1">
            <a:schemeClr val="lt1"/>
          </a:fillRef>
          <a:effectRef idx="0">
            <a:schemeClr val="dk1"/>
          </a:effectRef>
          <a:fontRef idx="minor">
            <a:schemeClr val="dk1"/>
          </a:fontRef>
        </p:style>
      </p:pic>
      <p:pic>
        <p:nvPicPr>
          <p:cNvPr id="4" name="Picture 3">
            <a:extLst>
              <a:ext uri="{FF2B5EF4-FFF2-40B4-BE49-F238E27FC236}">
                <a16:creationId xmlns:a16="http://schemas.microsoft.com/office/drawing/2014/main" id="{97CB54CC-BC98-984F-A551-1A5ED0B7BBE5}"/>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1542120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FFF6F-D646-B476-D8BA-FAE4E6098137}"/>
              </a:ext>
            </a:extLst>
          </p:cNvPr>
          <p:cNvSpPr>
            <a:spLocks noGrp="1"/>
          </p:cNvSpPr>
          <p:nvPr>
            <p:ph type="title"/>
          </p:nvPr>
        </p:nvSpPr>
        <p:spPr>
          <a:xfrm>
            <a:off x="548951" y="193675"/>
            <a:ext cx="10515600" cy="1325563"/>
          </a:xfrm>
        </p:spPr>
        <p:txBody>
          <a:bodyPr/>
          <a:lstStyle/>
          <a:p>
            <a:pPr>
              <a:lnSpc>
                <a:spcPts val="1875"/>
              </a:lnSpc>
              <a:spcBef>
                <a:spcPts val="0"/>
              </a:spcBef>
              <a:spcAft>
                <a:spcPts val="600"/>
              </a:spcAft>
            </a:pPr>
            <a:r>
              <a:rPr lang="en-US" i="0" dirty="0">
                <a:solidFill>
                  <a:srgbClr val="222222"/>
                </a:solidFill>
                <a:effectLst/>
              </a:rPr>
              <a:t>Child</a:t>
            </a:r>
            <a:br>
              <a:rPr lang="en-US" b="1" i="0" dirty="0">
                <a:solidFill>
                  <a:srgbClr val="222222"/>
                </a:solidFill>
                <a:effectLst/>
                <a:latin typeface="Source Sans Pro" panose="020B0503030403020204" pitchFamily="34" charset="0"/>
              </a:rPr>
            </a:br>
            <a:endParaRPr lang="en-US" dirty="0"/>
          </a:p>
        </p:txBody>
      </p:sp>
      <p:sp>
        <p:nvSpPr>
          <p:cNvPr id="3" name="Content Placeholder 2">
            <a:extLst>
              <a:ext uri="{FF2B5EF4-FFF2-40B4-BE49-F238E27FC236}">
                <a16:creationId xmlns:a16="http://schemas.microsoft.com/office/drawing/2014/main" id="{9B230DC9-D13F-D7B3-AA13-CB51DF8F4811}"/>
              </a:ext>
            </a:extLst>
          </p:cNvPr>
          <p:cNvSpPr>
            <a:spLocks noGrp="1"/>
          </p:cNvSpPr>
          <p:nvPr>
            <p:ph idx="1"/>
          </p:nvPr>
        </p:nvSpPr>
        <p:spPr>
          <a:xfrm>
            <a:off x="418320" y="1091681"/>
            <a:ext cx="11116455" cy="2720975"/>
          </a:xfrm>
        </p:spPr>
        <p:txBody>
          <a:bodyPr>
            <a:normAutofit/>
          </a:bodyPr>
          <a:lstStyle/>
          <a:p>
            <a:r>
              <a:rPr lang="en-US" sz="2000" dirty="0">
                <a:latin typeface="Source Sans Pro" panose="020B0503030403020204" pitchFamily="34" charset="0"/>
              </a:rPr>
              <a:t>The child axis </a:t>
            </a:r>
            <a:r>
              <a:rPr lang="en-US" sz="2000" dirty="0">
                <a:solidFill>
                  <a:srgbClr val="222222"/>
                </a:solidFill>
                <a:latin typeface="Source Sans Pro" panose="020B0503030403020204" pitchFamily="34" charset="0"/>
              </a:rPr>
              <a:t>s</a:t>
            </a:r>
            <a:r>
              <a:rPr lang="en-US" sz="2000" b="0" i="0" dirty="0">
                <a:solidFill>
                  <a:srgbClr val="222222"/>
                </a:solidFill>
                <a:effectLst/>
                <a:latin typeface="Source Sans Pro" panose="020B0503030403020204" pitchFamily="34" charset="0"/>
              </a:rPr>
              <a:t>elects all children elements of the current node.</a:t>
            </a:r>
          </a:p>
          <a:p>
            <a:r>
              <a:rPr lang="en-US" sz="2000" b="1" dirty="0">
                <a:solidFill>
                  <a:srgbClr val="222222"/>
                </a:solidFill>
                <a:latin typeface="Source Sans Pro" panose="020B0503030403020204" pitchFamily="34" charset="0"/>
              </a:rPr>
              <a:t>Syntax</a:t>
            </a:r>
            <a:r>
              <a:rPr lang="en-US" sz="2000" dirty="0">
                <a:solidFill>
                  <a:srgbClr val="222222"/>
                </a:solidFill>
                <a:latin typeface="Source Sans Pro" panose="020B0503030403020204" pitchFamily="34" charset="0"/>
              </a:rPr>
              <a:t>: //*[@id='java_technologies']//child::li</a:t>
            </a:r>
          </a:p>
          <a:p>
            <a:r>
              <a:rPr lang="en-US" sz="2000" dirty="0">
                <a:solidFill>
                  <a:srgbClr val="222222"/>
                </a:solidFill>
                <a:latin typeface="Source Sans Pro" panose="020B0503030403020204" pitchFamily="34" charset="0"/>
              </a:rPr>
              <a:t>There are 71 “li” nodes matching by using “child” axis-</a:t>
            </a:r>
            <a:r>
              <a:rPr lang="en-US" sz="2000" dirty="0">
                <a:latin typeface="Source Sans Pro" panose="020B0503030403020204" pitchFamily="34" charset="0"/>
              </a:rPr>
              <a:t>if you want to focus on element use index as shown below. </a:t>
            </a:r>
          </a:p>
          <a:p>
            <a:r>
              <a:rPr lang="en-US" sz="2000" dirty="0">
                <a:solidFill>
                  <a:srgbClr val="222222"/>
                </a:solidFill>
                <a:latin typeface="Source Sans Pro" panose="020B0503030403020204" pitchFamily="34" charset="0"/>
              </a:rPr>
              <a:t>//*[@id='java_technologies']//child::li[1]</a:t>
            </a:r>
          </a:p>
          <a:p>
            <a:endParaRPr lang="en-US" sz="2000" dirty="0">
              <a:solidFill>
                <a:srgbClr val="222222"/>
              </a:solidFill>
              <a:latin typeface="Source Sans Pro" panose="020B0503030403020204" pitchFamily="34" charset="0"/>
            </a:endParaRPr>
          </a:p>
          <a:p>
            <a:endParaRPr lang="en-US" sz="2000" dirty="0">
              <a:latin typeface="Source Sans Pro" panose="020B0503030403020204" pitchFamily="34" charset="0"/>
            </a:endParaRPr>
          </a:p>
        </p:txBody>
      </p:sp>
      <p:pic>
        <p:nvPicPr>
          <p:cNvPr id="6146" name="Picture 2">
            <a:extLst>
              <a:ext uri="{FF2B5EF4-FFF2-40B4-BE49-F238E27FC236}">
                <a16:creationId xmlns:a16="http://schemas.microsoft.com/office/drawing/2014/main" id="{BF9607BA-B27E-4603-AB5C-087D8D58895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97" t="-1140" r="4843" b="1140"/>
          <a:stretch/>
        </p:blipFill>
        <p:spPr bwMode="auto">
          <a:xfrm>
            <a:off x="548951" y="3322637"/>
            <a:ext cx="11129572" cy="3341688"/>
          </a:xfrm>
          <a:prstGeom prst="rect">
            <a:avLst/>
          </a:prstGeom>
        </p:spPr>
        <p:style>
          <a:lnRef idx="2">
            <a:schemeClr val="dk1"/>
          </a:lnRef>
          <a:fillRef idx="1">
            <a:schemeClr val="lt1"/>
          </a:fillRef>
          <a:effectRef idx="0">
            <a:schemeClr val="dk1"/>
          </a:effectRef>
          <a:fontRef idx="minor">
            <a:schemeClr val="dk1"/>
          </a:fontRef>
        </p:style>
      </p:pic>
      <p:pic>
        <p:nvPicPr>
          <p:cNvPr id="4" name="Picture 3">
            <a:extLst>
              <a:ext uri="{FF2B5EF4-FFF2-40B4-BE49-F238E27FC236}">
                <a16:creationId xmlns:a16="http://schemas.microsoft.com/office/drawing/2014/main" id="{7E6EF0A3-3C6B-BA43-C749-C507D4408CAA}"/>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1168917" y="6569125"/>
            <a:ext cx="948263" cy="288875"/>
          </a:xfrm>
          <a:prstGeom prst="rect">
            <a:avLst/>
          </a:prstGeom>
        </p:spPr>
      </p:pic>
    </p:spTree>
    <p:extLst>
      <p:ext uri="{BB962C8B-B14F-4D97-AF65-F5344CB8AC3E}">
        <p14:creationId xmlns:p14="http://schemas.microsoft.com/office/powerpoint/2010/main" val="3402805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66FF3B-13DF-FC70-A2C0-9A93C8764E10}"/>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Other </a:t>
            </a:r>
            <a:r>
              <a:rPr lang="en-US" sz="4000" dirty="0" err="1">
                <a:solidFill>
                  <a:srgbClr val="FFFFFF"/>
                </a:solidFill>
              </a:rPr>
              <a:t>xpath</a:t>
            </a:r>
            <a:r>
              <a:rPr lang="en-US" sz="4000" dirty="0">
                <a:solidFill>
                  <a:srgbClr val="FFFFFF"/>
                </a:solidFill>
              </a:rPr>
              <a:t> axes</a:t>
            </a:r>
          </a:p>
        </p:txBody>
      </p:sp>
      <p:sp>
        <p:nvSpPr>
          <p:cNvPr id="3" name="Content Placeholder 2">
            <a:extLst>
              <a:ext uri="{FF2B5EF4-FFF2-40B4-BE49-F238E27FC236}">
                <a16:creationId xmlns:a16="http://schemas.microsoft.com/office/drawing/2014/main" id="{72DF70B4-E851-EA60-0E9E-40186BE8DB5C}"/>
              </a:ext>
            </a:extLst>
          </p:cNvPr>
          <p:cNvSpPr>
            <a:spLocks noGrp="1"/>
          </p:cNvSpPr>
          <p:nvPr>
            <p:ph idx="1"/>
          </p:nvPr>
        </p:nvSpPr>
        <p:spPr>
          <a:xfrm>
            <a:off x="1371599" y="2318197"/>
            <a:ext cx="9724031" cy="3683358"/>
          </a:xfrm>
        </p:spPr>
        <p:txBody>
          <a:bodyPr anchor="ctr">
            <a:normAutofit lnSpcReduction="10000"/>
          </a:bodyPr>
          <a:lstStyle/>
          <a:p>
            <a:pPr marL="457200" indent="-457200">
              <a:buFont typeface="+mj-lt"/>
              <a:buAutoNum type="arabicPeriod"/>
            </a:pPr>
            <a:r>
              <a:rPr lang="en-US" sz="2000" b="1" dirty="0">
                <a:latin typeface="Source Sans Pro" panose="020B0503030403020204" pitchFamily="34" charset="0"/>
              </a:rPr>
              <a:t>Preceding</a:t>
            </a:r>
            <a:r>
              <a:rPr lang="en-US" sz="2000" dirty="0">
                <a:latin typeface="Source Sans Pro" panose="020B0503030403020204" pitchFamily="34" charset="0"/>
              </a:rPr>
              <a:t>: Select all nodes that come before the current node.</a:t>
            </a:r>
            <a:br>
              <a:rPr lang="en-US" sz="2000" dirty="0">
                <a:latin typeface="Source Sans Pro" panose="020B0503030403020204" pitchFamily="34" charset="0"/>
              </a:rPr>
            </a:br>
            <a:r>
              <a:rPr lang="en-US" sz="2000" dirty="0" err="1">
                <a:latin typeface="Source Sans Pro" panose="020B0503030403020204" pitchFamily="34" charset="0"/>
              </a:rPr>
              <a:t>Xpath</a:t>
            </a:r>
            <a:r>
              <a:rPr lang="en-US" sz="2000" dirty="0">
                <a:latin typeface="Source Sans Pro" panose="020B0503030403020204" pitchFamily="34" charset="0"/>
              </a:rPr>
              <a:t>=//*[@type='submit']//preceding::input</a:t>
            </a:r>
          </a:p>
          <a:p>
            <a:pPr marL="457200" indent="-457200">
              <a:buFont typeface="+mj-lt"/>
              <a:buAutoNum type="arabicPeriod"/>
            </a:pPr>
            <a:r>
              <a:rPr lang="en-US" sz="2000" b="1" dirty="0">
                <a:latin typeface="Source Sans Pro" panose="020B0503030403020204" pitchFamily="34" charset="0"/>
              </a:rPr>
              <a:t>Following-sibling</a:t>
            </a:r>
            <a:r>
              <a:rPr lang="en-US" sz="2000" dirty="0">
                <a:latin typeface="Source Sans Pro" panose="020B0503030403020204" pitchFamily="34" charset="0"/>
              </a:rPr>
              <a:t>: Select the following siblings of the context node. Siblings are at the same level of the current node. </a:t>
            </a:r>
          </a:p>
          <a:p>
            <a:pPr marL="0" indent="0">
              <a:buNone/>
            </a:pPr>
            <a:r>
              <a:rPr lang="en-US" sz="2000" dirty="0">
                <a:latin typeface="Source Sans Pro" panose="020B0503030403020204" pitchFamily="34" charset="0"/>
              </a:rPr>
              <a:t>         </a:t>
            </a:r>
            <a:r>
              <a:rPr lang="en-US" sz="2000" dirty="0" err="1">
                <a:latin typeface="Source Sans Pro" panose="020B0503030403020204" pitchFamily="34" charset="0"/>
              </a:rPr>
              <a:t>xpath</a:t>
            </a:r>
            <a:r>
              <a:rPr lang="en-US" sz="2000" dirty="0">
                <a:latin typeface="Source Sans Pro" panose="020B0503030403020204" pitchFamily="34" charset="0"/>
              </a:rPr>
              <a:t>=//*[@type='submit']//following-sibling::input</a:t>
            </a:r>
          </a:p>
          <a:p>
            <a:pPr marL="0" indent="0">
              <a:buNone/>
            </a:pPr>
            <a:r>
              <a:rPr lang="en-US" sz="2000" b="1" dirty="0">
                <a:latin typeface="Source Sans Pro" panose="020B0503030403020204" pitchFamily="34" charset="0"/>
              </a:rPr>
              <a:t>3.     Parent</a:t>
            </a:r>
            <a:r>
              <a:rPr lang="en-US" sz="2000" dirty="0">
                <a:latin typeface="Source Sans Pro" panose="020B0503030403020204" pitchFamily="34" charset="0"/>
              </a:rPr>
              <a:t>: Selects the parent of the current node.</a:t>
            </a:r>
            <a:br>
              <a:rPr lang="en-US" sz="2000" dirty="0">
                <a:latin typeface="Source Sans Pro" panose="020B0503030403020204" pitchFamily="34" charset="0"/>
              </a:rPr>
            </a:br>
            <a:r>
              <a:rPr lang="en-US" sz="2000" dirty="0">
                <a:latin typeface="Source Sans Pro" panose="020B0503030403020204" pitchFamily="34" charset="0"/>
              </a:rPr>
              <a:t>         </a:t>
            </a:r>
            <a:r>
              <a:rPr lang="en-US" sz="2000" dirty="0" err="1">
                <a:latin typeface="Source Sans Pro" panose="020B0503030403020204" pitchFamily="34" charset="0"/>
              </a:rPr>
              <a:t>Xpath</a:t>
            </a:r>
            <a:r>
              <a:rPr lang="en-US" sz="2000" dirty="0">
                <a:latin typeface="Source Sans Pro" panose="020B0503030403020204" pitchFamily="34" charset="0"/>
              </a:rPr>
              <a:t>=//*[@id='rt-feature']//parent::div</a:t>
            </a:r>
          </a:p>
          <a:p>
            <a:pPr marL="457200" indent="-457200">
              <a:buAutoNum type="arabicPeriod" startAt="3"/>
            </a:pPr>
            <a:r>
              <a:rPr lang="en-US" sz="2000" b="1" dirty="0">
                <a:latin typeface="Source Sans Pro" panose="020B0503030403020204" pitchFamily="34" charset="0"/>
              </a:rPr>
              <a:t>Self</a:t>
            </a:r>
            <a:r>
              <a:rPr lang="en-US" sz="2000" dirty="0">
                <a:latin typeface="Source Sans Pro" panose="020B0503030403020204" pitchFamily="34" charset="0"/>
              </a:rPr>
              <a:t>: Selects the current node or ‘self’ means it indicates the node itself </a:t>
            </a:r>
            <a:br>
              <a:rPr lang="en-US" sz="2000" dirty="0">
                <a:latin typeface="Source Sans Pro" panose="020B0503030403020204" pitchFamily="34" charset="0"/>
              </a:rPr>
            </a:br>
            <a:r>
              <a:rPr lang="en-US" sz="2000" dirty="0" err="1">
                <a:latin typeface="Source Sans Pro" panose="020B0503030403020204" pitchFamily="34" charset="0"/>
              </a:rPr>
              <a:t>Xpath</a:t>
            </a:r>
            <a:r>
              <a:rPr lang="en-US" sz="2000" dirty="0">
                <a:latin typeface="Source Sans Pro" panose="020B0503030403020204" pitchFamily="34" charset="0"/>
              </a:rPr>
              <a:t> =//*[@type='password']//self::input</a:t>
            </a:r>
          </a:p>
          <a:p>
            <a:pPr marL="457200" indent="-457200">
              <a:buAutoNum type="arabicPeriod" startAt="3"/>
            </a:pPr>
            <a:r>
              <a:rPr lang="en-US" sz="2000" b="1" dirty="0">
                <a:latin typeface="Source Sans Pro" panose="020B0503030403020204" pitchFamily="34" charset="0"/>
              </a:rPr>
              <a:t>Descendant</a:t>
            </a:r>
            <a:r>
              <a:rPr lang="en-US" sz="2000" dirty="0">
                <a:latin typeface="Source Sans Pro" panose="020B0503030403020204" pitchFamily="34" charset="0"/>
              </a:rPr>
              <a:t>: Selects the descendants of the current node</a:t>
            </a:r>
            <a:br>
              <a:rPr lang="en-US" sz="2000" dirty="0">
                <a:latin typeface="Source Sans Pro" panose="020B0503030403020204" pitchFamily="34" charset="0"/>
              </a:rPr>
            </a:br>
            <a:r>
              <a:rPr lang="en-US" sz="2000" dirty="0" err="1">
                <a:latin typeface="Source Sans Pro" panose="020B0503030403020204" pitchFamily="34" charset="0"/>
              </a:rPr>
              <a:t>Xpath</a:t>
            </a:r>
            <a:r>
              <a:rPr lang="en-US" sz="2000" dirty="0">
                <a:latin typeface="Source Sans Pro" panose="020B0503030403020204" pitchFamily="34" charset="0"/>
              </a:rPr>
              <a:t>=//*[@id='rt-feature']//descendant::a</a:t>
            </a:r>
          </a:p>
          <a:p>
            <a:endParaRPr lang="en-US" sz="2000" dirty="0"/>
          </a:p>
        </p:txBody>
      </p:sp>
      <p:pic>
        <p:nvPicPr>
          <p:cNvPr id="4" name="Picture 3">
            <a:extLst>
              <a:ext uri="{FF2B5EF4-FFF2-40B4-BE49-F238E27FC236}">
                <a16:creationId xmlns:a16="http://schemas.microsoft.com/office/drawing/2014/main" id="{A5CC10B4-C2DB-3D69-939A-FDEA208AC06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31859405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ED4C79-02A1-D806-84AD-133C4F0C9259}"/>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Waits in selenium webdriver</a:t>
            </a:r>
          </a:p>
        </p:txBody>
      </p:sp>
      <p:sp>
        <p:nvSpPr>
          <p:cNvPr id="3" name="Content Placeholder 2">
            <a:extLst>
              <a:ext uri="{FF2B5EF4-FFF2-40B4-BE49-F238E27FC236}">
                <a16:creationId xmlns:a16="http://schemas.microsoft.com/office/drawing/2014/main" id="{9E5E22B9-53A0-CC1C-660B-C2EB9D71E383}"/>
              </a:ext>
            </a:extLst>
          </p:cNvPr>
          <p:cNvSpPr>
            <a:spLocks noGrp="1"/>
          </p:cNvSpPr>
          <p:nvPr>
            <p:ph idx="1"/>
          </p:nvPr>
        </p:nvSpPr>
        <p:spPr>
          <a:xfrm>
            <a:off x="4810259" y="649480"/>
            <a:ext cx="6555347" cy="5546047"/>
          </a:xfrm>
        </p:spPr>
        <p:txBody>
          <a:bodyPr anchor="ctr">
            <a:normAutofit/>
          </a:bodyPr>
          <a:lstStyle/>
          <a:p>
            <a:pPr marL="457200" indent="-457200">
              <a:buFont typeface="+mj-lt"/>
              <a:buAutoNum type="arabicPeriod"/>
            </a:pPr>
            <a:r>
              <a:rPr lang="en-US" sz="2000" dirty="0">
                <a:solidFill>
                  <a:srgbClr val="222222"/>
                </a:solidFill>
                <a:latin typeface="Source Sans Pro" panose="020B0503030403020204" pitchFamily="34" charset="0"/>
              </a:rPr>
              <a:t>What are wait commands and why do we need waits?</a:t>
            </a:r>
          </a:p>
          <a:p>
            <a:pPr marL="457200" indent="-457200">
              <a:buFont typeface="+mj-lt"/>
              <a:buAutoNum type="arabicPeriod"/>
            </a:pPr>
            <a:r>
              <a:rPr lang="en-US" sz="2000" dirty="0">
                <a:solidFill>
                  <a:srgbClr val="222222"/>
                </a:solidFill>
                <a:latin typeface="Source Sans Pro" panose="020B0503030403020204" pitchFamily="34" charset="0"/>
              </a:rPr>
              <a:t>Different Types of waits.</a:t>
            </a:r>
          </a:p>
          <a:p>
            <a:pPr marL="0" indent="0">
              <a:buNone/>
            </a:pPr>
            <a:endParaRPr lang="en-US" sz="2000" dirty="0"/>
          </a:p>
        </p:txBody>
      </p:sp>
      <p:pic>
        <p:nvPicPr>
          <p:cNvPr id="4" name="Picture 3">
            <a:extLst>
              <a:ext uri="{FF2B5EF4-FFF2-40B4-BE49-F238E27FC236}">
                <a16:creationId xmlns:a16="http://schemas.microsoft.com/office/drawing/2014/main" id="{74C3604F-8641-4EA3-9DEB-3FD80F3D1C07}"/>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13301397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6507FA7-B1AF-D2F8-1C11-BAEFCAEB47A4}"/>
              </a:ext>
            </a:extLst>
          </p:cNvPr>
          <p:cNvSpPr>
            <a:spLocks noGrp="1"/>
          </p:cNvSpPr>
          <p:nvPr>
            <p:ph type="title"/>
          </p:nvPr>
        </p:nvSpPr>
        <p:spPr>
          <a:xfrm>
            <a:off x="1136397" y="502021"/>
            <a:ext cx="9688296" cy="1642969"/>
          </a:xfrm>
        </p:spPr>
        <p:txBody>
          <a:bodyPr anchor="b">
            <a:normAutofit fontScale="90000"/>
          </a:bodyPr>
          <a:lstStyle/>
          <a:p>
            <a:r>
              <a:rPr lang="en-US" sz="4000" dirty="0">
                <a:solidFill>
                  <a:srgbClr val="222222"/>
                </a:solidFill>
                <a:latin typeface="Source Sans Pro" panose="020B0503030403020204" pitchFamily="34" charset="0"/>
              </a:rPr>
              <a:t>What are wait commands and why do we need waits?</a:t>
            </a:r>
            <a:br>
              <a:rPr lang="en-US" sz="4000" dirty="0">
                <a:solidFill>
                  <a:srgbClr val="222222"/>
                </a:solidFill>
                <a:latin typeface="Source Sans Pro" panose="020B0503030403020204" pitchFamily="34" charset="0"/>
              </a:rPr>
            </a:br>
            <a:endParaRPr lang="en-US" sz="4000" dirty="0"/>
          </a:p>
        </p:txBody>
      </p:sp>
      <p:sp>
        <p:nvSpPr>
          <p:cNvPr id="3" name="Content Placeholder 2">
            <a:extLst>
              <a:ext uri="{FF2B5EF4-FFF2-40B4-BE49-F238E27FC236}">
                <a16:creationId xmlns:a16="http://schemas.microsoft.com/office/drawing/2014/main" id="{C0E9D13D-40D0-CCC1-32F6-A0882FA902D3}"/>
              </a:ext>
            </a:extLst>
          </p:cNvPr>
          <p:cNvSpPr>
            <a:spLocks noGrp="1"/>
          </p:cNvSpPr>
          <p:nvPr>
            <p:ph idx="1"/>
          </p:nvPr>
        </p:nvSpPr>
        <p:spPr>
          <a:xfrm>
            <a:off x="1136397" y="2418409"/>
            <a:ext cx="9688296" cy="3454358"/>
          </a:xfrm>
        </p:spPr>
        <p:txBody>
          <a:bodyPr anchor="t">
            <a:normAutofit/>
          </a:bodyPr>
          <a:lstStyle/>
          <a:p>
            <a:r>
              <a:rPr lang="en-US" sz="2000" b="0" i="0" dirty="0">
                <a:solidFill>
                  <a:srgbClr val="333333"/>
                </a:solidFill>
                <a:effectLst/>
                <a:latin typeface="source-sans-pro"/>
              </a:rPr>
              <a:t>When a web page loads on a browser, various web elements (buttons, links, images) that someone wants to interact with may load at various intervals.</a:t>
            </a:r>
          </a:p>
          <a:p>
            <a:r>
              <a:rPr lang="en-US" sz="2000" b="0" i="0" dirty="0">
                <a:solidFill>
                  <a:srgbClr val="333333"/>
                </a:solidFill>
                <a:effectLst/>
                <a:latin typeface="source-sans-pro"/>
              </a:rPr>
              <a:t>The wait commands are essential when it comes to executing Selenium tests.</a:t>
            </a:r>
            <a:endParaRPr lang="en-US" sz="2000" dirty="0">
              <a:solidFill>
                <a:srgbClr val="333333"/>
              </a:solidFill>
              <a:latin typeface="source-sans-pro"/>
            </a:endParaRPr>
          </a:p>
          <a:p>
            <a:r>
              <a:rPr lang="en-US" sz="2000" dirty="0">
                <a:solidFill>
                  <a:srgbClr val="333333"/>
                </a:solidFill>
                <a:latin typeface="source-sans-pro"/>
              </a:rPr>
              <a:t>I</a:t>
            </a:r>
            <a:r>
              <a:rPr lang="en-US" sz="2000" b="0" i="0" dirty="0">
                <a:solidFill>
                  <a:srgbClr val="333333"/>
                </a:solidFill>
                <a:effectLst/>
                <a:latin typeface="source-sans-pro"/>
              </a:rPr>
              <a:t>t is common for testers to get the message “</a:t>
            </a:r>
            <a:r>
              <a:rPr lang="en-US" sz="2000" b="1" i="1" dirty="0">
                <a:solidFill>
                  <a:srgbClr val="333333"/>
                </a:solidFill>
                <a:effectLst/>
                <a:latin typeface="source-sans-pro"/>
              </a:rPr>
              <a:t>Element Not Visible Exception</a:t>
            </a:r>
            <a:r>
              <a:rPr lang="en-US" sz="2000" b="0" i="0" dirty="0">
                <a:solidFill>
                  <a:srgbClr val="333333"/>
                </a:solidFill>
                <a:effectLst/>
                <a:latin typeface="source-sans-pro"/>
              </a:rPr>
              <a:t>“. This appears when a particular web element with which WebDriver has to interact, is delayed in its loading. To prevent this Exception, Selenium Wait Commands must be used.</a:t>
            </a:r>
          </a:p>
          <a:p>
            <a:r>
              <a:rPr lang="en-US" sz="2000" dirty="0">
                <a:solidFill>
                  <a:srgbClr val="333333"/>
                </a:solidFill>
                <a:latin typeface="source-sans-pro"/>
              </a:rPr>
              <a:t>Selenium WebDriver provides three commands to implement waits in test, they are- </a:t>
            </a:r>
            <a:r>
              <a:rPr lang="en-US" sz="2000" b="1" dirty="0">
                <a:solidFill>
                  <a:srgbClr val="333333"/>
                </a:solidFill>
                <a:latin typeface="source-sans-pro"/>
              </a:rPr>
              <a:t>Implicit wait, Explicit wait and Fluent wait.</a:t>
            </a:r>
            <a:endParaRPr lang="en-US" sz="2000" b="1" i="0" dirty="0">
              <a:solidFill>
                <a:srgbClr val="333333"/>
              </a:solidFill>
              <a:effectLst/>
              <a:latin typeface="source-sans-pro"/>
            </a:endParaRPr>
          </a:p>
          <a:p>
            <a:endParaRPr lang="en-US" sz="2000" dirty="0"/>
          </a:p>
        </p:txBody>
      </p:sp>
      <p:sp>
        <p:nvSpPr>
          <p:cNvPr id="15" name="Rectangle 14">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E72AF055-C2CA-C444-33AB-191795C1FE90}"/>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17207467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0373F6-A164-0068-8909-443D86B66B68}"/>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Implicit wait</a:t>
            </a:r>
          </a:p>
        </p:txBody>
      </p:sp>
      <p:sp>
        <p:nvSpPr>
          <p:cNvPr id="3" name="Content Placeholder 2">
            <a:extLst>
              <a:ext uri="{FF2B5EF4-FFF2-40B4-BE49-F238E27FC236}">
                <a16:creationId xmlns:a16="http://schemas.microsoft.com/office/drawing/2014/main" id="{3DC1F20E-C878-DB96-0710-3435C821782B}"/>
              </a:ext>
            </a:extLst>
          </p:cNvPr>
          <p:cNvSpPr>
            <a:spLocks noGrp="1"/>
          </p:cNvSpPr>
          <p:nvPr>
            <p:ph idx="1"/>
          </p:nvPr>
        </p:nvSpPr>
        <p:spPr>
          <a:xfrm>
            <a:off x="1233982" y="2509934"/>
            <a:ext cx="9724031" cy="3930159"/>
          </a:xfrm>
        </p:spPr>
        <p:txBody>
          <a:bodyPr anchor="ctr">
            <a:normAutofit fontScale="92500" lnSpcReduction="10000"/>
          </a:bodyPr>
          <a:lstStyle/>
          <a:p>
            <a:r>
              <a:rPr lang="en-US" sz="2000" b="1" i="0" dirty="0">
                <a:solidFill>
                  <a:srgbClr val="333333"/>
                </a:solidFill>
                <a:effectLst/>
                <a:latin typeface="source-sans-pro"/>
              </a:rPr>
              <a:t>Implicit Wait</a:t>
            </a:r>
            <a:r>
              <a:rPr lang="en-US" sz="2000" b="0" i="0" dirty="0">
                <a:solidFill>
                  <a:srgbClr val="333333"/>
                </a:solidFill>
                <a:effectLst/>
                <a:latin typeface="source-sans-pro"/>
              </a:rPr>
              <a:t> directs the WebDriver to wait for a certain measure of time before throwing an exception. Once this time is set, WebDriver will wait for the element before the exception occurs.</a:t>
            </a:r>
          </a:p>
          <a:p>
            <a:endParaRPr lang="en-US" sz="2000" dirty="0">
              <a:solidFill>
                <a:srgbClr val="333333"/>
              </a:solidFill>
              <a:latin typeface="source-sans-pro"/>
            </a:endParaRPr>
          </a:p>
          <a:p>
            <a:r>
              <a:rPr lang="en-US" sz="2000" dirty="0">
                <a:solidFill>
                  <a:srgbClr val="333333"/>
                </a:solidFill>
                <a:latin typeface="source-sans-pro"/>
              </a:rPr>
              <a:t>To add implicit waits in test scripts, import the following package</a:t>
            </a:r>
            <a:r>
              <a:rPr lang="en-US" sz="1400" b="0" i="0" dirty="0">
                <a:solidFill>
                  <a:srgbClr val="333333"/>
                </a:solidFill>
                <a:effectLst/>
                <a:latin typeface="source-sans-pro"/>
              </a:rPr>
              <a:t>.</a:t>
            </a:r>
            <a:endParaRPr lang="en-US" sz="2000" b="0" i="0" dirty="0">
              <a:solidFill>
                <a:srgbClr val="333333"/>
              </a:solidFill>
              <a:effectLst/>
              <a:latin typeface="source-sans-pro"/>
            </a:endParaRPr>
          </a:p>
          <a:p>
            <a:pPr marL="0" indent="0">
              <a:buNone/>
            </a:pPr>
            <a:r>
              <a:rPr lang="en-US" sz="2000" dirty="0">
                <a:solidFill>
                  <a:srgbClr val="333333"/>
                </a:solidFill>
                <a:latin typeface="source-sans-pro"/>
              </a:rPr>
              <a:t>    </a:t>
            </a:r>
            <a:r>
              <a:rPr lang="fr-FR" sz="2000" b="0" i="0" u="sng" dirty="0">
                <a:solidFill>
                  <a:srgbClr val="333333"/>
                </a:solidFill>
                <a:effectLst/>
                <a:latin typeface="source-sans-pro"/>
              </a:rPr>
              <a:t>import </a:t>
            </a:r>
            <a:r>
              <a:rPr lang="fr-FR" sz="2000" b="0" i="0" u="sng" dirty="0" err="1">
                <a:solidFill>
                  <a:srgbClr val="333333"/>
                </a:solidFill>
                <a:effectLst/>
                <a:latin typeface="source-sans-pro"/>
              </a:rPr>
              <a:t>java.util.concurrent.TimeUnit</a:t>
            </a:r>
            <a:r>
              <a:rPr lang="fr-FR" sz="2000" b="0" i="0" u="sng" dirty="0">
                <a:solidFill>
                  <a:srgbClr val="333333"/>
                </a:solidFill>
                <a:effectLst/>
                <a:latin typeface="source-sans-pro"/>
              </a:rPr>
              <a:t>;</a:t>
            </a:r>
          </a:p>
          <a:p>
            <a:endParaRPr lang="fr-FR" sz="2000" dirty="0">
              <a:solidFill>
                <a:srgbClr val="333333"/>
              </a:solidFill>
              <a:latin typeface="source-sans-pro"/>
            </a:endParaRPr>
          </a:p>
          <a:p>
            <a:r>
              <a:rPr lang="fr-FR" sz="2000" b="1" dirty="0" err="1">
                <a:solidFill>
                  <a:srgbClr val="333333"/>
                </a:solidFill>
                <a:latin typeface="source-sans-pro"/>
              </a:rPr>
              <a:t>Syntax</a:t>
            </a:r>
            <a:r>
              <a:rPr lang="fr-FR" sz="2000" dirty="0">
                <a:solidFill>
                  <a:srgbClr val="333333"/>
                </a:solidFill>
                <a:latin typeface="source-sans-pro"/>
              </a:rPr>
              <a:t>: </a:t>
            </a:r>
            <a:r>
              <a:rPr lang="fr-FR" sz="2000" dirty="0" err="1">
                <a:solidFill>
                  <a:srgbClr val="333333"/>
                </a:solidFill>
                <a:latin typeface="source-sans-pro"/>
              </a:rPr>
              <a:t>driver.manage</a:t>
            </a:r>
            <a:r>
              <a:rPr lang="fr-FR" sz="2000" dirty="0">
                <a:solidFill>
                  <a:srgbClr val="333333"/>
                </a:solidFill>
                <a:latin typeface="source-sans-pro"/>
              </a:rPr>
              <a:t>().timeouts().</a:t>
            </a:r>
            <a:r>
              <a:rPr lang="fr-FR" sz="2000" dirty="0" err="1">
                <a:solidFill>
                  <a:srgbClr val="333333"/>
                </a:solidFill>
                <a:latin typeface="source-sans-pro"/>
              </a:rPr>
              <a:t>implicitlyWait</a:t>
            </a:r>
            <a:r>
              <a:rPr lang="fr-FR" sz="2000" dirty="0">
                <a:solidFill>
                  <a:srgbClr val="333333"/>
                </a:solidFill>
                <a:latin typeface="source-sans-pro"/>
              </a:rPr>
              <a:t>(10, </a:t>
            </a:r>
            <a:r>
              <a:rPr lang="fr-FR" sz="2000" dirty="0" err="1">
                <a:solidFill>
                  <a:srgbClr val="333333"/>
                </a:solidFill>
                <a:latin typeface="source-sans-pro"/>
              </a:rPr>
              <a:t>TimeUnit.SECONDS</a:t>
            </a:r>
            <a:r>
              <a:rPr lang="fr-FR" sz="2000" dirty="0">
                <a:solidFill>
                  <a:srgbClr val="333333"/>
                </a:solidFill>
                <a:latin typeface="source-sans-pro"/>
              </a:rPr>
              <a:t>);</a:t>
            </a:r>
          </a:p>
          <a:p>
            <a:endParaRPr lang="en-US" sz="2000" dirty="0">
              <a:solidFill>
                <a:srgbClr val="333333"/>
              </a:solidFill>
              <a:latin typeface="source-sans-pro"/>
            </a:endParaRPr>
          </a:p>
          <a:p>
            <a:r>
              <a:rPr lang="en-US" sz="2000" dirty="0">
                <a:solidFill>
                  <a:srgbClr val="333333"/>
                </a:solidFill>
                <a:latin typeface="source-sans-pro"/>
              </a:rPr>
              <a:t>However, implicit wait increases test script execution time. It makes each command wait for the defined time before resuming test execution. If the application responds normally, the implicit wait can slow down the execution of test scripts.</a:t>
            </a:r>
            <a:endParaRPr lang="fr-FR" sz="2000" dirty="0">
              <a:solidFill>
                <a:srgbClr val="333333"/>
              </a:solidFill>
              <a:latin typeface="source-sans-pro"/>
            </a:endParaRPr>
          </a:p>
          <a:p>
            <a:endParaRPr lang="en-US" sz="2000" b="0" i="0" dirty="0">
              <a:solidFill>
                <a:srgbClr val="333333"/>
              </a:solidFill>
              <a:effectLst/>
              <a:latin typeface="source-sans-pro"/>
            </a:endParaRPr>
          </a:p>
          <a:p>
            <a:endParaRPr lang="en-US" sz="2000" dirty="0"/>
          </a:p>
        </p:txBody>
      </p:sp>
      <p:pic>
        <p:nvPicPr>
          <p:cNvPr id="4" name="Picture 3">
            <a:extLst>
              <a:ext uri="{FF2B5EF4-FFF2-40B4-BE49-F238E27FC236}">
                <a16:creationId xmlns:a16="http://schemas.microsoft.com/office/drawing/2014/main" id="{9A82F1EE-2289-40BC-D27E-5E18C8FD6E25}"/>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331326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0373F6-A164-0068-8909-443D86B66B68}"/>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Explicit wait</a:t>
            </a:r>
          </a:p>
        </p:txBody>
      </p:sp>
      <p:sp>
        <p:nvSpPr>
          <p:cNvPr id="3" name="Content Placeholder 2">
            <a:extLst>
              <a:ext uri="{FF2B5EF4-FFF2-40B4-BE49-F238E27FC236}">
                <a16:creationId xmlns:a16="http://schemas.microsoft.com/office/drawing/2014/main" id="{3DC1F20E-C878-DB96-0710-3435C821782B}"/>
              </a:ext>
            </a:extLst>
          </p:cNvPr>
          <p:cNvSpPr>
            <a:spLocks noGrp="1"/>
          </p:cNvSpPr>
          <p:nvPr>
            <p:ph idx="1"/>
          </p:nvPr>
        </p:nvSpPr>
        <p:spPr>
          <a:xfrm>
            <a:off x="773695" y="2295331"/>
            <a:ext cx="11091757" cy="4068055"/>
          </a:xfrm>
        </p:spPr>
        <p:txBody>
          <a:bodyPr anchor="ctr">
            <a:noAutofit/>
          </a:bodyPr>
          <a:lstStyle/>
          <a:p>
            <a:r>
              <a:rPr lang="en-US" sz="2000" i="0" dirty="0">
                <a:solidFill>
                  <a:srgbClr val="333333"/>
                </a:solidFill>
                <a:effectLst/>
                <a:latin typeface="source-sans-pro"/>
              </a:rPr>
              <a:t>For</a:t>
            </a:r>
            <a:r>
              <a:rPr lang="en-US" sz="2000" b="1" i="0" dirty="0">
                <a:solidFill>
                  <a:srgbClr val="333333"/>
                </a:solidFill>
                <a:effectLst/>
                <a:latin typeface="source-sans-pro"/>
              </a:rPr>
              <a:t> Explicit Wait</a:t>
            </a:r>
            <a:r>
              <a:rPr lang="en-US" sz="2000" b="0" i="0" dirty="0">
                <a:solidFill>
                  <a:srgbClr val="333333"/>
                </a:solidFill>
                <a:effectLst/>
                <a:latin typeface="source-sans-pro"/>
              </a:rPr>
              <a:t> command, the WebDriver is directed to wait until a certain condition occurs before proceeding with executing the code.</a:t>
            </a:r>
            <a:endParaRPr lang="en-US" sz="2000" dirty="0">
              <a:solidFill>
                <a:srgbClr val="333333"/>
              </a:solidFill>
              <a:latin typeface="source-sans-pro"/>
            </a:endParaRPr>
          </a:p>
          <a:p>
            <a:r>
              <a:rPr lang="en-US" sz="2000" dirty="0">
                <a:solidFill>
                  <a:srgbClr val="333333"/>
                </a:solidFill>
                <a:latin typeface="source-sans-pro"/>
              </a:rPr>
              <a:t>To add explicit waits in test scripts, import the following package</a:t>
            </a:r>
            <a:r>
              <a:rPr lang="en-US" sz="2000" b="0" i="0" dirty="0">
                <a:solidFill>
                  <a:srgbClr val="333333"/>
                </a:solidFill>
                <a:effectLst/>
                <a:latin typeface="source-sans-pro"/>
              </a:rPr>
              <a:t>.</a:t>
            </a:r>
          </a:p>
          <a:p>
            <a:pPr marL="0" indent="0">
              <a:buNone/>
            </a:pPr>
            <a:r>
              <a:rPr lang="en-US" sz="2000" dirty="0">
                <a:solidFill>
                  <a:srgbClr val="333333"/>
                </a:solidFill>
                <a:latin typeface="source-sans-pro"/>
              </a:rPr>
              <a:t> 	</a:t>
            </a:r>
            <a:r>
              <a:rPr lang="en-US" sz="2000" u="sng" dirty="0">
                <a:solidFill>
                  <a:srgbClr val="333333"/>
                </a:solidFill>
                <a:latin typeface="source-sans-pro"/>
              </a:rPr>
              <a:t>import </a:t>
            </a:r>
            <a:r>
              <a:rPr lang="en-US" sz="2000" u="sng" dirty="0" err="1">
                <a:solidFill>
                  <a:srgbClr val="333333"/>
                </a:solidFill>
                <a:latin typeface="source-sans-pro"/>
              </a:rPr>
              <a:t>org.openqa.selenium.support.ui.ExpectedConditions</a:t>
            </a:r>
            <a:endParaRPr lang="en-US" sz="2000" u="sng" dirty="0">
              <a:solidFill>
                <a:srgbClr val="333333"/>
              </a:solidFill>
              <a:latin typeface="source-sans-pro"/>
            </a:endParaRPr>
          </a:p>
          <a:p>
            <a:pPr marL="0" indent="0">
              <a:buNone/>
            </a:pPr>
            <a:r>
              <a:rPr lang="en-US" sz="2000" dirty="0">
                <a:solidFill>
                  <a:srgbClr val="333333"/>
                </a:solidFill>
                <a:latin typeface="source-sans-pro"/>
              </a:rPr>
              <a:t>	</a:t>
            </a:r>
            <a:r>
              <a:rPr lang="en-US" sz="2000" u="sng" dirty="0">
                <a:solidFill>
                  <a:srgbClr val="333333"/>
                </a:solidFill>
                <a:latin typeface="source-sans-pro"/>
              </a:rPr>
              <a:t>import </a:t>
            </a:r>
            <a:r>
              <a:rPr lang="en-US" sz="2000" u="sng" dirty="0" err="1">
                <a:solidFill>
                  <a:srgbClr val="333333"/>
                </a:solidFill>
                <a:latin typeface="source-sans-pro"/>
              </a:rPr>
              <a:t>org.openqa.selenium.support.ui.WebDriverWait</a:t>
            </a:r>
            <a:endParaRPr lang="en-US" sz="2000" u="sng" dirty="0">
              <a:solidFill>
                <a:srgbClr val="333333"/>
              </a:solidFill>
              <a:latin typeface="source-sans-pro"/>
            </a:endParaRPr>
          </a:p>
          <a:p>
            <a:pPr marL="0" indent="0">
              <a:buNone/>
            </a:pPr>
            <a:endParaRPr lang="fr-FR" sz="2000" u="sng" dirty="0">
              <a:solidFill>
                <a:srgbClr val="333333"/>
              </a:solidFill>
              <a:latin typeface="source-sans-pro"/>
            </a:endParaRPr>
          </a:p>
          <a:p>
            <a:r>
              <a:rPr lang="fr-FR" sz="2000" b="1" dirty="0" err="1">
                <a:solidFill>
                  <a:srgbClr val="333333"/>
                </a:solidFill>
                <a:latin typeface="source-sans-pro"/>
              </a:rPr>
              <a:t>Syntax</a:t>
            </a:r>
            <a:r>
              <a:rPr lang="fr-FR" sz="2000" dirty="0">
                <a:solidFill>
                  <a:srgbClr val="333333"/>
                </a:solidFill>
                <a:latin typeface="source-sans-pro"/>
              </a:rPr>
              <a:t>: </a:t>
            </a:r>
            <a:r>
              <a:rPr lang="en-US" sz="2000" dirty="0" err="1">
                <a:solidFill>
                  <a:srgbClr val="333333"/>
                </a:solidFill>
                <a:latin typeface="source-sans-pro"/>
              </a:rPr>
              <a:t>WebDriverWait</a:t>
            </a:r>
            <a:r>
              <a:rPr lang="en-US" sz="2000" dirty="0">
                <a:solidFill>
                  <a:srgbClr val="333333"/>
                </a:solidFill>
                <a:latin typeface="source-sans-pro"/>
              </a:rPr>
              <a:t> wait = new </a:t>
            </a:r>
            <a:r>
              <a:rPr lang="en-US" sz="2000" dirty="0" err="1">
                <a:solidFill>
                  <a:srgbClr val="333333"/>
                </a:solidFill>
                <a:latin typeface="source-sans-pro"/>
              </a:rPr>
              <a:t>WebDriverWait</a:t>
            </a:r>
            <a:r>
              <a:rPr lang="en-US" sz="2000" dirty="0">
                <a:solidFill>
                  <a:srgbClr val="333333"/>
                </a:solidFill>
                <a:latin typeface="source-sans-pro"/>
              </a:rPr>
              <a:t>(driver,10);</a:t>
            </a:r>
          </a:p>
          <a:p>
            <a:pPr marL="0" indent="0">
              <a:buNone/>
            </a:pPr>
            <a:r>
              <a:rPr lang="en-IN" sz="2000" dirty="0" err="1">
                <a:solidFill>
                  <a:srgbClr val="333333"/>
                </a:solidFill>
                <a:latin typeface="source-sans-pro"/>
              </a:rPr>
              <a:t>wait.until</a:t>
            </a:r>
            <a:r>
              <a:rPr lang="en-IN" sz="2000" dirty="0">
                <a:solidFill>
                  <a:srgbClr val="333333"/>
                </a:solidFill>
                <a:latin typeface="source-sans-pro"/>
              </a:rPr>
              <a:t>(</a:t>
            </a:r>
            <a:r>
              <a:rPr lang="en-IN" sz="2000" dirty="0" err="1">
                <a:solidFill>
                  <a:srgbClr val="333333"/>
                </a:solidFill>
                <a:latin typeface="source-sans-pro"/>
              </a:rPr>
              <a:t>ExpectedConditions.visibilityOfElementLocated</a:t>
            </a:r>
            <a:r>
              <a:rPr lang="en-IN" sz="2000" dirty="0">
                <a:solidFill>
                  <a:srgbClr val="333333"/>
                </a:solidFill>
                <a:latin typeface="source-sans-pro"/>
              </a:rPr>
              <a:t>(</a:t>
            </a:r>
            <a:r>
              <a:rPr lang="en-IN" sz="2000" dirty="0" err="1">
                <a:solidFill>
                  <a:srgbClr val="333333"/>
                </a:solidFill>
                <a:latin typeface="source-sans-pro"/>
              </a:rPr>
              <a:t>By.xpath</a:t>
            </a:r>
            <a:r>
              <a:rPr lang="en-IN" sz="2000" dirty="0">
                <a:solidFill>
                  <a:srgbClr val="333333"/>
                </a:solidFill>
                <a:latin typeface="source-sans-pro"/>
              </a:rPr>
              <a:t>("//div[contains(text(),’TEST')]")));</a:t>
            </a:r>
            <a:endParaRPr lang="en-US" sz="2000" dirty="0">
              <a:solidFill>
                <a:srgbClr val="333333"/>
              </a:solidFill>
              <a:latin typeface="source-sans-pro"/>
            </a:endParaRPr>
          </a:p>
          <a:p>
            <a:r>
              <a:rPr lang="en-US" sz="2000" dirty="0">
                <a:solidFill>
                  <a:srgbClr val="333333"/>
                </a:solidFill>
                <a:latin typeface="source-sans-pro"/>
              </a:rPr>
              <a:t>Setting Explicit Wait is important in cases where there are certain elements that naturally take more time to load.</a:t>
            </a:r>
          </a:p>
          <a:p>
            <a:r>
              <a:rPr lang="en-US" sz="2000" dirty="0">
                <a:solidFill>
                  <a:srgbClr val="333333"/>
                </a:solidFill>
                <a:latin typeface="source-sans-pro"/>
              </a:rPr>
              <a:t>In order to declare explicit wait, one has to use </a:t>
            </a:r>
            <a:r>
              <a:rPr lang="en-US" sz="2000" dirty="0" err="1">
                <a:solidFill>
                  <a:srgbClr val="333333"/>
                </a:solidFill>
                <a:latin typeface="source-sans-pro"/>
              </a:rPr>
              <a:t>ExpectedConditions</a:t>
            </a:r>
            <a:r>
              <a:rPr lang="en-US" sz="2000" dirty="0">
                <a:solidFill>
                  <a:srgbClr val="333333"/>
                </a:solidFill>
                <a:latin typeface="source-sans-pro"/>
              </a:rPr>
              <a:t>. </a:t>
            </a:r>
          </a:p>
          <a:p>
            <a:pPr marL="0" indent="0">
              <a:buNone/>
            </a:pPr>
            <a:r>
              <a:rPr lang="en-US" sz="2000" dirty="0">
                <a:solidFill>
                  <a:srgbClr val="333333"/>
                </a:solidFill>
                <a:latin typeface="source-sans-pro"/>
              </a:rPr>
              <a:t>	E.g. </a:t>
            </a:r>
            <a:r>
              <a:rPr lang="en-US" sz="2000" dirty="0" err="1">
                <a:solidFill>
                  <a:srgbClr val="333333"/>
                </a:solidFill>
                <a:latin typeface="source-sans-pro"/>
              </a:rPr>
              <a:t>presenceOfElementLocated</a:t>
            </a:r>
            <a:r>
              <a:rPr lang="en-US" sz="2000" dirty="0">
                <a:solidFill>
                  <a:srgbClr val="333333"/>
                </a:solidFill>
                <a:latin typeface="source-sans-pro"/>
              </a:rPr>
              <a:t>(), </a:t>
            </a:r>
            <a:r>
              <a:rPr lang="en-US" sz="2000" dirty="0" err="1">
                <a:solidFill>
                  <a:srgbClr val="333333"/>
                </a:solidFill>
                <a:latin typeface="source-sans-pro"/>
              </a:rPr>
              <a:t>visibilityOfElementLocated</a:t>
            </a:r>
            <a:r>
              <a:rPr lang="en-US" sz="2000" dirty="0">
                <a:solidFill>
                  <a:srgbClr val="333333"/>
                </a:solidFill>
                <a:latin typeface="source-sans-pro"/>
              </a:rPr>
              <a:t>(), </a:t>
            </a:r>
            <a:r>
              <a:rPr lang="en-US" sz="2000" dirty="0" err="1">
                <a:solidFill>
                  <a:srgbClr val="333333"/>
                </a:solidFill>
                <a:latin typeface="source-sans-pro"/>
              </a:rPr>
              <a:t>elementToBeClickable</a:t>
            </a:r>
            <a:r>
              <a:rPr lang="en-US" sz="2000" dirty="0">
                <a:solidFill>
                  <a:srgbClr val="333333"/>
                </a:solidFill>
                <a:latin typeface="source-sans-pro"/>
              </a:rPr>
              <a:t>()</a:t>
            </a:r>
            <a:endParaRPr lang="en-US" sz="2000" b="0" i="0" dirty="0">
              <a:solidFill>
                <a:srgbClr val="333333"/>
              </a:solidFill>
              <a:effectLst/>
              <a:latin typeface="source-sans-pro"/>
            </a:endParaRPr>
          </a:p>
          <a:p>
            <a:endParaRPr lang="en-US" sz="2000" dirty="0"/>
          </a:p>
        </p:txBody>
      </p:sp>
      <p:pic>
        <p:nvPicPr>
          <p:cNvPr id="6" name="Picture 5">
            <a:extLst>
              <a:ext uri="{FF2B5EF4-FFF2-40B4-BE49-F238E27FC236}">
                <a16:creationId xmlns:a16="http://schemas.microsoft.com/office/drawing/2014/main" id="{E63D9528-4302-2278-B9E5-067A1D89DC2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39035293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0373F6-A164-0068-8909-443D86B66B68}"/>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Fluent wait</a:t>
            </a:r>
          </a:p>
        </p:txBody>
      </p:sp>
      <p:sp>
        <p:nvSpPr>
          <p:cNvPr id="3" name="Content Placeholder 2">
            <a:extLst>
              <a:ext uri="{FF2B5EF4-FFF2-40B4-BE49-F238E27FC236}">
                <a16:creationId xmlns:a16="http://schemas.microsoft.com/office/drawing/2014/main" id="{3DC1F20E-C878-DB96-0710-3435C821782B}"/>
              </a:ext>
            </a:extLst>
          </p:cNvPr>
          <p:cNvSpPr>
            <a:spLocks noGrp="1"/>
          </p:cNvSpPr>
          <p:nvPr>
            <p:ph idx="1"/>
          </p:nvPr>
        </p:nvSpPr>
        <p:spPr>
          <a:xfrm>
            <a:off x="459350" y="1698171"/>
            <a:ext cx="11297221" cy="4963885"/>
          </a:xfrm>
        </p:spPr>
        <p:txBody>
          <a:bodyPr anchor="ctr">
            <a:normAutofit/>
          </a:bodyPr>
          <a:lstStyle/>
          <a:p>
            <a:r>
              <a:rPr lang="en-US" sz="2000" dirty="0">
                <a:solidFill>
                  <a:srgbClr val="333333"/>
                </a:solidFill>
                <a:latin typeface="source-sans-pro"/>
              </a:rPr>
              <a:t>Fluent Wait in Selenium marks the maximum amount of time for Selenium WebDriver to wait for a certain condition (web element) becomes visible. It also defines how frequently WebDriver will check if the condition appears before throwing the “</a:t>
            </a:r>
            <a:r>
              <a:rPr lang="en-US" sz="2000" dirty="0" err="1">
                <a:solidFill>
                  <a:srgbClr val="333333"/>
                </a:solidFill>
                <a:latin typeface="source-sans-pro"/>
              </a:rPr>
              <a:t>ElementNotVisibleException</a:t>
            </a:r>
            <a:r>
              <a:rPr lang="en-US" sz="2000" dirty="0">
                <a:solidFill>
                  <a:srgbClr val="333333"/>
                </a:solidFill>
                <a:latin typeface="source-sans-pro"/>
              </a:rPr>
              <a:t>”.</a:t>
            </a:r>
          </a:p>
          <a:p>
            <a:r>
              <a:rPr lang="en-US" sz="2000" dirty="0">
                <a:solidFill>
                  <a:srgbClr val="333333"/>
                </a:solidFill>
                <a:latin typeface="source-sans-pro"/>
              </a:rPr>
              <a:t>Fluent Wait looks for a web element repeatedly at regular intervals until timeout happens or until the object is found.</a:t>
            </a:r>
            <a:endParaRPr lang="fr-FR" sz="2000" dirty="0">
              <a:solidFill>
                <a:srgbClr val="333333"/>
              </a:solidFill>
              <a:latin typeface="source-sans-pro"/>
            </a:endParaRPr>
          </a:p>
          <a:p>
            <a:pPr marL="0" marR="0">
              <a:lnSpc>
                <a:spcPct val="107000"/>
              </a:lnSpc>
              <a:spcBef>
                <a:spcPts val="0"/>
              </a:spcBef>
              <a:spcAft>
                <a:spcPts val="800"/>
              </a:spcAft>
            </a:pPr>
            <a:r>
              <a:rPr lang="fr-FR" sz="2000" b="1" dirty="0" err="1">
                <a:solidFill>
                  <a:srgbClr val="333333"/>
                </a:solidFill>
                <a:latin typeface="source-sans-pro"/>
              </a:rPr>
              <a:t>Syntax</a:t>
            </a:r>
            <a:r>
              <a:rPr lang="fr-FR" sz="2000" dirty="0">
                <a:solidFill>
                  <a:srgbClr val="333333"/>
                </a:solidFill>
                <a:latin typeface="source-sans-pro"/>
              </a:rPr>
              <a:t>: </a:t>
            </a:r>
          </a:p>
          <a:p>
            <a:pPr marL="457200" lvl="1" indent="0">
              <a:lnSpc>
                <a:spcPct val="107000"/>
              </a:lnSpc>
              <a:spcBef>
                <a:spcPts val="0"/>
              </a:spcBef>
              <a:spcAft>
                <a:spcPts val="800"/>
              </a:spcAft>
              <a:buNone/>
            </a:pPr>
            <a:r>
              <a:rPr lang="en-IN" sz="1600" kern="100" dirty="0">
                <a:effectLst/>
                <a:latin typeface="Calibri" panose="020F0502020204030204" pitchFamily="34" charset="0"/>
                <a:ea typeface="Calibri" panose="020F0502020204030204" pitchFamily="34" charset="0"/>
                <a:cs typeface="Cordia New" panose="020B0304020202020204" pitchFamily="34" charset="-34"/>
              </a:rPr>
              <a:t>Wait </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wait</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 = new </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FluentWait</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(WebDriver </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referene</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 </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withTimeout</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timeout,SECONDS</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pollingEvery</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timeout,SECONDS</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).ignoring(</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Exception.class</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 </a:t>
            </a:r>
            <a:endParaRPr lang="en-US" sz="1600" kern="100" dirty="0">
              <a:effectLst/>
              <a:latin typeface="Calibri" panose="020F0502020204030204" pitchFamily="34" charset="0"/>
              <a:ea typeface="Calibri" panose="020F0502020204030204" pitchFamily="34" charset="0"/>
              <a:cs typeface="Cordia New" panose="020B0304020202020204" pitchFamily="34" charset="-34"/>
            </a:endParaRPr>
          </a:p>
          <a:p>
            <a:pPr marL="457200" lvl="1" indent="0">
              <a:lnSpc>
                <a:spcPct val="107000"/>
              </a:lnSpc>
              <a:spcBef>
                <a:spcPts val="0"/>
              </a:spcBef>
              <a:spcAft>
                <a:spcPts val="800"/>
              </a:spcAft>
              <a:buNone/>
            </a:pP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WebElement</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 foo = </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wait.until</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(new Function&lt;WebDriver, </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WebElement</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&gt;() {</a:t>
            </a:r>
          </a:p>
          <a:p>
            <a:pPr marL="457200" lvl="1" indent="0">
              <a:lnSpc>
                <a:spcPct val="107000"/>
              </a:lnSpc>
              <a:spcBef>
                <a:spcPts val="0"/>
              </a:spcBef>
              <a:spcAft>
                <a:spcPts val="800"/>
              </a:spcAft>
              <a:buNone/>
            </a:pPr>
            <a:r>
              <a:rPr lang="en-IN" sz="1600" kern="100" dirty="0">
                <a:effectLst/>
                <a:latin typeface="Calibri" panose="020F0502020204030204" pitchFamily="34" charset="0"/>
                <a:ea typeface="Calibri" panose="020F0502020204030204" pitchFamily="34" charset="0"/>
                <a:cs typeface="Cordia New" panose="020B0304020202020204" pitchFamily="34" charset="-34"/>
              </a:rPr>
              <a:t>public </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WebElement</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 apply(WebDriver driver) {</a:t>
            </a:r>
            <a:endParaRPr lang="en-US" sz="1600" kern="100" dirty="0">
              <a:effectLst/>
              <a:latin typeface="Calibri" panose="020F0502020204030204" pitchFamily="34" charset="0"/>
              <a:ea typeface="Calibri" panose="020F0502020204030204" pitchFamily="34" charset="0"/>
              <a:cs typeface="Cordia New" panose="020B0304020202020204" pitchFamily="34" charset="-34"/>
            </a:endParaRPr>
          </a:p>
          <a:p>
            <a:pPr marL="457200" lvl="1" indent="0">
              <a:lnSpc>
                <a:spcPct val="107000"/>
              </a:lnSpc>
              <a:spcBef>
                <a:spcPts val="0"/>
              </a:spcBef>
              <a:spcAft>
                <a:spcPts val="800"/>
              </a:spcAft>
              <a:buNone/>
            </a:pPr>
            <a:r>
              <a:rPr lang="en-IN" sz="1600" kern="100" dirty="0">
                <a:effectLst/>
                <a:latin typeface="Calibri" panose="020F0502020204030204" pitchFamily="34" charset="0"/>
                <a:ea typeface="Calibri" panose="020F0502020204030204" pitchFamily="34" charset="0"/>
                <a:cs typeface="Cordia New" panose="020B0304020202020204" pitchFamily="34" charset="-34"/>
              </a:rPr>
              <a:t>return </a:t>
            </a:r>
            <a:r>
              <a:rPr lang="en-IN" sz="1600" kern="100" dirty="0" err="1">
                <a:effectLst/>
                <a:latin typeface="Calibri" panose="020F0502020204030204" pitchFamily="34" charset="0"/>
                <a:ea typeface="Calibri" panose="020F0502020204030204" pitchFamily="34" charset="0"/>
                <a:cs typeface="Cordia New" panose="020B0304020202020204" pitchFamily="34" charset="-34"/>
              </a:rPr>
              <a:t>driver.findElement</a:t>
            </a:r>
            <a:r>
              <a:rPr lang="en-IN" sz="1600" kern="100" dirty="0">
                <a:effectLst/>
                <a:latin typeface="Calibri" panose="020F0502020204030204" pitchFamily="34" charset="0"/>
                <a:ea typeface="Calibri" panose="020F0502020204030204" pitchFamily="34" charset="0"/>
                <a:cs typeface="Cordia New" panose="020B0304020202020204" pitchFamily="34" charset="-34"/>
              </a:rPr>
              <a:t>(By.id("foo"));}});</a:t>
            </a:r>
            <a:endParaRPr lang="fr-FR" sz="1600" b="0" i="0" dirty="0">
              <a:solidFill>
                <a:srgbClr val="333333"/>
              </a:solidFill>
              <a:effectLst/>
              <a:latin typeface="source-sans-pro"/>
            </a:endParaRPr>
          </a:p>
          <a:p>
            <a:r>
              <a:rPr lang="en-US" sz="2000" dirty="0">
                <a:solidFill>
                  <a:srgbClr val="333333"/>
                </a:solidFill>
                <a:latin typeface="source-sans-pro"/>
              </a:rPr>
              <a:t>While using Fluent Wait, it is possible to set a default polling period as needed. The user can configure the wait to ignore any exceptions during the polling period</a:t>
            </a:r>
          </a:p>
          <a:p>
            <a:endParaRPr lang="en-US" sz="2000" dirty="0"/>
          </a:p>
        </p:txBody>
      </p:sp>
      <p:pic>
        <p:nvPicPr>
          <p:cNvPr id="4" name="Picture 3">
            <a:extLst>
              <a:ext uri="{FF2B5EF4-FFF2-40B4-BE49-F238E27FC236}">
                <a16:creationId xmlns:a16="http://schemas.microsoft.com/office/drawing/2014/main" id="{7F56B9AD-102B-BE72-3EFD-5B13652F7585}"/>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95630" y="6419024"/>
            <a:ext cx="948263" cy="288875"/>
          </a:xfrm>
          <a:prstGeom prst="rect">
            <a:avLst/>
          </a:prstGeom>
        </p:spPr>
      </p:pic>
    </p:spTree>
    <p:extLst>
      <p:ext uri="{BB962C8B-B14F-4D97-AF65-F5344CB8AC3E}">
        <p14:creationId xmlns:p14="http://schemas.microsoft.com/office/powerpoint/2010/main" val="4052768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CABDDC67-E6EB-DCBE-4B97-0F17BD595530}"/>
              </a:ext>
            </a:extLst>
          </p:cNvPr>
          <p:cNvSpPr>
            <a:spLocks noGrp="1"/>
          </p:cNvSpPr>
          <p:nvPr>
            <p:ph type="ctrTitle"/>
          </p:nvPr>
        </p:nvSpPr>
        <p:spPr>
          <a:xfrm>
            <a:off x="1314824" y="735106"/>
            <a:ext cx="10053763" cy="2928470"/>
          </a:xfrm>
        </p:spPr>
        <p:txBody>
          <a:bodyPr anchor="b">
            <a:normAutofit/>
          </a:bodyPr>
          <a:lstStyle/>
          <a:p>
            <a:pPr algn="l"/>
            <a:r>
              <a:rPr lang="en-US" sz="4800" dirty="0">
                <a:solidFill>
                  <a:srgbClr val="FFFFFF"/>
                </a:solidFill>
              </a:rPr>
              <a:t>Thank you!</a:t>
            </a:r>
          </a:p>
        </p:txBody>
      </p:sp>
      <p:pic>
        <p:nvPicPr>
          <p:cNvPr id="8" name="Picture 7">
            <a:extLst>
              <a:ext uri="{FF2B5EF4-FFF2-40B4-BE49-F238E27FC236}">
                <a16:creationId xmlns:a16="http://schemas.microsoft.com/office/drawing/2014/main" id="{4C5E1143-D490-12B8-4553-0FFBFDBE8483}"/>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0452271" y="6258479"/>
            <a:ext cx="1438275" cy="438150"/>
          </a:xfrm>
          <a:prstGeom prst="rect">
            <a:avLst/>
          </a:prstGeom>
        </p:spPr>
      </p:pic>
    </p:spTree>
    <p:extLst>
      <p:ext uri="{BB962C8B-B14F-4D97-AF65-F5344CB8AC3E}">
        <p14:creationId xmlns:p14="http://schemas.microsoft.com/office/powerpoint/2010/main" val="10234724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0bfa236d-8472-42aa-9a40-ab46036c5596}" enabled="1" method="Privileged" siteId="{e0793d39-0939-496d-b129-198edd916feb}" contentBits="0" removed="0"/>
</clbl:labelList>
</file>

<file path=docProps/app.xml><?xml version="1.0" encoding="utf-8"?>
<Properties xmlns="http://schemas.openxmlformats.org/officeDocument/2006/extended-properties" xmlns:vt="http://schemas.openxmlformats.org/officeDocument/2006/docPropsVTypes">
  <Template/>
  <TotalTime>6520</TotalTime>
  <Words>1701</Words>
  <Application>Microsoft Office PowerPoint</Application>
  <PresentationFormat>Widescreen</PresentationFormat>
  <Paragraphs>151</Paragraphs>
  <Slides>22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Calibri</vt:lpstr>
      <vt:lpstr>Calibri Light</vt:lpstr>
      <vt:lpstr>Source Sans Pro</vt:lpstr>
      <vt:lpstr>source-sans-pro</vt:lpstr>
      <vt:lpstr>source-serif-pro</vt:lpstr>
      <vt:lpstr>Office Theme</vt:lpstr>
      <vt:lpstr>XPATHS and Different Waits in Selenium Web driver</vt:lpstr>
      <vt:lpstr>Let's explore XPATHS:</vt:lpstr>
      <vt:lpstr>Types of Xpath:</vt:lpstr>
      <vt:lpstr>Absolute XPATH </vt:lpstr>
      <vt:lpstr>Relative XPATH </vt:lpstr>
      <vt:lpstr>Xpaths for Dynamic Elements</vt:lpstr>
      <vt:lpstr>Using ‘AND’ operator</vt:lpstr>
      <vt:lpstr>Using ‘OR’ operator</vt:lpstr>
      <vt:lpstr>Using ‘contains’</vt:lpstr>
      <vt:lpstr>Using ‘text()’</vt:lpstr>
      <vt:lpstr>Using ‘starts-with()’</vt:lpstr>
      <vt:lpstr>What are xpath axes?  </vt:lpstr>
      <vt:lpstr>Following</vt:lpstr>
      <vt:lpstr>Ancestor </vt:lpstr>
      <vt:lpstr>Child </vt:lpstr>
      <vt:lpstr>Other xpath axes</vt:lpstr>
      <vt:lpstr>Waits in selenium webdriver</vt:lpstr>
      <vt:lpstr>What are wait commands and why do we need waits? </vt:lpstr>
      <vt:lpstr>Implicit wait</vt:lpstr>
      <vt:lpstr>Explicit wait</vt:lpstr>
      <vt:lpstr>Fluent wait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XPATHS, Different Waits, Frames and Alerts in Selenium Web driver</dc:title>
  <dc:creator>Prakash Tatsat, Gauri</dc:creator>
  <cp:lastModifiedBy>Kumar, Himansu</cp:lastModifiedBy>
  <cp:revision>37</cp:revision>
  <dcterms:created xsi:type="dcterms:W3CDTF">2024-04-11T05:48:16Z</dcterms:created>
  <dcterms:modified xsi:type="dcterms:W3CDTF">2026-09-30T00:11:32Z</dcterms:modified>
</cp:coreProperties>
</file>