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1"/>
  </p:sldMasterIdLst>
  <p:sldIdLst>
    <p:sldId id="256" r:id="rId2"/>
    <p:sldId id="275" r:id="rId3"/>
    <p:sldId id="276" r:id="rId4"/>
    <p:sldId id="277" r:id="rId5"/>
    <p:sldId id="257" r:id="rId6"/>
    <p:sldId id="261" r:id="rId7"/>
    <p:sldId id="258" r:id="rId8"/>
    <p:sldId id="265" r:id="rId9"/>
    <p:sldId id="266" r:id="rId10"/>
    <p:sldId id="267" r:id="rId11"/>
    <p:sldId id="268" r:id="rId12"/>
    <p:sldId id="272" r:id="rId13"/>
    <p:sldId id="260" r:id="rId14"/>
    <p:sldId id="264" r:id="rId15"/>
    <p:sldId id="271" r:id="rId16"/>
    <p:sldId id="273" r:id="rId17"/>
    <p:sldId id="270" r:id="rId18"/>
    <p:sldId id="259"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3B6352-8AA4-4021-9E52-765934FFA1FA}" type="doc">
      <dgm:prSet loTypeId="urn:microsoft.com/office/officeart/2018/2/layout/IconLabelList" loCatId="icon" qsTypeId="urn:microsoft.com/office/officeart/2005/8/quickstyle/simple1#1" qsCatId="simple" csTypeId="urn:microsoft.com/office/officeart/2005/8/colors/accent1_2#1" csCatId="accent1" phldr="1"/>
      <dgm:spPr/>
      <dgm:t>
        <a:bodyPr/>
        <a:lstStyle/>
        <a:p>
          <a:endParaRPr lang="en-US"/>
        </a:p>
      </dgm:t>
    </dgm:pt>
    <dgm:pt modelId="{23BDFD39-5F14-4C38-93F7-D65BBD181B41}">
      <dgm:prSet custT="1"/>
      <dgm:spPr/>
      <dgm:t>
        <a:bodyPr/>
        <a:lstStyle/>
        <a:p>
          <a:pPr>
            <a:lnSpc>
              <a:spcPct val="100000"/>
            </a:lnSpc>
          </a:pPr>
          <a:r>
            <a:rPr lang="en-US" sz="1600" b="1" dirty="0"/>
            <a:t>E - Extraction</a:t>
          </a:r>
        </a:p>
      </dgm:t>
    </dgm:pt>
    <dgm:pt modelId="{DA4FEC19-3D0B-42B0-94E7-AEEE1117E0FB}" type="parTrans" cxnId="{649BA4AB-70D5-4438-B789-CD6C131D26BD}">
      <dgm:prSet/>
      <dgm:spPr/>
      <dgm:t>
        <a:bodyPr/>
        <a:lstStyle/>
        <a:p>
          <a:endParaRPr lang="en-US"/>
        </a:p>
      </dgm:t>
    </dgm:pt>
    <dgm:pt modelId="{92CFB706-A505-46FC-820C-D1F4443E7115}" type="sibTrans" cxnId="{649BA4AB-70D5-4438-B789-CD6C131D26BD}">
      <dgm:prSet/>
      <dgm:spPr/>
      <dgm:t>
        <a:bodyPr/>
        <a:lstStyle/>
        <a:p>
          <a:endParaRPr lang="en-US"/>
        </a:p>
      </dgm:t>
    </dgm:pt>
    <dgm:pt modelId="{824BE012-F0D7-4154-A9FB-8C277A331CF2}">
      <dgm:prSet custT="1"/>
      <dgm:spPr/>
      <dgm:t>
        <a:bodyPr/>
        <a:lstStyle/>
        <a:p>
          <a:pPr>
            <a:lnSpc>
              <a:spcPct val="100000"/>
            </a:lnSpc>
          </a:pPr>
          <a:r>
            <a:rPr lang="en-US" sz="1600" b="1"/>
            <a:t>T - Transformation</a:t>
          </a:r>
        </a:p>
      </dgm:t>
    </dgm:pt>
    <dgm:pt modelId="{64C6808D-86A0-47CF-AB2F-83E18C973E78}" type="parTrans" cxnId="{33DA1465-B5C6-4FEA-94D7-1678CD2E721E}">
      <dgm:prSet/>
      <dgm:spPr/>
      <dgm:t>
        <a:bodyPr/>
        <a:lstStyle/>
        <a:p>
          <a:endParaRPr lang="en-US"/>
        </a:p>
      </dgm:t>
    </dgm:pt>
    <dgm:pt modelId="{36E81AA3-4721-41C3-875A-9D2B489EE860}" type="sibTrans" cxnId="{33DA1465-B5C6-4FEA-94D7-1678CD2E721E}">
      <dgm:prSet/>
      <dgm:spPr/>
      <dgm:t>
        <a:bodyPr/>
        <a:lstStyle/>
        <a:p>
          <a:endParaRPr lang="en-US"/>
        </a:p>
      </dgm:t>
    </dgm:pt>
    <dgm:pt modelId="{0E760BE1-E73C-4CA4-9CB6-1D3A60137E77}">
      <dgm:prSet custT="1"/>
      <dgm:spPr/>
      <dgm:t>
        <a:bodyPr/>
        <a:lstStyle/>
        <a:p>
          <a:pPr>
            <a:lnSpc>
              <a:spcPct val="100000"/>
            </a:lnSpc>
          </a:pPr>
          <a:r>
            <a:rPr lang="en-US" sz="1600" b="1"/>
            <a:t>L - Loading </a:t>
          </a:r>
        </a:p>
      </dgm:t>
    </dgm:pt>
    <dgm:pt modelId="{EE465266-5C95-461B-850C-1AC91617F1A6}" type="parTrans" cxnId="{210FEC37-2293-4098-A2A2-8DE6D43652AB}">
      <dgm:prSet/>
      <dgm:spPr/>
      <dgm:t>
        <a:bodyPr/>
        <a:lstStyle/>
        <a:p>
          <a:endParaRPr lang="en-US"/>
        </a:p>
      </dgm:t>
    </dgm:pt>
    <dgm:pt modelId="{FAC155F6-A092-4DDD-81E6-EF9DBC3762E3}" type="sibTrans" cxnId="{210FEC37-2293-4098-A2A2-8DE6D43652AB}">
      <dgm:prSet/>
      <dgm:spPr/>
      <dgm:t>
        <a:bodyPr/>
        <a:lstStyle/>
        <a:p>
          <a:endParaRPr lang="en-US"/>
        </a:p>
      </dgm:t>
    </dgm:pt>
    <dgm:pt modelId="{821ACE90-C16E-4E6F-959A-3F295EDDE0EE}">
      <dgm:prSet custT="1"/>
      <dgm:spPr/>
      <dgm:t>
        <a:bodyPr/>
        <a:lstStyle/>
        <a:p>
          <a:pPr>
            <a:lnSpc>
              <a:spcPct val="100000"/>
            </a:lnSpc>
          </a:pPr>
          <a:r>
            <a:rPr lang="en-US" sz="1600" b="1" dirty="0"/>
            <a:t>Extraction , transform and load is the process of combining data from multiple sources into central repository called as data warehouse.</a:t>
          </a:r>
        </a:p>
      </dgm:t>
    </dgm:pt>
    <dgm:pt modelId="{1FA733B7-BC09-4B8E-9A89-8E77086EB44F}" type="parTrans" cxnId="{94249CD7-34F7-4E07-9AC2-CCD16C6DE627}">
      <dgm:prSet/>
      <dgm:spPr/>
      <dgm:t>
        <a:bodyPr/>
        <a:lstStyle/>
        <a:p>
          <a:endParaRPr lang="en-US"/>
        </a:p>
      </dgm:t>
    </dgm:pt>
    <dgm:pt modelId="{F924D51B-922B-48A5-8725-4E3EE61E1909}" type="sibTrans" cxnId="{94249CD7-34F7-4E07-9AC2-CCD16C6DE627}">
      <dgm:prSet/>
      <dgm:spPr/>
      <dgm:t>
        <a:bodyPr/>
        <a:lstStyle/>
        <a:p>
          <a:endParaRPr lang="en-US"/>
        </a:p>
      </dgm:t>
    </dgm:pt>
    <dgm:pt modelId="{6E046206-FAD0-4AE4-9B51-DEF03CABE0AE}">
      <dgm:prSet custT="1"/>
      <dgm:spPr/>
      <dgm:t>
        <a:bodyPr/>
        <a:lstStyle/>
        <a:p>
          <a:pPr>
            <a:lnSpc>
              <a:spcPct val="100000"/>
            </a:lnSpc>
          </a:pPr>
          <a:r>
            <a:rPr lang="en-US" sz="1600" b="1"/>
            <a:t>ETL uses a set of rules to clean and organize data and prepare it for storage.</a:t>
          </a:r>
        </a:p>
      </dgm:t>
    </dgm:pt>
    <dgm:pt modelId="{C1CC195B-D045-42E0-8780-918B0789542C}" type="parTrans" cxnId="{6C84FC62-8BA6-4DEF-B5D6-B1FA212D8589}">
      <dgm:prSet/>
      <dgm:spPr/>
      <dgm:t>
        <a:bodyPr/>
        <a:lstStyle/>
        <a:p>
          <a:endParaRPr lang="en-US"/>
        </a:p>
      </dgm:t>
    </dgm:pt>
    <dgm:pt modelId="{FA9C7E06-1B61-42B8-9A87-BF7A9A48F490}" type="sibTrans" cxnId="{6C84FC62-8BA6-4DEF-B5D6-B1FA212D8589}">
      <dgm:prSet/>
      <dgm:spPr/>
      <dgm:t>
        <a:bodyPr/>
        <a:lstStyle/>
        <a:p>
          <a:endParaRPr lang="en-US"/>
        </a:p>
      </dgm:t>
    </dgm:pt>
    <dgm:pt modelId="{C39990FA-505D-49EE-AEB9-6AD2D3F3C6D5}" type="pres">
      <dgm:prSet presAssocID="{4E3B6352-8AA4-4021-9E52-765934FFA1FA}" presName="root" presStyleCnt="0">
        <dgm:presLayoutVars>
          <dgm:dir/>
          <dgm:resizeHandles val="exact"/>
        </dgm:presLayoutVars>
      </dgm:prSet>
      <dgm:spPr/>
    </dgm:pt>
    <dgm:pt modelId="{821B0C81-F315-4A24-8969-7AFB92038598}" type="pres">
      <dgm:prSet presAssocID="{23BDFD39-5F14-4C38-93F7-D65BBD181B41}" presName="compNode" presStyleCnt="0"/>
      <dgm:spPr/>
    </dgm:pt>
    <dgm:pt modelId="{E7F54121-6CCA-4F21-895D-20A1ACBE99B6}" type="pres">
      <dgm:prSet presAssocID="{23BDFD39-5F14-4C38-93F7-D65BBD181B41}"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Filter"/>
        </a:ext>
      </dgm:extLst>
    </dgm:pt>
    <dgm:pt modelId="{5A5B8658-1905-4134-950F-7AAB1FFE9A0B}" type="pres">
      <dgm:prSet presAssocID="{23BDFD39-5F14-4C38-93F7-D65BBD181B41}" presName="spaceRect" presStyleCnt="0"/>
      <dgm:spPr/>
    </dgm:pt>
    <dgm:pt modelId="{72EE9A8C-CBEF-4C2B-842C-905BD51EC0DC}" type="pres">
      <dgm:prSet presAssocID="{23BDFD39-5F14-4C38-93F7-D65BBD181B41}" presName="textRect" presStyleLbl="revTx" presStyleIdx="0" presStyleCnt="5" custScaleY="44382">
        <dgm:presLayoutVars>
          <dgm:chMax val="1"/>
          <dgm:chPref val="1"/>
        </dgm:presLayoutVars>
      </dgm:prSet>
      <dgm:spPr/>
    </dgm:pt>
    <dgm:pt modelId="{E7E194E0-5F4B-42B3-8D00-F90BC771694F}" type="pres">
      <dgm:prSet presAssocID="{92CFB706-A505-46FC-820C-D1F4443E7115}" presName="sibTrans" presStyleCnt="0"/>
      <dgm:spPr/>
    </dgm:pt>
    <dgm:pt modelId="{6F48DFAE-06CB-4CE7-8C31-8FC9E099ECC9}" type="pres">
      <dgm:prSet presAssocID="{824BE012-F0D7-4154-A9FB-8C277A331CF2}" presName="compNode" presStyleCnt="0"/>
      <dgm:spPr/>
    </dgm:pt>
    <dgm:pt modelId="{F7A5A9BD-0A58-4819-9319-5FA6C42E2C59}" type="pres">
      <dgm:prSet presAssocID="{824BE012-F0D7-4154-A9FB-8C277A331CF2}"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BED7A82C-37F0-4872-801F-18B04BBA6C96}" type="pres">
      <dgm:prSet presAssocID="{824BE012-F0D7-4154-A9FB-8C277A331CF2}" presName="spaceRect" presStyleCnt="0"/>
      <dgm:spPr/>
    </dgm:pt>
    <dgm:pt modelId="{A8C1FB2D-FC4D-4A46-AD09-7B23CA515B6B}" type="pres">
      <dgm:prSet presAssocID="{824BE012-F0D7-4154-A9FB-8C277A331CF2}" presName="textRect" presStyleLbl="revTx" presStyleIdx="1" presStyleCnt="5" custScaleY="44382">
        <dgm:presLayoutVars>
          <dgm:chMax val="1"/>
          <dgm:chPref val="1"/>
        </dgm:presLayoutVars>
      </dgm:prSet>
      <dgm:spPr/>
    </dgm:pt>
    <dgm:pt modelId="{F5E59197-188A-4329-920F-7568E9D33DD8}" type="pres">
      <dgm:prSet presAssocID="{36E81AA3-4721-41C3-875A-9D2B489EE860}" presName="sibTrans" presStyleCnt="0"/>
      <dgm:spPr/>
    </dgm:pt>
    <dgm:pt modelId="{1C08F1E6-6AF0-4437-9EBB-6AF86B189E6D}" type="pres">
      <dgm:prSet presAssocID="{0E760BE1-E73C-4CA4-9CB6-1D3A60137E77}" presName="compNode" presStyleCnt="0"/>
      <dgm:spPr/>
    </dgm:pt>
    <dgm:pt modelId="{D7829554-9052-40B4-B4F9-D3D8007CA4EE}" type="pres">
      <dgm:prSet presAssocID="{0E760BE1-E73C-4CA4-9CB6-1D3A60137E77}"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Loading"/>
        </a:ext>
      </dgm:extLst>
    </dgm:pt>
    <dgm:pt modelId="{C6C53193-C917-4D84-A00F-848FBBB6DD5C}" type="pres">
      <dgm:prSet presAssocID="{0E760BE1-E73C-4CA4-9CB6-1D3A60137E77}" presName="spaceRect" presStyleCnt="0"/>
      <dgm:spPr/>
    </dgm:pt>
    <dgm:pt modelId="{9DC18BC7-9CCF-4AA3-8E7F-EF8104519594}" type="pres">
      <dgm:prSet presAssocID="{0E760BE1-E73C-4CA4-9CB6-1D3A60137E77}" presName="textRect" presStyleLbl="revTx" presStyleIdx="2" presStyleCnt="5" custScaleY="44382">
        <dgm:presLayoutVars>
          <dgm:chMax val="1"/>
          <dgm:chPref val="1"/>
        </dgm:presLayoutVars>
      </dgm:prSet>
      <dgm:spPr/>
    </dgm:pt>
    <dgm:pt modelId="{9797D41A-C925-4F58-BD7C-B41716DF00D7}" type="pres">
      <dgm:prSet presAssocID="{FAC155F6-A092-4DDD-81E6-EF9DBC3762E3}" presName="sibTrans" presStyleCnt="0"/>
      <dgm:spPr/>
    </dgm:pt>
    <dgm:pt modelId="{D53DA712-CF13-48D6-94BD-0EBECA7F8832}" type="pres">
      <dgm:prSet presAssocID="{821ACE90-C16E-4E6F-959A-3F295EDDE0EE}" presName="compNode" presStyleCnt="0"/>
      <dgm:spPr/>
    </dgm:pt>
    <dgm:pt modelId="{9A6BD956-DB4D-4697-B748-13133B139636}" type="pres">
      <dgm:prSet presAssocID="{821ACE90-C16E-4E6F-959A-3F295EDDE0EE}"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E5F67B2C-7E5E-45B0-876C-A0EAD7B4EE35}" type="pres">
      <dgm:prSet presAssocID="{821ACE90-C16E-4E6F-959A-3F295EDDE0EE}" presName="spaceRect" presStyleCnt="0"/>
      <dgm:spPr/>
    </dgm:pt>
    <dgm:pt modelId="{E15A2704-9EC1-410E-82AB-56734281CA46}" type="pres">
      <dgm:prSet presAssocID="{821ACE90-C16E-4E6F-959A-3F295EDDE0EE}" presName="textRect" presStyleLbl="revTx" presStyleIdx="3" presStyleCnt="5" custScaleX="127927">
        <dgm:presLayoutVars>
          <dgm:chMax val="1"/>
          <dgm:chPref val="1"/>
        </dgm:presLayoutVars>
      </dgm:prSet>
      <dgm:spPr/>
    </dgm:pt>
    <dgm:pt modelId="{885FE75C-E8DF-45C1-91B0-5B6F2DFE94D2}" type="pres">
      <dgm:prSet presAssocID="{F924D51B-922B-48A5-8725-4E3EE61E1909}" presName="sibTrans" presStyleCnt="0"/>
      <dgm:spPr/>
    </dgm:pt>
    <dgm:pt modelId="{44F8E783-25B1-42EA-A555-94F8C9EB2B52}" type="pres">
      <dgm:prSet presAssocID="{6E046206-FAD0-4AE4-9B51-DEF03CABE0AE}" presName="compNode" presStyleCnt="0"/>
      <dgm:spPr/>
    </dgm:pt>
    <dgm:pt modelId="{97FC3824-5545-449F-B069-C6BC78177202}" type="pres">
      <dgm:prSet presAssocID="{6E046206-FAD0-4AE4-9B51-DEF03CABE0AE}"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Open Folder"/>
        </a:ext>
      </dgm:extLst>
    </dgm:pt>
    <dgm:pt modelId="{1DC70FB8-CFDE-4C4A-9304-B02D98039389}" type="pres">
      <dgm:prSet presAssocID="{6E046206-FAD0-4AE4-9B51-DEF03CABE0AE}" presName="spaceRect" presStyleCnt="0"/>
      <dgm:spPr/>
    </dgm:pt>
    <dgm:pt modelId="{423C39E0-AE7D-4542-8DAB-445B85EAECE9}" type="pres">
      <dgm:prSet presAssocID="{6E046206-FAD0-4AE4-9B51-DEF03CABE0AE}" presName="textRect" presStyleLbl="revTx" presStyleIdx="4" presStyleCnt="5">
        <dgm:presLayoutVars>
          <dgm:chMax val="1"/>
          <dgm:chPref val="1"/>
        </dgm:presLayoutVars>
      </dgm:prSet>
      <dgm:spPr/>
    </dgm:pt>
  </dgm:ptLst>
  <dgm:cxnLst>
    <dgm:cxn modelId="{E7D94008-D997-4535-82C7-0CE77721AD2B}" type="presOf" srcId="{4E3B6352-8AA4-4021-9E52-765934FFA1FA}" destId="{C39990FA-505D-49EE-AEB9-6AD2D3F3C6D5}" srcOrd="0" destOrd="0" presId="urn:microsoft.com/office/officeart/2018/2/layout/IconLabelList"/>
    <dgm:cxn modelId="{210FEC37-2293-4098-A2A2-8DE6D43652AB}" srcId="{4E3B6352-8AA4-4021-9E52-765934FFA1FA}" destId="{0E760BE1-E73C-4CA4-9CB6-1D3A60137E77}" srcOrd="2" destOrd="0" parTransId="{EE465266-5C95-461B-850C-1AC91617F1A6}" sibTransId="{FAC155F6-A092-4DDD-81E6-EF9DBC3762E3}"/>
    <dgm:cxn modelId="{74F44538-AFCD-44BC-A861-61EC36EF1434}" type="presOf" srcId="{824BE012-F0D7-4154-A9FB-8C277A331CF2}" destId="{A8C1FB2D-FC4D-4A46-AD09-7B23CA515B6B}" srcOrd="0" destOrd="0" presId="urn:microsoft.com/office/officeart/2018/2/layout/IconLabelList"/>
    <dgm:cxn modelId="{6C84FC62-8BA6-4DEF-B5D6-B1FA212D8589}" srcId="{4E3B6352-8AA4-4021-9E52-765934FFA1FA}" destId="{6E046206-FAD0-4AE4-9B51-DEF03CABE0AE}" srcOrd="4" destOrd="0" parTransId="{C1CC195B-D045-42E0-8780-918B0789542C}" sibTransId="{FA9C7E06-1B61-42B8-9A87-BF7A9A48F490}"/>
    <dgm:cxn modelId="{33DA1465-B5C6-4FEA-94D7-1678CD2E721E}" srcId="{4E3B6352-8AA4-4021-9E52-765934FFA1FA}" destId="{824BE012-F0D7-4154-A9FB-8C277A331CF2}" srcOrd="1" destOrd="0" parTransId="{64C6808D-86A0-47CF-AB2F-83E18C973E78}" sibTransId="{36E81AA3-4721-41C3-875A-9D2B489EE860}"/>
    <dgm:cxn modelId="{749C5196-6E8B-407F-921C-8B28F3C88C08}" type="presOf" srcId="{23BDFD39-5F14-4C38-93F7-D65BBD181B41}" destId="{72EE9A8C-CBEF-4C2B-842C-905BD51EC0DC}" srcOrd="0" destOrd="0" presId="urn:microsoft.com/office/officeart/2018/2/layout/IconLabelList"/>
    <dgm:cxn modelId="{D4CAC1A9-5523-493E-A3A6-D823591AD18D}" type="presOf" srcId="{6E046206-FAD0-4AE4-9B51-DEF03CABE0AE}" destId="{423C39E0-AE7D-4542-8DAB-445B85EAECE9}" srcOrd="0" destOrd="0" presId="urn:microsoft.com/office/officeart/2018/2/layout/IconLabelList"/>
    <dgm:cxn modelId="{649BA4AB-70D5-4438-B789-CD6C131D26BD}" srcId="{4E3B6352-8AA4-4021-9E52-765934FFA1FA}" destId="{23BDFD39-5F14-4C38-93F7-D65BBD181B41}" srcOrd="0" destOrd="0" parTransId="{DA4FEC19-3D0B-42B0-94E7-AEEE1117E0FB}" sibTransId="{92CFB706-A505-46FC-820C-D1F4443E7115}"/>
    <dgm:cxn modelId="{94249CD7-34F7-4E07-9AC2-CCD16C6DE627}" srcId="{4E3B6352-8AA4-4021-9E52-765934FFA1FA}" destId="{821ACE90-C16E-4E6F-959A-3F295EDDE0EE}" srcOrd="3" destOrd="0" parTransId="{1FA733B7-BC09-4B8E-9A89-8E77086EB44F}" sibTransId="{F924D51B-922B-48A5-8725-4E3EE61E1909}"/>
    <dgm:cxn modelId="{32CA8ADC-8C5E-4EE8-8CFC-EC33EA241382}" type="presOf" srcId="{821ACE90-C16E-4E6F-959A-3F295EDDE0EE}" destId="{E15A2704-9EC1-410E-82AB-56734281CA46}" srcOrd="0" destOrd="0" presId="urn:microsoft.com/office/officeart/2018/2/layout/IconLabelList"/>
    <dgm:cxn modelId="{E44EC7DE-F706-4F94-850E-D9CEA4719B9A}" type="presOf" srcId="{0E760BE1-E73C-4CA4-9CB6-1D3A60137E77}" destId="{9DC18BC7-9CCF-4AA3-8E7F-EF8104519594}" srcOrd="0" destOrd="0" presId="urn:microsoft.com/office/officeart/2018/2/layout/IconLabelList"/>
    <dgm:cxn modelId="{6D2E9743-2214-4933-8114-C7E95F72CB2E}" type="presParOf" srcId="{C39990FA-505D-49EE-AEB9-6AD2D3F3C6D5}" destId="{821B0C81-F315-4A24-8969-7AFB92038598}" srcOrd="0" destOrd="0" presId="urn:microsoft.com/office/officeart/2018/2/layout/IconLabelList"/>
    <dgm:cxn modelId="{7CAEC833-8BD8-4CC1-A9F6-66464B5CF502}" type="presParOf" srcId="{821B0C81-F315-4A24-8969-7AFB92038598}" destId="{E7F54121-6CCA-4F21-895D-20A1ACBE99B6}" srcOrd="0" destOrd="0" presId="urn:microsoft.com/office/officeart/2018/2/layout/IconLabelList"/>
    <dgm:cxn modelId="{AA8DA7E5-2883-48E9-91E9-57DC40548D42}" type="presParOf" srcId="{821B0C81-F315-4A24-8969-7AFB92038598}" destId="{5A5B8658-1905-4134-950F-7AAB1FFE9A0B}" srcOrd="1" destOrd="0" presId="urn:microsoft.com/office/officeart/2018/2/layout/IconLabelList"/>
    <dgm:cxn modelId="{67CE735F-F822-4528-B80C-D27D3EBA2E03}" type="presParOf" srcId="{821B0C81-F315-4A24-8969-7AFB92038598}" destId="{72EE9A8C-CBEF-4C2B-842C-905BD51EC0DC}" srcOrd="2" destOrd="0" presId="urn:microsoft.com/office/officeart/2018/2/layout/IconLabelList"/>
    <dgm:cxn modelId="{999A31AB-8E2A-4C9E-B39C-BC81E1BEBEB3}" type="presParOf" srcId="{C39990FA-505D-49EE-AEB9-6AD2D3F3C6D5}" destId="{E7E194E0-5F4B-42B3-8D00-F90BC771694F}" srcOrd="1" destOrd="0" presId="urn:microsoft.com/office/officeart/2018/2/layout/IconLabelList"/>
    <dgm:cxn modelId="{91FB1104-D8EC-4C77-A072-AC63435CD177}" type="presParOf" srcId="{C39990FA-505D-49EE-AEB9-6AD2D3F3C6D5}" destId="{6F48DFAE-06CB-4CE7-8C31-8FC9E099ECC9}" srcOrd="2" destOrd="0" presId="urn:microsoft.com/office/officeart/2018/2/layout/IconLabelList"/>
    <dgm:cxn modelId="{CF545974-EDEA-45AF-9BAC-4368CAF31B8B}" type="presParOf" srcId="{6F48DFAE-06CB-4CE7-8C31-8FC9E099ECC9}" destId="{F7A5A9BD-0A58-4819-9319-5FA6C42E2C59}" srcOrd="0" destOrd="0" presId="urn:microsoft.com/office/officeart/2018/2/layout/IconLabelList"/>
    <dgm:cxn modelId="{1B5A0910-78B6-41EA-A823-8E15DA5C03FC}" type="presParOf" srcId="{6F48DFAE-06CB-4CE7-8C31-8FC9E099ECC9}" destId="{BED7A82C-37F0-4872-801F-18B04BBA6C96}" srcOrd="1" destOrd="0" presId="urn:microsoft.com/office/officeart/2018/2/layout/IconLabelList"/>
    <dgm:cxn modelId="{BFF946C0-9D9A-4767-9635-05741705946C}" type="presParOf" srcId="{6F48DFAE-06CB-4CE7-8C31-8FC9E099ECC9}" destId="{A8C1FB2D-FC4D-4A46-AD09-7B23CA515B6B}" srcOrd="2" destOrd="0" presId="urn:microsoft.com/office/officeart/2018/2/layout/IconLabelList"/>
    <dgm:cxn modelId="{F7F6B4AA-89B7-47E8-A6C8-4DDAB27D4A6C}" type="presParOf" srcId="{C39990FA-505D-49EE-AEB9-6AD2D3F3C6D5}" destId="{F5E59197-188A-4329-920F-7568E9D33DD8}" srcOrd="3" destOrd="0" presId="urn:microsoft.com/office/officeart/2018/2/layout/IconLabelList"/>
    <dgm:cxn modelId="{6F0D7518-C00D-4952-BF78-1965C0C17261}" type="presParOf" srcId="{C39990FA-505D-49EE-AEB9-6AD2D3F3C6D5}" destId="{1C08F1E6-6AF0-4437-9EBB-6AF86B189E6D}" srcOrd="4" destOrd="0" presId="urn:microsoft.com/office/officeart/2018/2/layout/IconLabelList"/>
    <dgm:cxn modelId="{4479CAE4-0ACE-465B-ACB0-E32705237595}" type="presParOf" srcId="{1C08F1E6-6AF0-4437-9EBB-6AF86B189E6D}" destId="{D7829554-9052-40B4-B4F9-D3D8007CA4EE}" srcOrd="0" destOrd="0" presId="urn:microsoft.com/office/officeart/2018/2/layout/IconLabelList"/>
    <dgm:cxn modelId="{1C67017B-9C59-4C13-8E05-73D56FFCD68C}" type="presParOf" srcId="{1C08F1E6-6AF0-4437-9EBB-6AF86B189E6D}" destId="{C6C53193-C917-4D84-A00F-848FBBB6DD5C}" srcOrd="1" destOrd="0" presId="urn:microsoft.com/office/officeart/2018/2/layout/IconLabelList"/>
    <dgm:cxn modelId="{E11639EB-FD2A-4A4B-8048-96C929FC8092}" type="presParOf" srcId="{1C08F1E6-6AF0-4437-9EBB-6AF86B189E6D}" destId="{9DC18BC7-9CCF-4AA3-8E7F-EF8104519594}" srcOrd="2" destOrd="0" presId="urn:microsoft.com/office/officeart/2018/2/layout/IconLabelList"/>
    <dgm:cxn modelId="{D47B17D4-1867-4287-9016-24F671A3A5A2}" type="presParOf" srcId="{C39990FA-505D-49EE-AEB9-6AD2D3F3C6D5}" destId="{9797D41A-C925-4F58-BD7C-B41716DF00D7}" srcOrd="5" destOrd="0" presId="urn:microsoft.com/office/officeart/2018/2/layout/IconLabelList"/>
    <dgm:cxn modelId="{E80F6192-D8DC-47DA-AFCD-F825E81ED357}" type="presParOf" srcId="{C39990FA-505D-49EE-AEB9-6AD2D3F3C6D5}" destId="{D53DA712-CF13-48D6-94BD-0EBECA7F8832}" srcOrd="6" destOrd="0" presId="urn:microsoft.com/office/officeart/2018/2/layout/IconLabelList"/>
    <dgm:cxn modelId="{2451C852-C193-4AEF-9C1F-C495D92F5BC2}" type="presParOf" srcId="{D53DA712-CF13-48D6-94BD-0EBECA7F8832}" destId="{9A6BD956-DB4D-4697-B748-13133B139636}" srcOrd="0" destOrd="0" presId="urn:microsoft.com/office/officeart/2018/2/layout/IconLabelList"/>
    <dgm:cxn modelId="{C28369A4-BC8B-4B2B-B1F8-B2C29A20A43B}" type="presParOf" srcId="{D53DA712-CF13-48D6-94BD-0EBECA7F8832}" destId="{E5F67B2C-7E5E-45B0-876C-A0EAD7B4EE35}" srcOrd="1" destOrd="0" presId="urn:microsoft.com/office/officeart/2018/2/layout/IconLabelList"/>
    <dgm:cxn modelId="{B9B15718-D17B-4E68-8851-8FDCFB33A6F5}" type="presParOf" srcId="{D53DA712-CF13-48D6-94BD-0EBECA7F8832}" destId="{E15A2704-9EC1-410E-82AB-56734281CA46}" srcOrd="2" destOrd="0" presId="urn:microsoft.com/office/officeart/2018/2/layout/IconLabelList"/>
    <dgm:cxn modelId="{560BB3ED-E6ED-44CF-B0BE-A9C4C11FD9B0}" type="presParOf" srcId="{C39990FA-505D-49EE-AEB9-6AD2D3F3C6D5}" destId="{885FE75C-E8DF-45C1-91B0-5B6F2DFE94D2}" srcOrd="7" destOrd="0" presId="urn:microsoft.com/office/officeart/2018/2/layout/IconLabelList"/>
    <dgm:cxn modelId="{6FDE10A0-B265-4150-95ED-259B8DC78B0C}" type="presParOf" srcId="{C39990FA-505D-49EE-AEB9-6AD2D3F3C6D5}" destId="{44F8E783-25B1-42EA-A555-94F8C9EB2B52}" srcOrd="8" destOrd="0" presId="urn:microsoft.com/office/officeart/2018/2/layout/IconLabelList"/>
    <dgm:cxn modelId="{04C1AF72-AC1D-4FD5-B821-B00BD32831A6}" type="presParOf" srcId="{44F8E783-25B1-42EA-A555-94F8C9EB2B52}" destId="{97FC3824-5545-449F-B069-C6BC78177202}" srcOrd="0" destOrd="0" presId="urn:microsoft.com/office/officeart/2018/2/layout/IconLabelList"/>
    <dgm:cxn modelId="{97842049-6BEE-4D43-8B06-935164E9A855}" type="presParOf" srcId="{44F8E783-25B1-42EA-A555-94F8C9EB2B52}" destId="{1DC70FB8-CFDE-4C4A-9304-B02D98039389}" srcOrd="1" destOrd="0" presId="urn:microsoft.com/office/officeart/2018/2/layout/IconLabelList"/>
    <dgm:cxn modelId="{1ABB29E5-8A9E-464A-A665-EF7F6E85011F}" type="presParOf" srcId="{44F8E783-25B1-42EA-A555-94F8C9EB2B52}" destId="{423C39E0-AE7D-4542-8DAB-445B85EAECE9}"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D4F963-24B6-4967-978E-84265B4A28A1}" type="doc">
      <dgm:prSet loTypeId="urn:microsoft.com/office/officeart/2018/2/layout/IconLabelList" loCatId="icon" qsTypeId="urn:microsoft.com/office/officeart/2005/8/quickstyle/simple1#2" qsCatId="simple" csTypeId="urn:microsoft.com/office/officeart/2005/8/colors/accent1_2#2" csCatId="accent1" phldr="1"/>
      <dgm:spPr/>
      <dgm:t>
        <a:bodyPr/>
        <a:lstStyle/>
        <a:p>
          <a:endParaRPr lang="en-US"/>
        </a:p>
      </dgm:t>
    </dgm:pt>
    <dgm:pt modelId="{B9AB752F-A761-4723-B937-5C1EED66A9F3}">
      <dgm:prSet/>
      <dgm:spPr/>
      <dgm:t>
        <a:bodyPr/>
        <a:lstStyle/>
        <a:p>
          <a:pPr>
            <a:lnSpc>
              <a:spcPct val="100000"/>
            </a:lnSpc>
          </a:pPr>
          <a:r>
            <a:rPr lang="en-US"/>
            <a:t>A standardized programing language which is used to manage relational data base and performs various operation on data.</a:t>
          </a:r>
        </a:p>
      </dgm:t>
    </dgm:pt>
    <dgm:pt modelId="{C6AB76D2-B755-477D-B6A8-6241EED386CF}" type="parTrans" cxnId="{5DA0ADFD-B0AD-4D36-AB86-5CFAD58B56EC}">
      <dgm:prSet/>
      <dgm:spPr/>
      <dgm:t>
        <a:bodyPr/>
        <a:lstStyle/>
        <a:p>
          <a:endParaRPr lang="en-US"/>
        </a:p>
      </dgm:t>
    </dgm:pt>
    <dgm:pt modelId="{60664E53-8A87-44D7-AE77-05E1ECD5AA1E}" type="sibTrans" cxnId="{5DA0ADFD-B0AD-4D36-AB86-5CFAD58B56EC}">
      <dgm:prSet/>
      <dgm:spPr/>
      <dgm:t>
        <a:bodyPr/>
        <a:lstStyle/>
        <a:p>
          <a:endParaRPr lang="en-US"/>
        </a:p>
      </dgm:t>
    </dgm:pt>
    <dgm:pt modelId="{A3CE7D0D-F26A-4223-9787-17A5DC669205}">
      <dgm:prSet/>
      <dgm:spPr/>
      <dgm:t>
        <a:bodyPr/>
        <a:lstStyle/>
        <a:p>
          <a:pPr>
            <a:lnSpc>
              <a:spcPct val="100000"/>
            </a:lnSpc>
          </a:pPr>
          <a:r>
            <a:rPr lang="en-US"/>
            <a:t>SQL is used to communicate with database. According to ANSI(American National Standards Institute), it is standard language for RDBMS (Relational database management system).</a:t>
          </a:r>
        </a:p>
      </dgm:t>
    </dgm:pt>
    <dgm:pt modelId="{A3663896-F9EA-41BB-A736-2D50AF9161CC}" type="parTrans" cxnId="{C0CD03DB-051B-4FCE-89E2-E4FB76C082CD}">
      <dgm:prSet/>
      <dgm:spPr/>
      <dgm:t>
        <a:bodyPr/>
        <a:lstStyle/>
        <a:p>
          <a:endParaRPr lang="en-US"/>
        </a:p>
      </dgm:t>
    </dgm:pt>
    <dgm:pt modelId="{DE0EE895-1716-434B-937C-18CAF2AA4F55}" type="sibTrans" cxnId="{C0CD03DB-051B-4FCE-89E2-E4FB76C082CD}">
      <dgm:prSet/>
      <dgm:spPr/>
      <dgm:t>
        <a:bodyPr/>
        <a:lstStyle/>
        <a:p>
          <a:endParaRPr lang="en-US"/>
        </a:p>
      </dgm:t>
    </dgm:pt>
    <dgm:pt modelId="{D1FC0AAC-0E0C-4B57-8F19-63FFE140DE70}">
      <dgm:prSet/>
      <dgm:spPr/>
      <dgm:t>
        <a:bodyPr/>
        <a:lstStyle/>
        <a:p>
          <a:pPr>
            <a:lnSpc>
              <a:spcPct val="100000"/>
            </a:lnSpc>
          </a:pPr>
          <a:r>
            <a:rPr lang="en-US"/>
            <a:t>SQL Comes in many flavors. Oracle databases use its proprietary PL/SQL. Microsoft SQL server makes use of Transact-SQL. All the variations are based upon the industry standard ANSI SQL.</a:t>
          </a:r>
        </a:p>
      </dgm:t>
    </dgm:pt>
    <dgm:pt modelId="{BC8E3A74-6D59-4891-A868-6E45D3DEF094}" type="parTrans" cxnId="{B79D5C13-B11C-4B21-8A69-C3BE387958C6}">
      <dgm:prSet/>
      <dgm:spPr/>
      <dgm:t>
        <a:bodyPr/>
        <a:lstStyle/>
        <a:p>
          <a:endParaRPr lang="en-US"/>
        </a:p>
      </dgm:t>
    </dgm:pt>
    <dgm:pt modelId="{D2112947-EDE0-4691-A586-9C602B3E91A8}" type="sibTrans" cxnId="{B79D5C13-B11C-4B21-8A69-C3BE387958C6}">
      <dgm:prSet/>
      <dgm:spPr/>
      <dgm:t>
        <a:bodyPr/>
        <a:lstStyle/>
        <a:p>
          <a:endParaRPr lang="en-US"/>
        </a:p>
      </dgm:t>
    </dgm:pt>
    <dgm:pt modelId="{22198CEA-EEA1-4CE9-B510-0152A29EE236}" type="pres">
      <dgm:prSet presAssocID="{74D4F963-24B6-4967-978E-84265B4A28A1}" presName="root" presStyleCnt="0">
        <dgm:presLayoutVars>
          <dgm:dir/>
          <dgm:resizeHandles val="exact"/>
        </dgm:presLayoutVars>
      </dgm:prSet>
      <dgm:spPr/>
    </dgm:pt>
    <dgm:pt modelId="{B9357708-348C-43B4-B74B-61420190FE40}" type="pres">
      <dgm:prSet presAssocID="{B9AB752F-A761-4723-B937-5C1EED66A9F3}" presName="compNode" presStyleCnt="0"/>
      <dgm:spPr/>
    </dgm:pt>
    <dgm:pt modelId="{5289292D-D5E6-4B20-AA37-C6D5CB232E11}" type="pres">
      <dgm:prSet presAssocID="{B9AB752F-A761-4723-B937-5C1EED66A9F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774118A4-5875-4777-81EE-E39869ADD5EC}" type="pres">
      <dgm:prSet presAssocID="{B9AB752F-A761-4723-B937-5C1EED66A9F3}" presName="spaceRect" presStyleCnt="0"/>
      <dgm:spPr/>
    </dgm:pt>
    <dgm:pt modelId="{1638A2A4-4038-4027-83FB-773EDC280C20}" type="pres">
      <dgm:prSet presAssocID="{B9AB752F-A761-4723-B937-5C1EED66A9F3}" presName="textRect" presStyleLbl="revTx" presStyleIdx="0" presStyleCnt="3">
        <dgm:presLayoutVars>
          <dgm:chMax val="1"/>
          <dgm:chPref val="1"/>
        </dgm:presLayoutVars>
      </dgm:prSet>
      <dgm:spPr/>
    </dgm:pt>
    <dgm:pt modelId="{5616361A-801F-4A8D-B506-D4772C77A533}" type="pres">
      <dgm:prSet presAssocID="{60664E53-8A87-44D7-AE77-05E1ECD5AA1E}" presName="sibTrans" presStyleCnt="0"/>
      <dgm:spPr/>
    </dgm:pt>
    <dgm:pt modelId="{A0328B74-8201-4C29-92A0-5BCBAFBE35C7}" type="pres">
      <dgm:prSet presAssocID="{A3CE7D0D-F26A-4223-9787-17A5DC669205}" presName="compNode" presStyleCnt="0"/>
      <dgm:spPr/>
    </dgm:pt>
    <dgm:pt modelId="{6C2D2CD4-52EC-47E1-96A4-B27C3ADE8AF3}" type="pres">
      <dgm:prSet presAssocID="{A3CE7D0D-F26A-4223-9787-17A5DC66920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056B6374-CBB4-403B-A9F1-1E6608A1FF12}" type="pres">
      <dgm:prSet presAssocID="{A3CE7D0D-F26A-4223-9787-17A5DC669205}" presName="spaceRect" presStyleCnt="0"/>
      <dgm:spPr/>
    </dgm:pt>
    <dgm:pt modelId="{79409F36-26F9-431F-A933-6D862E6C2494}" type="pres">
      <dgm:prSet presAssocID="{A3CE7D0D-F26A-4223-9787-17A5DC669205}" presName="textRect" presStyleLbl="revTx" presStyleIdx="1" presStyleCnt="3">
        <dgm:presLayoutVars>
          <dgm:chMax val="1"/>
          <dgm:chPref val="1"/>
        </dgm:presLayoutVars>
      </dgm:prSet>
      <dgm:spPr/>
    </dgm:pt>
    <dgm:pt modelId="{970C7068-F8E3-43BB-A1B2-C781875E25AA}" type="pres">
      <dgm:prSet presAssocID="{DE0EE895-1716-434B-937C-18CAF2AA4F55}" presName="sibTrans" presStyleCnt="0"/>
      <dgm:spPr/>
    </dgm:pt>
    <dgm:pt modelId="{825E6E05-C038-48C7-A291-C2ABAE6B1577}" type="pres">
      <dgm:prSet presAssocID="{D1FC0AAC-0E0C-4B57-8F19-63FFE140DE70}" presName="compNode" presStyleCnt="0"/>
      <dgm:spPr/>
    </dgm:pt>
    <dgm:pt modelId="{4543BC1C-DEF8-4A11-8D43-0C78B7EA2B88}" type="pres">
      <dgm:prSet presAssocID="{D1FC0AAC-0E0C-4B57-8F19-63FFE140DE7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erver"/>
        </a:ext>
      </dgm:extLst>
    </dgm:pt>
    <dgm:pt modelId="{40F4A20F-A942-42FC-A773-BF636370BA85}" type="pres">
      <dgm:prSet presAssocID="{D1FC0AAC-0E0C-4B57-8F19-63FFE140DE70}" presName="spaceRect" presStyleCnt="0"/>
      <dgm:spPr/>
    </dgm:pt>
    <dgm:pt modelId="{C088853B-E600-48E5-86A6-B7F9524CF9BC}" type="pres">
      <dgm:prSet presAssocID="{D1FC0AAC-0E0C-4B57-8F19-63FFE140DE70}" presName="textRect" presStyleLbl="revTx" presStyleIdx="2" presStyleCnt="3">
        <dgm:presLayoutVars>
          <dgm:chMax val="1"/>
          <dgm:chPref val="1"/>
        </dgm:presLayoutVars>
      </dgm:prSet>
      <dgm:spPr/>
    </dgm:pt>
  </dgm:ptLst>
  <dgm:cxnLst>
    <dgm:cxn modelId="{B79D5C13-B11C-4B21-8A69-C3BE387958C6}" srcId="{74D4F963-24B6-4967-978E-84265B4A28A1}" destId="{D1FC0AAC-0E0C-4B57-8F19-63FFE140DE70}" srcOrd="2" destOrd="0" parTransId="{BC8E3A74-6D59-4891-A868-6E45D3DEF094}" sibTransId="{D2112947-EDE0-4691-A586-9C602B3E91A8}"/>
    <dgm:cxn modelId="{E251314A-B89C-44F4-8C7C-14CD087318F2}" type="presOf" srcId="{D1FC0AAC-0E0C-4B57-8F19-63FFE140DE70}" destId="{C088853B-E600-48E5-86A6-B7F9524CF9BC}" srcOrd="0" destOrd="0" presId="urn:microsoft.com/office/officeart/2018/2/layout/IconLabelList"/>
    <dgm:cxn modelId="{B93AECAC-B407-4FD3-98F5-819A754EA8DA}" type="presOf" srcId="{B9AB752F-A761-4723-B937-5C1EED66A9F3}" destId="{1638A2A4-4038-4027-83FB-773EDC280C20}" srcOrd="0" destOrd="0" presId="urn:microsoft.com/office/officeart/2018/2/layout/IconLabelList"/>
    <dgm:cxn modelId="{4E3E02C5-C4F3-4C19-B0C3-C974EF2B58F0}" type="presOf" srcId="{A3CE7D0D-F26A-4223-9787-17A5DC669205}" destId="{79409F36-26F9-431F-A933-6D862E6C2494}" srcOrd="0" destOrd="0" presId="urn:microsoft.com/office/officeart/2018/2/layout/IconLabelList"/>
    <dgm:cxn modelId="{C0CD03DB-051B-4FCE-89E2-E4FB76C082CD}" srcId="{74D4F963-24B6-4967-978E-84265B4A28A1}" destId="{A3CE7D0D-F26A-4223-9787-17A5DC669205}" srcOrd="1" destOrd="0" parTransId="{A3663896-F9EA-41BB-A736-2D50AF9161CC}" sibTransId="{DE0EE895-1716-434B-937C-18CAF2AA4F55}"/>
    <dgm:cxn modelId="{238056E9-34FF-4403-A4F2-82EA0B07F333}" type="presOf" srcId="{74D4F963-24B6-4967-978E-84265B4A28A1}" destId="{22198CEA-EEA1-4CE9-B510-0152A29EE236}" srcOrd="0" destOrd="0" presId="urn:microsoft.com/office/officeart/2018/2/layout/IconLabelList"/>
    <dgm:cxn modelId="{5DA0ADFD-B0AD-4D36-AB86-5CFAD58B56EC}" srcId="{74D4F963-24B6-4967-978E-84265B4A28A1}" destId="{B9AB752F-A761-4723-B937-5C1EED66A9F3}" srcOrd="0" destOrd="0" parTransId="{C6AB76D2-B755-477D-B6A8-6241EED386CF}" sibTransId="{60664E53-8A87-44D7-AE77-05E1ECD5AA1E}"/>
    <dgm:cxn modelId="{AECEEBFC-75D7-439C-90A5-96754B608128}" type="presParOf" srcId="{22198CEA-EEA1-4CE9-B510-0152A29EE236}" destId="{B9357708-348C-43B4-B74B-61420190FE40}" srcOrd="0" destOrd="0" presId="urn:microsoft.com/office/officeart/2018/2/layout/IconLabelList"/>
    <dgm:cxn modelId="{58EFCEE8-E3F8-42B9-86F4-9CE806373E30}" type="presParOf" srcId="{B9357708-348C-43B4-B74B-61420190FE40}" destId="{5289292D-D5E6-4B20-AA37-C6D5CB232E11}" srcOrd="0" destOrd="0" presId="urn:microsoft.com/office/officeart/2018/2/layout/IconLabelList"/>
    <dgm:cxn modelId="{3270A1BD-7F54-4C12-AF97-15D347ABE604}" type="presParOf" srcId="{B9357708-348C-43B4-B74B-61420190FE40}" destId="{774118A4-5875-4777-81EE-E39869ADD5EC}" srcOrd="1" destOrd="0" presId="urn:microsoft.com/office/officeart/2018/2/layout/IconLabelList"/>
    <dgm:cxn modelId="{CDF164D8-BFA1-4B1F-856B-EA0737801C73}" type="presParOf" srcId="{B9357708-348C-43B4-B74B-61420190FE40}" destId="{1638A2A4-4038-4027-83FB-773EDC280C20}" srcOrd="2" destOrd="0" presId="urn:microsoft.com/office/officeart/2018/2/layout/IconLabelList"/>
    <dgm:cxn modelId="{FAFF2B5F-713F-4217-AEE4-BEB0888B95CD}" type="presParOf" srcId="{22198CEA-EEA1-4CE9-B510-0152A29EE236}" destId="{5616361A-801F-4A8D-B506-D4772C77A533}" srcOrd="1" destOrd="0" presId="urn:microsoft.com/office/officeart/2018/2/layout/IconLabelList"/>
    <dgm:cxn modelId="{A3E1310A-4981-48DD-9F1E-218EED0DB53B}" type="presParOf" srcId="{22198CEA-EEA1-4CE9-B510-0152A29EE236}" destId="{A0328B74-8201-4C29-92A0-5BCBAFBE35C7}" srcOrd="2" destOrd="0" presId="urn:microsoft.com/office/officeart/2018/2/layout/IconLabelList"/>
    <dgm:cxn modelId="{F8357F7D-F394-42DA-9866-D1CE5869B510}" type="presParOf" srcId="{A0328B74-8201-4C29-92A0-5BCBAFBE35C7}" destId="{6C2D2CD4-52EC-47E1-96A4-B27C3ADE8AF3}" srcOrd="0" destOrd="0" presId="urn:microsoft.com/office/officeart/2018/2/layout/IconLabelList"/>
    <dgm:cxn modelId="{56D39594-6288-4A50-A576-DCD3B4D67206}" type="presParOf" srcId="{A0328B74-8201-4C29-92A0-5BCBAFBE35C7}" destId="{056B6374-CBB4-403B-A9F1-1E6608A1FF12}" srcOrd="1" destOrd="0" presId="urn:microsoft.com/office/officeart/2018/2/layout/IconLabelList"/>
    <dgm:cxn modelId="{78A27BC9-6834-402E-BA58-B4367C3CFE15}" type="presParOf" srcId="{A0328B74-8201-4C29-92A0-5BCBAFBE35C7}" destId="{79409F36-26F9-431F-A933-6D862E6C2494}" srcOrd="2" destOrd="0" presId="urn:microsoft.com/office/officeart/2018/2/layout/IconLabelList"/>
    <dgm:cxn modelId="{F52695DF-35BB-4F1A-B650-959986CF35CE}" type="presParOf" srcId="{22198CEA-EEA1-4CE9-B510-0152A29EE236}" destId="{970C7068-F8E3-43BB-A1B2-C781875E25AA}" srcOrd="3" destOrd="0" presId="urn:microsoft.com/office/officeart/2018/2/layout/IconLabelList"/>
    <dgm:cxn modelId="{4B17843A-1CAE-433A-83FB-031D9937F709}" type="presParOf" srcId="{22198CEA-EEA1-4CE9-B510-0152A29EE236}" destId="{825E6E05-C038-48C7-A291-C2ABAE6B1577}" srcOrd="4" destOrd="0" presId="urn:microsoft.com/office/officeart/2018/2/layout/IconLabelList"/>
    <dgm:cxn modelId="{FDD06F32-B26B-46E2-AA74-D7E6A6A70E8D}" type="presParOf" srcId="{825E6E05-C038-48C7-A291-C2ABAE6B1577}" destId="{4543BC1C-DEF8-4A11-8D43-0C78B7EA2B88}" srcOrd="0" destOrd="0" presId="urn:microsoft.com/office/officeart/2018/2/layout/IconLabelList"/>
    <dgm:cxn modelId="{0E26E864-7421-4E02-AD87-194DBA99FBAF}" type="presParOf" srcId="{825E6E05-C038-48C7-A291-C2ABAE6B1577}" destId="{40F4A20F-A942-42FC-A773-BF636370BA85}" srcOrd="1" destOrd="0" presId="urn:microsoft.com/office/officeart/2018/2/layout/IconLabelList"/>
    <dgm:cxn modelId="{06A30E5D-B701-4673-B9A1-4AC4ADC647C7}" type="presParOf" srcId="{825E6E05-C038-48C7-A291-C2ABAE6B1577}" destId="{C088853B-E600-48E5-86A6-B7F9524CF9B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F54121-6CCA-4F21-895D-20A1ACBE99B6}">
      <dsp:nvSpPr>
        <dsp:cNvPr id="0" name=""/>
        <dsp:cNvSpPr/>
      </dsp:nvSpPr>
      <dsp:spPr>
        <a:xfrm>
          <a:off x="513597" y="1322024"/>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EE9A8C-CBEF-4C2B-842C-905BD51EC0DC}">
      <dsp:nvSpPr>
        <dsp:cNvPr id="0" name=""/>
        <dsp:cNvSpPr/>
      </dsp:nvSpPr>
      <dsp:spPr>
        <a:xfrm>
          <a:off x="18597" y="2720454"/>
          <a:ext cx="1800000" cy="292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dirty="0"/>
            <a:t>E - Extraction</a:t>
          </a:r>
        </a:p>
      </dsp:txBody>
      <dsp:txXfrm>
        <a:off x="18597" y="2720454"/>
        <a:ext cx="1800000" cy="292509"/>
      </dsp:txXfrm>
    </dsp:sp>
    <dsp:sp modelId="{F7A5A9BD-0A58-4819-9319-5FA6C42E2C59}">
      <dsp:nvSpPr>
        <dsp:cNvPr id="0" name=""/>
        <dsp:cNvSpPr/>
      </dsp:nvSpPr>
      <dsp:spPr>
        <a:xfrm>
          <a:off x="2628597" y="1322024"/>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C1FB2D-FC4D-4A46-AD09-7B23CA515B6B}">
      <dsp:nvSpPr>
        <dsp:cNvPr id="0" name=""/>
        <dsp:cNvSpPr/>
      </dsp:nvSpPr>
      <dsp:spPr>
        <a:xfrm>
          <a:off x="2133597" y="2720454"/>
          <a:ext cx="1800000" cy="292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a:t>T - Transformation</a:t>
          </a:r>
        </a:p>
      </dsp:txBody>
      <dsp:txXfrm>
        <a:off x="2133597" y="2720454"/>
        <a:ext cx="1800000" cy="292509"/>
      </dsp:txXfrm>
    </dsp:sp>
    <dsp:sp modelId="{D7829554-9052-40B4-B4F9-D3D8007CA4EE}">
      <dsp:nvSpPr>
        <dsp:cNvPr id="0" name=""/>
        <dsp:cNvSpPr/>
      </dsp:nvSpPr>
      <dsp:spPr>
        <a:xfrm>
          <a:off x="4743597" y="1322024"/>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C18BC7-9CCF-4AA3-8E7F-EF8104519594}">
      <dsp:nvSpPr>
        <dsp:cNvPr id="0" name=""/>
        <dsp:cNvSpPr/>
      </dsp:nvSpPr>
      <dsp:spPr>
        <a:xfrm>
          <a:off x="4248597" y="2720454"/>
          <a:ext cx="1800000" cy="292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a:t>L - Loading </a:t>
          </a:r>
        </a:p>
      </dsp:txBody>
      <dsp:txXfrm>
        <a:off x="4248597" y="2720454"/>
        <a:ext cx="1800000" cy="292509"/>
      </dsp:txXfrm>
    </dsp:sp>
    <dsp:sp modelId="{9A6BD956-DB4D-4697-B748-13133B139636}">
      <dsp:nvSpPr>
        <dsp:cNvPr id="0" name=""/>
        <dsp:cNvSpPr/>
      </dsp:nvSpPr>
      <dsp:spPr>
        <a:xfrm>
          <a:off x="7109940" y="817420"/>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5A2704-9EC1-410E-82AB-56734281CA46}">
      <dsp:nvSpPr>
        <dsp:cNvPr id="0" name=""/>
        <dsp:cNvSpPr/>
      </dsp:nvSpPr>
      <dsp:spPr>
        <a:xfrm>
          <a:off x="6363597" y="2032568"/>
          <a:ext cx="2302686" cy="14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dirty="0"/>
            <a:t>Extraction , transform and load is the process of combining data from multiple sources into central repository called as data warehouse.</a:t>
          </a:r>
        </a:p>
      </dsp:txBody>
      <dsp:txXfrm>
        <a:off x="6363597" y="2032568"/>
        <a:ext cx="2302686" cy="1485000"/>
      </dsp:txXfrm>
    </dsp:sp>
    <dsp:sp modelId="{97FC3824-5545-449F-B069-C6BC78177202}">
      <dsp:nvSpPr>
        <dsp:cNvPr id="0" name=""/>
        <dsp:cNvSpPr/>
      </dsp:nvSpPr>
      <dsp:spPr>
        <a:xfrm>
          <a:off x="9476283" y="817420"/>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3C39E0-AE7D-4542-8DAB-445B85EAECE9}">
      <dsp:nvSpPr>
        <dsp:cNvPr id="0" name=""/>
        <dsp:cNvSpPr/>
      </dsp:nvSpPr>
      <dsp:spPr>
        <a:xfrm>
          <a:off x="8981283" y="2032568"/>
          <a:ext cx="1800000" cy="14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a:t>ETL uses a set of rules to clean and organize data and prepare it for storage.</a:t>
          </a:r>
        </a:p>
      </dsp:txBody>
      <dsp:txXfrm>
        <a:off x="8981283" y="2032568"/>
        <a:ext cx="1800000" cy="148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89292D-D5E6-4B20-AA37-C6D5CB232E11}">
      <dsp:nvSpPr>
        <dsp:cNvPr id="0" name=""/>
        <dsp:cNvSpPr/>
      </dsp:nvSpPr>
      <dsp:spPr>
        <a:xfrm>
          <a:off x="437859" y="657674"/>
          <a:ext cx="712705" cy="7127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38A2A4-4038-4027-83FB-773EDC280C20}">
      <dsp:nvSpPr>
        <dsp:cNvPr id="0" name=""/>
        <dsp:cNvSpPr/>
      </dsp:nvSpPr>
      <dsp:spPr>
        <a:xfrm>
          <a:off x="2317" y="1707784"/>
          <a:ext cx="1583789" cy="1198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A standardized programing language which is used to manage relational data base and performs various operation on data.</a:t>
          </a:r>
        </a:p>
      </dsp:txBody>
      <dsp:txXfrm>
        <a:off x="2317" y="1707784"/>
        <a:ext cx="1583789" cy="1198977"/>
      </dsp:txXfrm>
    </dsp:sp>
    <dsp:sp modelId="{6C2D2CD4-52EC-47E1-96A4-B27C3ADE8AF3}">
      <dsp:nvSpPr>
        <dsp:cNvPr id="0" name=""/>
        <dsp:cNvSpPr/>
      </dsp:nvSpPr>
      <dsp:spPr>
        <a:xfrm>
          <a:off x="2298811" y="657674"/>
          <a:ext cx="712705" cy="7127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409F36-26F9-431F-A933-6D862E6C2494}">
      <dsp:nvSpPr>
        <dsp:cNvPr id="0" name=""/>
        <dsp:cNvSpPr/>
      </dsp:nvSpPr>
      <dsp:spPr>
        <a:xfrm>
          <a:off x="1863269" y="1707784"/>
          <a:ext cx="1583789" cy="1198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SQL is used to communicate with database. According to ANSI(American National Standards Institute), it is standard language for RDBMS (Relational database management system).</a:t>
          </a:r>
        </a:p>
      </dsp:txBody>
      <dsp:txXfrm>
        <a:off x="1863269" y="1707784"/>
        <a:ext cx="1583789" cy="1198977"/>
      </dsp:txXfrm>
    </dsp:sp>
    <dsp:sp modelId="{4543BC1C-DEF8-4A11-8D43-0C78B7EA2B88}">
      <dsp:nvSpPr>
        <dsp:cNvPr id="0" name=""/>
        <dsp:cNvSpPr/>
      </dsp:nvSpPr>
      <dsp:spPr>
        <a:xfrm>
          <a:off x="4159763" y="657674"/>
          <a:ext cx="712705" cy="7127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88853B-E600-48E5-86A6-B7F9524CF9BC}">
      <dsp:nvSpPr>
        <dsp:cNvPr id="0" name=""/>
        <dsp:cNvSpPr/>
      </dsp:nvSpPr>
      <dsp:spPr>
        <a:xfrm>
          <a:off x="3724221" y="1707784"/>
          <a:ext cx="1583789" cy="1198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SQL Comes in many flavors. Oracle databases use its proprietary PL/SQL. Microsoft SQL server makes use of Transact-SQL. All the variations are based upon the industry standard ANSI SQL.</a:t>
          </a:r>
        </a:p>
      </dsp:txBody>
      <dsp:txXfrm>
        <a:off x="3724221" y="1707784"/>
        <a:ext cx="1583789" cy="119897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8F72BA41-EC5B-4197-BCC8-0FD2E523CD7A}" type="datetimeFigureOut">
              <a:rPr lang="en-US" smtClean="0"/>
              <a:t>10/6/2026</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175307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F72BA41-EC5B-4197-BCC8-0FD2E523CD7A}" type="datetimeFigureOut">
              <a:rPr lang="en-US" smtClean="0"/>
              <a:t>10/6/2026</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57931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8F72BA41-EC5B-4197-BCC8-0FD2E523CD7A}" type="datetimeFigureOut">
              <a:rPr lang="en-US" smtClean="0"/>
              <a:t>10/6/2026</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713780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8F72BA41-EC5B-4197-BCC8-0FD2E523CD7A}" type="datetimeFigureOut">
              <a:rPr lang="en-US" smtClean="0"/>
              <a:t>10/6/2026</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125179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8F72BA41-EC5B-4197-BCC8-0FD2E523CD7A}" type="datetimeFigureOut">
              <a:rPr lang="en-US" smtClean="0"/>
              <a:t>10/6/2026</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07506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8F72BA41-EC5B-4197-BCC8-0FD2E523CD7A}" type="datetimeFigureOut">
              <a:rPr lang="en-US" smtClean="0"/>
              <a:t>10/6/2026</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48527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8F72BA41-EC5B-4197-BCC8-0FD2E523CD7A}" type="datetimeFigureOut">
              <a:rPr lang="en-US" smtClean="0"/>
              <a:t>10/6/2026</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087175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en-US"/>
              <a:t>Click to edit Master text styles</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8F72BA41-EC5B-4197-BCC8-0FD2E523CD7A}" type="datetimeFigureOut">
              <a:rPr lang="en-US" smtClean="0"/>
              <a:t>10/6/2026</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735605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8F72BA41-EC5B-4197-BCC8-0FD2E523CD7A}" type="datetimeFigureOut">
              <a:rPr lang="en-US" smtClean="0"/>
              <a:t>10/6/2026</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725810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8F72BA41-EC5B-4197-BCC8-0FD2E523CD7A}" type="datetimeFigureOut">
              <a:rPr lang="en-US" smtClean="0"/>
              <a:t>10/6/2026</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500653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8F72BA41-EC5B-4197-BCC8-0FD2E523CD7A}" type="datetimeFigureOut">
              <a:rPr lang="en-US" smtClean="0"/>
              <a:t>10/6/2026</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392502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8F72BA41-EC5B-4197-BCC8-0FD2E523CD7A}" type="datetimeFigureOut">
              <a:rPr lang="en-US" smtClean="0"/>
              <a:pPr/>
              <a:t>10/6/2026</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529847394"/>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03" r:id="rId6"/>
    <p:sldLayoutId id="2147483699" r:id="rId7"/>
    <p:sldLayoutId id="2147483700" r:id="rId8"/>
    <p:sldLayoutId id="2147483701" r:id="rId9"/>
    <p:sldLayoutId id="2147483702" r:id="rId10"/>
    <p:sldLayoutId id="2147483704"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diagramLayout" Target="../diagrams/layout2.xml"/><Relationship Id="rId7" Type="http://schemas.openxmlformats.org/officeDocument/2006/relationships/image" Target="../media/image1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187D111-0A9D-421B-84EB-FC5811C3A9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015ECF02-0C11-4320-A868-5EC7DD53DE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8C74A336-DE5D-4AE0-9A50-8D93C4AA45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11A81C9-7A36-4A04-B14C-A45B899E4B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AE1DE35-5349-4B57-B255-C07C69270C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FE9588-5F4B-41DF-9FF6-6B4969245C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CC9B87-707A-4D04-9336-B1418878A8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8CF5CAA-7C4D-408A-B1A8-E98C0E6633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462EA1B-90F8-4C08-AE36-FFBA2B45BF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F7B5623-96F7-42F0-BAC5-78D6789E01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85D83B1-1723-4710-8FC5-18EDC879E4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998838C-DFB6-48F7-A18D-30469E8162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BDB9A78-94CB-422D-B92E-65FD2732EC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A5DBD01-426B-424D-815A-96518F6007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B0218DF-D55B-4D41-AE23-F1E64BAC60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8D61EB8-98CC-4243-9E20-33CAC65BF5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35F0944-B143-45B0-8B72-6CE34D4612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F68EF7F-67D0-463D-AB84-EA24D18196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E17074E-4E65-4CBD-B1B0-9C18D6F724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CC905ED-EF46-4349-9E9B-2174310948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B91F234-1C65-45AC-8CCE-A1C4AE49CE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D46B3DB-5DBB-41CF-9FA5-010ECA0C3B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92A3FF8-F172-47ED-84C6-802C85C1CBD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933982-9CB6-4199-B123-A3669A4FEF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CA832CD-B214-4ABC-AC95-A3DA116ACE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7EBA147-C4BA-4B48-B61D-CA24B8B06F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A8253B7-461E-48CC-B871-8A255EE3D7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DE46C3-C2E1-4492-AC59-870160A3C8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B0052E9-B440-4C1E-BC41-39957D5901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31F119B-638C-42B1-8400-709B94F1EE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16299ED-D998-4895-9CCF-02427F1954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4442675-84C9-45C8-9524-ABE4E25071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5BE3E63-4FA5-4EBD-9F3B-E29F5128A8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921465D-A9F8-488E-B6B9-1D28AC103033}"/>
              </a:ext>
            </a:extLst>
          </p:cNvPr>
          <p:cNvSpPr>
            <a:spLocks noGrp="1"/>
          </p:cNvSpPr>
          <p:nvPr>
            <p:ph type="ctrTitle"/>
          </p:nvPr>
        </p:nvSpPr>
        <p:spPr>
          <a:xfrm>
            <a:off x="6089726" y="722903"/>
            <a:ext cx="5415521" cy="1847229"/>
          </a:xfrm>
        </p:spPr>
        <p:txBody>
          <a:bodyPr>
            <a:normAutofit/>
          </a:bodyPr>
          <a:lstStyle/>
          <a:p>
            <a:r>
              <a:rPr lang="en-US" dirty="0"/>
              <a:t>ETL and SQL Fundamentals</a:t>
            </a:r>
          </a:p>
        </p:txBody>
      </p:sp>
      <p:sp>
        <p:nvSpPr>
          <p:cNvPr id="3" name="Subtitle 2">
            <a:extLst>
              <a:ext uri="{FF2B5EF4-FFF2-40B4-BE49-F238E27FC236}">
                <a16:creationId xmlns:a16="http://schemas.microsoft.com/office/drawing/2014/main" id="{40A99645-44E9-4D61-9449-98F38968D29D}"/>
              </a:ext>
            </a:extLst>
          </p:cNvPr>
          <p:cNvSpPr>
            <a:spLocks noGrp="1"/>
          </p:cNvSpPr>
          <p:nvPr>
            <p:ph type="subTitle" idx="1"/>
          </p:nvPr>
        </p:nvSpPr>
        <p:spPr>
          <a:xfrm>
            <a:off x="6089726" y="2975201"/>
            <a:ext cx="5415521" cy="3159896"/>
          </a:xfrm>
        </p:spPr>
        <p:txBody>
          <a:bodyPr>
            <a:normAutofit/>
          </a:bodyPr>
          <a:lstStyle/>
          <a:p>
            <a:r>
              <a:rPr lang="en-US" dirty="0"/>
              <a:t>Topics covered:</a:t>
            </a:r>
          </a:p>
          <a:p>
            <a:pPr marL="342900" indent="-342900">
              <a:buFont typeface="Arial" panose="020B0604020202020204" pitchFamily="34" charset="0"/>
              <a:buChar char="•"/>
            </a:pPr>
            <a:r>
              <a:rPr lang="en-US" sz="1800" dirty="0"/>
              <a:t>Introduction to ETL</a:t>
            </a:r>
          </a:p>
          <a:p>
            <a:pPr marL="342900" indent="-342900">
              <a:buFont typeface="Arial" panose="020B0604020202020204" pitchFamily="34" charset="0"/>
              <a:buChar char="•"/>
            </a:pPr>
            <a:r>
              <a:rPr lang="en-US" sz="1800" dirty="0"/>
              <a:t>Unix and Basic commands</a:t>
            </a:r>
          </a:p>
          <a:p>
            <a:pPr marL="342900" indent="-342900">
              <a:buFont typeface="Arial" panose="020B0604020202020204" pitchFamily="34" charset="0"/>
              <a:buChar char="•"/>
            </a:pPr>
            <a:r>
              <a:rPr lang="en-US" sz="1800" dirty="0"/>
              <a:t>Introduction to SQL</a:t>
            </a:r>
          </a:p>
          <a:p>
            <a:pPr marL="342900" indent="-342900">
              <a:buFont typeface="Arial" panose="020B0604020202020204" pitchFamily="34" charset="0"/>
              <a:buChar char="•"/>
            </a:pPr>
            <a:r>
              <a:rPr lang="en-US" sz="1800" dirty="0"/>
              <a:t>SQL Statements</a:t>
            </a:r>
          </a:p>
          <a:p>
            <a:pPr marL="342900" indent="-342900">
              <a:buFont typeface="Arial" panose="020B0604020202020204" pitchFamily="34" charset="0"/>
              <a:buChar char="•"/>
            </a:pPr>
            <a:r>
              <a:rPr lang="en-US" sz="1800" dirty="0"/>
              <a:t>Data types in SQL</a:t>
            </a:r>
          </a:p>
        </p:txBody>
      </p:sp>
      <p:pic>
        <p:nvPicPr>
          <p:cNvPr id="4" name="Picture 3">
            <a:extLst>
              <a:ext uri="{FF2B5EF4-FFF2-40B4-BE49-F238E27FC236}">
                <a16:creationId xmlns:a16="http://schemas.microsoft.com/office/drawing/2014/main" id="{B795ED95-7B20-9A74-11B6-22BD36A0E21F}"/>
              </a:ext>
            </a:extLst>
          </p:cNvPr>
          <p:cNvPicPr>
            <a:picLocks noChangeAspect="1"/>
          </p:cNvPicPr>
          <p:nvPr/>
        </p:nvPicPr>
        <p:blipFill>
          <a:blip r:embed="rId2">
            <a:extLst>
              <a:ext uri="{28A0092B-C50C-407E-A947-70E740481C1C}">
                <a14:useLocalDpi xmlns:a14="http://schemas.microsoft.com/office/drawing/2010/main" val="0"/>
              </a:ext>
            </a:extLst>
          </a:blip>
          <a:srcRect l="611" r="611"/>
          <a:stretch/>
        </p:blipFill>
        <p:spPr>
          <a:xfrm>
            <a:off x="1" y="10"/>
            <a:ext cx="5854890" cy="6857990"/>
          </a:xfrm>
          <a:custGeom>
            <a:avLst/>
            <a:gdLst/>
            <a:ahLst/>
            <a:cxnLst/>
            <a:rect l="l" t="t" r="r" b="b"/>
            <a:pathLst>
              <a:path w="6036633" h="6858000">
                <a:moveTo>
                  <a:pt x="0" y="0"/>
                </a:moveTo>
                <a:lnTo>
                  <a:pt x="5782584" y="0"/>
                </a:lnTo>
                <a:lnTo>
                  <a:pt x="5847735" y="280891"/>
                </a:lnTo>
                <a:cubicBezTo>
                  <a:pt x="6512611" y="3337011"/>
                  <a:pt x="5215360" y="3533975"/>
                  <a:pt x="5130974" y="6590095"/>
                </a:cubicBezTo>
                <a:lnTo>
                  <a:pt x="5127340" y="6858000"/>
                </a:lnTo>
                <a:lnTo>
                  <a:pt x="0" y="6858000"/>
                </a:lnTo>
                <a:close/>
              </a:path>
            </a:pathLst>
          </a:custGeom>
        </p:spPr>
      </p:pic>
      <p:sp>
        <p:nvSpPr>
          <p:cNvPr id="44" name="Right Triangle 43">
            <a:extLst>
              <a:ext uri="{FF2B5EF4-FFF2-40B4-BE49-F238E27FC236}">
                <a16:creationId xmlns:a16="http://schemas.microsoft.com/office/drawing/2014/main" id="{F0753E91-DF19-4FA4-BFBF-221696B8D7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6297356" y="-287372"/>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711939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C7A7B-4CE6-DDC6-9FA6-2C86F8E3F68C}"/>
              </a:ext>
            </a:extLst>
          </p:cNvPr>
          <p:cNvSpPr>
            <a:spLocks noGrp="1"/>
          </p:cNvSpPr>
          <p:nvPr>
            <p:ph type="title"/>
          </p:nvPr>
        </p:nvSpPr>
        <p:spPr/>
        <p:txBody>
          <a:bodyPr/>
          <a:lstStyle/>
          <a:p>
            <a:r>
              <a:rPr lang="en-US" dirty="0"/>
              <a:t>What is ETL?</a:t>
            </a:r>
          </a:p>
        </p:txBody>
      </p:sp>
      <p:graphicFrame>
        <p:nvGraphicFramePr>
          <p:cNvPr id="5" name="Content Placeholder 2">
            <a:extLst>
              <a:ext uri="{FF2B5EF4-FFF2-40B4-BE49-F238E27FC236}">
                <a16:creationId xmlns:a16="http://schemas.microsoft.com/office/drawing/2014/main" id="{35B3567F-9D4F-0F21-5B27-9FE35603A136}"/>
              </a:ext>
            </a:extLst>
          </p:cNvPr>
          <p:cNvGraphicFramePr>
            <a:graphicFrameLocks noGrp="1"/>
          </p:cNvGraphicFramePr>
          <p:nvPr>
            <p:ph idx="1"/>
            <p:extLst>
              <p:ext uri="{D42A27DB-BD31-4B8C-83A1-F6EECF244321}">
                <p14:modId xmlns:p14="http://schemas.microsoft.com/office/powerpoint/2010/main" val="2403740111"/>
              </p:ext>
            </p:extLst>
          </p:nvPr>
        </p:nvGraphicFramePr>
        <p:xfrm>
          <a:off x="691078" y="2340130"/>
          <a:ext cx="10799881" cy="43349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3437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8717A-4FF1-8FD6-7DFA-226C3E9FDFA0}"/>
              </a:ext>
            </a:extLst>
          </p:cNvPr>
          <p:cNvSpPr>
            <a:spLocks noGrp="1"/>
          </p:cNvSpPr>
          <p:nvPr>
            <p:ph type="title"/>
          </p:nvPr>
        </p:nvSpPr>
        <p:spPr>
          <a:xfrm>
            <a:off x="6798273" y="725952"/>
            <a:ext cx="4217805" cy="990554"/>
          </a:xfrm>
        </p:spPr>
        <p:txBody>
          <a:bodyPr/>
          <a:lstStyle/>
          <a:p>
            <a:r>
              <a:rPr lang="en-US" dirty="0"/>
              <a:t>Unix</a:t>
            </a:r>
          </a:p>
        </p:txBody>
      </p:sp>
      <p:sp>
        <p:nvSpPr>
          <p:cNvPr id="3" name="Content Placeholder 2">
            <a:extLst>
              <a:ext uri="{FF2B5EF4-FFF2-40B4-BE49-F238E27FC236}">
                <a16:creationId xmlns:a16="http://schemas.microsoft.com/office/drawing/2014/main" id="{78ED81E4-D76A-44E6-3968-E3DCB82FC614}"/>
              </a:ext>
            </a:extLst>
          </p:cNvPr>
          <p:cNvSpPr>
            <a:spLocks noGrp="1"/>
          </p:cNvSpPr>
          <p:nvPr>
            <p:ph idx="1"/>
          </p:nvPr>
        </p:nvSpPr>
        <p:spPr>
          <a:xfrm>
            <a:off x="6798274" y="2168414"/>
            <a:ext cx="4217805" cy="3564436"/>
          </a:xfrm>
        </p:spPr>
        <p:txBody>
          <a:bodyPr/>
          <a:lstStyle/>
          <a:p>
            <a:pPr marL="0" indent="0">
              <a:buNone/>
            </a:pPr>
            <a:r>
              <a:rPr lang="en-US" dirty="0"/>
              <a:t>Unix is the computer operating system which is capable of handling activities from multiple user at the same time. It is a set of programs that acts as a link between the computer and the user.</a:t>
            </a:r>
          </a:p>
          <a:p>
            <a:endParaRPr lang="en-US" dirty="0"/>
          </a:p>
          <a:p>
            <a:endParaRPr lang="en-US" dirty="0"/>
          </a:p>
        </p:txBody>
      </p:sp>
      <p:pic>
        <p:nvPicPr>
          <p:cNvPr id="5" name="Picture 4" descr="A diagram of software components&#10;&#10;Description automatically generated">
            <a:extLst>
              <a:ext uri="{FF2B5EF4-FFF2-40B4-BE49-F238E27FC236}">
                <a16:creationId xmlns:a16="http://schemas.microsoft.com/office/drawing/2014/main" id="{D295A462-2C0E-BE16-177D-24DB2BC62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4359" y="1701221"/>
            <a:ext cx="3823993" cy="381709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862057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4D45BF-E397-40C0-AFE3-A4149E60E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2" name="Group 11">
            <a:extLst>
              <a:ext uri="{FF2B5EF4-FFF2-40B4-BE49-F238E27FC236}">
                <a16:creationId xmlns:a16="http://schemas.microsoft.com/office/drawing/2014/main" id="{35F4CD44-7930-4EB8-9A74-8D2F9E6369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 name="Straight Connector 12">
              <a:extLst>
                <a:ext uri="{FF2B5EF4-FFF2-40B4-BE49-F238E27FC236}">
                  <a16:creationId xmlns:a16="http://schemas.microsoft.com/office/drawing/2014/main" id="{6F1268F0-44F7-4AC9-A3E6-9527C22F30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880B23C-29A4-4D11-8671-EE46FECE7C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C2CF28E-44F6-4983-9729-A705B8709B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B11666B-80E2-4F7D-9613-17A65CBC17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ABFAC7C-C1E8-4988-864D-3B05D3006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2EE5A4C-9245-46EB-B145-8FDFBE6E1A4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BFEDEDB-B657-4E62-9962-28BF541220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65EFAA5-5243-4FE8-819B-80D4995BB7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F92E633-809E-4E07-965A-F2F9EDCF7F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0DE1690-3F94-4C79-9357-6653BEEF12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529D5DF-1A9E-4690-B016-03FB1E72DC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6F8E2D2-E88C-4F73-A660-D2B76298CC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37BF3BB-FE7A-410E-AA57-73485A775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0EC5EB5-F6E1-441C-AB44-799A5DF1B7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6F199F-9E76-4C7E-9DF6-20EE550DFE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91704E7-976B-4FE0-9381-8EB7818E70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75603A9-61D4-4172-AF77-7A7CE408A7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73C1AA7-2357-41A1-A057-FA2D44DADA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0024205-8F58-4C8D-BE50-35E40091BC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37BEEA-3398-4C1B-AB48-E7173325C0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5EE29AB-4E85-418B-A6D3-3E7B401855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ADE2BEB-6A23-4DFC-9A4E-E44F3CA9FF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ECE8D73-51C6-4818-8BD9-9202BBA083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EA7AA7F-CD9D-4820-B463-7B9CFEC8EC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1618CA6-513B-458C-89C1-1FE15F1F43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5BACA43-902B-4444-95CB-5165D5483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8A07376-1103-43DD-A6D6-D7BAF6F005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FCEA8A1-BC0E-4221-B9E5-3D3C7BA261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55D27E5-DFE1-4EE8-B982-0A39223598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FD07B27-85E5-4F3B-B432-CDBDC0F6E63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B78179E-DE7D-4A30-9BDC-05D7AE21762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5" name="Right Triangle 44">
            <a:extLst>
              <a:ext uri="{FF2B5EF4-FFF2-40B4-BE49-F238E27FC236}">
                <a16:creationId xmlns:a16="http://schemas.microsoft.com/office/drawing/2014/main" id="{07E3C0EF-2D2A-42BA-B4E2-76E2B1FC52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4143" y="3153945"/>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F5A8F84-C112-B4BE-95C8-4DB8B89857D3}"/>
              </a:ext>
            </a:extLst>
          </p:cNvPr>
          <p:cNvSpPr>
            <a:spLocks noGrp="1"/>
          </p:cNvSpPr>
          <p:nvPr>
            <p:ph type="title"/>
          </p:nvPr>
        </p:nvSpPr>
        <p:spPr>
          <a:xfrm>
            <a:off x="691079" y="725950"/>
            <a:ext cx="3428812" cy="5436630"/>
          </a:xfrm>
        </p:spPr>
        <p:txBody>
          <a:bodyPr anchor="ctr">
            <a:normAutofit/>
          </a:bodyPr>
          <a:lstStyle/>
          <a:p>
            <a:r>
              <a:rPr lang="en-US" dirty="0">
                <a:effectLst/>
                <a:ea typeface="Times New Roman" panose="02020603050405020304" pitchFamily="18" charset="0"/>
              </a:rPr>
              <a:t>Basic Commands:</a:t>
            </a:r>
            <a:endParaRPr lang="en-US" dirty="0"/>
          </a:p>
        </p:txBody>
      </p:sp>
      <p:sp>
        <p:nvSpPr>
          <p:cNvPr id="3" name="Content Placeholder 2">
            <a:extLst>
              <a:ext uri="{FF2B5EF4-FFF2-40B4-BE49-F238E27FC236}">
                <a16:creationId xmlns:a16="http://schemas.microsoft.com/office/drawing/2014/main" id="{7D47463E-F9B1-F964-10D2-87A7DFC918A9}"/>
              </a:ext>
            </a:extLst>
          </p:cNvPr>
          <p:cNvSpPr>
            <a:spLocks/>
          </p:cNvSpPr>
          <p:nvPr/>
        </p:nvSpPr>
        <p:spPr>
          <a:xfrm>
            <a:off x="4808642" y="1935567"/>
            <a:ext cx="3439759" cy="3205391"/>
          </a:xfrm>
          <a:prstGeom prst="rect">
            <a:avLst/>
          </a:prstGeom>
        </p:spPr>
        <p:txBody>
          <a:bodyPr/>
          <a:lstStyle/>
          <a:p>
            <a:pPr defTabSz="621792">
              <a:spcAft>
                <a:spcPts val="600"/>
              </a:spcAft>
            </a:pPr>
            <a:endParaRPr lang="en-US" sz="1500" kern="1200" dirty="0">
              <a:solidFill>
                <a:schemeClr val="tx1"/>
              </a:solidFill>
              <a:latin typeface="+mj-lt"/>
              <a:ea typeface="Calibri" panose="020F0502020204030204" pitchFamily="34" charset="0"/>
              <a:cs typeface="Calibri" panose="020F0502020204030204" pitchFamily="34" charset="0"/>
            </a:endParaRPr>
          </a:p>
          <a:p>
            <a:pPr defTabSz="621792">
              <a:spcAft>
                <a:spcPts val="600"/>
              </a:spcAft>
            </a:pPr>
            <a:r>
              <a:rPr lang="en-US" sz="1500" kern="1200" dirty="0">
                <a:solidFill>
                  <a:schemeClr val="tx1"/>
                </a:solidFill>
                <a:latin typeface="+mj-lt"/>
                <a:ea typeface="Calibri" panose="020F0502020204030204" pitchFamily="34" charset="0"/>
                <a:cs typeface="Calibri" panose="020F0502020204030204" pitchFamily="34" charset="0"/>
              </a:rPr>
              <a:t>cat [filename] : To read the contents of a file</a:t>
            </a:r>
          </a:p>
          <a:p>
            <a:pPr defTabSz="621792">
              <a:spcAft>
                <a:spcPts val="600"/>
              </a:spcAft>
            </a:pPr>
            <a:r>
              <a:rPr lang="en-US" sz="1500" kern="1200" dirty="0">
                <a:solidFill>
                  <a:schemeClr val="tx1"/>
                </a:solidFill>
                <a:latin typeface="+mj-lt"/>
                <a:ea typeface="Calibri" panose="020F0502020204030204" pitchFamily="34" charset="0"/>
                <a:cs typeface="Calibri" panose="020F0502020204030204" pitchFamily="34" charset="0"/>
              </a:rPr>
              <a:t>vi [filename] : To edit a file contents</a:t>
            </a:r>
          </a:p>
          <a:p>
            <a:pPr defTabSz="621792">
              <a:spcAft>
                <a:spcPts val="600"/>
              </a:spcAft>
            </a:pPr>
            <a:r>
              <a:rPr lang="en-US" sz="1500" kern="1200" dirty="0" err="1">
                <a:solidFill>
                  <a:schemeClr val="tx1"/>
                </a:solidFill>
                <a:latin typeface="+mj-lt"/>
                <a:ea typeface="Calibri" panose="020F0502020204030204" pitchFamily="34" charset="0"/>
                <a:cs typeface="Calibri" panose="020F0502020204030204" pitchFamily="34" charset="0"/>
              </a:rPr>
              <a:t>wq</a:t>
            </a:r>
            <a:r>
              <a:rPr lang="en-US" sz="1500" kern="1200" dirty="0">
                <a:solidFill>
                  <a:schemeClr val="tx1"/>
                </a:solidFill>
                <a:latin typeface="+mj-lt"/>
                <a:ea typeface="Calibri" panose="020F0502020204030204" pitchFamily="34" charset="0"/>
                <a:cs typeface="Calibri" panose="020F0502020204030204" pitchFamily="34" charset="0"/>
              </a:rPr>
              <a:t>: Save and exit from vi editor mode</a:t>
            </a:r>
          </a:p>
          <a:p>
            <a:pPr defTabSz="621792">
              <a:spcAft>
                <a:spcPts val="600"/>
              </a:spcAft>
            </a:pPr>
            <a:r>
              <a:rPr lang="en-US" sz="1500" kern="1200" dirty="0">
                <a:solidFill>
                  <a:schemeClr val="tx1"/>
                </a:solidFill>
                <a:latin typeface="+mj-lt"/>
                <a:ea typeface="Calibri" panose="020F0502020204030204" pitchFamily="34" charset="0"/>
                <a:cs typeface="Calibri" panose="020F0502020204030204" pitchFamily="34" charset="0"/>
              </a:rPr>
              <a:t>cp: Copy an existing file</a:t>
            </a:r>
          </a:p>
          <a:p>
            <a:pPr defTabSz="621792">
              <a:spcAft>
                <a:spcPts val="600"/>
              </a:spcAft>
            </a:pPr>
            <a:r>
              <a:rPr lang="en-US" sz="1500" kern="1200" dirty="0">
                <a:solidFill>
                  <a:schemeClr val="tx1"/>
                </a:solidFill>
                <a:latin typeface="+mj-lt"/>
                <a:ea typeface="Calibri" panose="020F0502020204030204" pitchFamily="34" charset="0"/>
                <a:cs typeface="Calibri" panose="020F0502020204030204" pitchFamily="34" charset="0"/>
              </a:rPr>
              <a:t>tail [filename] : Read last lines of a file</a:t>
            </a:r>
          </a:p>
          <a:p>
            <a:pPr defTabSz="621792">
              <a:spcAft>
                <a:spcPts val="600"/>
              </a:spcAft>
            </a:pPr>
            <a:r>
              <a:rPr lang="en-US" sz="1500" kern="1200" dirty="0">
                <a:solidFill>
                  <a:schemeClr val="tx1"/>
                </a:solidFill>
                <a:latin typeface="+mj-lt"/>
                <a:ea typeface="Calibri" panose="020F0502020204030204" pitchFamily="34" charset="0"/>
                <a:cs typeface="Calibri" panose="020F0502020204030204" pitchFamily="34" charset="0"/>
              </a:rPr>
              <a:t>head [filename] : Read first lines of a file</a:t>
            </a:r>
          </a:p>
          <a:p>
            <a:pPr defTabSz="621792">
              <a:spcAft>
                <a:spcPts val="600"/>
              </a:spcAft>
            </a:pPr>
            <a:r>
              <a:rPr lang="en-US" sz="1500" kern="1200" dirty="0">
                <a:solidFill>
                  <a:schemeClr val="tx1"/>
                </a:solidFill>
                <a:latin typeface="+mj-lt"/>
                <a:ea typeface="Calibri" panose="020F0502020204030204" pitchFamily="34" charset="0"/>
                <a:cs typeface="Calibri" panose="020F0502020204030204" pitchFamily="34" charset="0"/>
              </a:rPr>
              <a:t>touch [filename] : Create a 0-byte file</a:t>
            </a:r>
          </a:p>
          <a:p>
            <a:pPr defTabSz="621792">
              <a:spcAft>
                <a:spcPts val="600"/>
              </a:spcAft>
            </a:pPr>
            <a:r>
              <a:rPr lang="en-US" sz="1500" kern="1200" dirty="0">
                <a:solidFill>
                  <a:schemeClr val="tx1"/>
                </a:solidFill>
                <a:latin typeface="+mj-lt"/>
                <a:ea typeface="Calibri" panose="020F0502020204030204" pitchFamily="34" charset="0"/>
                <a:cs typeface="Calibri" panose="020F0502020204030204" pitchFamily="34" charset="0"/>
              </a:rPr>
              <a:t>rm [filename] : Remove a file</a:t>
            </a:r>
          </a:p>
          <a:p>
            <a:pPr defTabSz="621792">
              <a:spcAft>
                <a:spcPts val="600"/>
              </a:spcAft>
            </a:pPr>
            <a:r>
              <a:rPr lang="en-US" sz="1500" kern="1200" dirty="0">
                <a:solidFill>
                  <a:schemeClr val="tx1"/>
                </a:solidFill>
                <a:latin typeface="+mj-lt"/>
                <a:ea typeface="Calibri" panose="020F0502020204030204" pitchFamily="34" charset="0"/>
                <a:cs typeface="Calibri" panose="020F0502020204030204" pitchFamily="34" charset="0"/>
              </a:rPr>
              <a:t>grep : Search in a file</a:t>
            </a:r>
          </a:p>
          <a:p>
            <a:pPr defTabSz="621792">
              <a:spcAft>
                <a:spcPts val="600"/>
              </a:spcAft>
            </a:pPr>
            <a:r>
              <a:rPr lang="en-US" sz="1500" kern="1200" dirty="0" err="1">
                <a:solidFill>
                  <a:schemeClr val="tx1"/>
                </a:solidFill>
                <a:latin typeface="+mj-lt"/>
                <a:ea typeface="Calibri" panose="020F0502020204030204" pitchFamily="34" charset="0"/>
                <a:cs typeface="Calibri" panose="020F0502020204030204" pitchFamily="34" charset="0"/>
              </a:rPr>
              <a:t>chmod</a:t>
            </a:r>
            <a:r>
              <a:rPr lang="en-US" sz="1500" kern="1200" dirty="0">
                <a:solidFill>
                  <a:schemeClr val="tx1"/>
                </a:solidFill>
                <a:latin typeface="+mj-lt"/>
                <a:ea typeface="Calibri" panose="020F0502020204030204" pitchFamily="34" charset="0"/>
                <a:cs typeface="Calibri" panose="020F0502020204030204" pitchFamily="34" charset="0"/>
              </a:rPr>
              <a:t>: To change file permissions</a:t>
            </a:r>
          </a:p>
          <a:p>
            <a:pPr>
              <a:spcAft>
                <a:spcPts val="600"/>
              </a:spcAft>
            </a:pPr>
            <a:endParaRPr lang="en-US" sz="1500" dirty="0">
              <a:latin typeface="+mj-lt"/>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ECFF9AEC-80D2-A969-B8C2-9D5442937983}"/>
              </a:ext>
            </a:extLst>
          </p:cNvPr>
          <p:cNvSpPr txBox="1"/>
          <p:nvPr/>
        </p:nvSpPr>
        <p:spPr>
          <a:xfrm>
            <a:off x="8655100" y="2172311"/>
            <a:ext cx="3130500" cy="2713613"/>
          </a:xfrm>
          <a:prstGeom prst="rect">
            <a:avLst/>
          </a:prstGeom>
        </p:spPr>
        <p:txBody>
          <a:bodyPr vert="horz" lIns="91440" tIns="45720" rIns="91440" bIns="45720" rtlCol="0">
            <a:noAutofit/>
          </a:bodyPr>
          <a:lstStyle>
            <a:lvl1pPr marR="0" indent="-228600">
              <a:lnSpc>
                <a:spcPct val="110000"/>
              </a:lnSpc>
              <a:spcBef>
                <a:spcPts val="0"/>
              </a:spcBef>
              <a:spcAft>
                <a:spcPts val="0"/>
              </a:spcAft>
              <a:buClr>
                <a:schemeClr val="tx2">
                  <a:lumMod val="50000"/>
                  <a:lumOff val="50000"/>
                </a:schemeClr>
              </a:buClr>
              <a:buSzPct val="75000"/>
              <a:buFont typeface="Wingdings" panose="05000000000000000000" pitchFamily="2" charset="2"/>
              <a:buChar char="§"/>
              <a:defRPr>
                <a:solidFill>
                  <a:schemeClr val="tx2"/>
                </a:solidFill>
                <a:effectLst/>
                <a:latin typeface="Calibri" panose="020F0502020204030204" pitchFamily="34" charset="0"/>
                <a:ea typeface="Times New Roman" panose="02020603050405020304" pitchFamily="18" charset="0"/>
              </a:defRPr>
            </a:lvl1pPr>
            <a:lvl2pPr indent="-228600">
              <a:lnSpc>
                <a:spcPct val="110000"/>
              </a:lnSpc>
              <a:spcBef>
                <a:spcPts val="500"/>
              </a:spcBef>
              <a:buClr>
                <a:schemeClr val="tx2">
                  <a:lumMod val="50000"/>
                  <a:lumOff val="50000"/>
                </a:schemeClr>
              </a:buClr>
              <a:buSzPct val="75000"/>
              <a:buFont typeface="Wingdings" panose="05000000000000000000" pitchFamily="2" charset="2"/>
              <a:buChar char="§"/>
              <a:defRPr>
                <a:solidFill>
                  <a:schemeClr val="tx2"/>
                </a:solidFill>
              </a:defRPr>
            </a:lvl2pPr>
            <a:lvl3pPr marL="685800" indent="-228600">
              <a:lnSpc>
                <a:spcPct val="110000"/>
              </a:lnSpc>
              <a:spcBef>
                <a:spcPts val="500"/>
              </a:spcBef>
              <a:buClr>
                <a:schemeClr val="tx2">
                  <a:lumMod val="50000"/>
                  <a:lumOff val="50000"/>
                </a:schemeClr>
              </a:buClr>
              <a:buSzPct val="75000"/>
              <a:buFont typeface="Wingdings" panose="05000000000000000000" pitchFamily="2" charset="2"/>
              <a:buChar char="§"/>
              <a:defRPr sz="1600">
                <a:solidFill>
                  <a:schemeClr val="tx2"/>
                </a:solidFill>
              </a:defRPr>
            </a:lvl3pPr>
            <a:lvl4pPr marL="914400" indent="-228600">
              <a:lnSpc>
                <a:spcPct val="110000"/>
              </a:lnSpc>
              <a:spcBef>
                <a:spcPts val="500"/>
              </a:spcBef>
              <a:buClr>
                <a:schemeClr val="tx2">
                  <a:lumMod val="50000"/>
                  <a:lumOff val="50000"/>
                </a:schemeClr>
              </a:buClr>
              <a:buSzPct val="75000"/>
              <a:buFont typeface="Wingdings" panose="05000000000000000000" pitchFamily="2" charset="2"/>
              <a:buChar char="§"/>
              <a:defRPr sz="1400">
                <a:solidFill>
                  <a:schemeClr val="tx2"/>
                </a:solidFill>
              </a:defRPr>
            </a:lvl4pPr>
            <a:lvl5pPr marL="1143000" indent="-228600">
              <a:lnSpc>
                <a:spcPct val="110000"/>
              </a:lnSpc>
              <a:spcBef>
                <a:spcPts val="500"/>
              </a:spcBef>
              <a:buClr>
                <a:schemeClr val="tx2">
                  <a:lumMod val="50000"/>
                  <a:lumOff val="50000"/>
                </a:schemeClr>
              </a:buClr>
              <a:buSzPct val="75000"/>
              <a:buFont typeface="Wingdings" panose="05000000000000000000" pitchFamily="2" charset="2"/>
              <a:buChar char="§"/>
              <a:defRPr sz="14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indent="-155448" defTabSz="621792">
              <a:lnSpc>
                <a:spcPct val="100000"/>
              </a:lnSpc>
              <a:spcAft>
                <a:spcPts val="600"/>
              </a:spcAft>
            </a:pPr>
            <a:r>
              <a:rPr lang="en-US" sz="1500" kern="1200" dirty="0">
                <a:solidFill>
                  <a:schemeClr val="tx2"/>
                </a:solidFill>
                <a:effectLst/>
                <a:latin typeface="+mj-lt"/>
                <a:ea typeface="Calibri" panose="020F0502020204030204" pitchFamily="34" charset="0"/>
                <a:cs typeface="Calibri" panose="020F0502020204030204" pitchFamily="34" charset="0"/>
              </a:rPr>
              <a:t>cd [path] : Change Directory to reach specified path</a:t>
            </a:r>
          </a:p>
          <a:p>
            <a:pPr indent="-155448" defTabSz="621792">
              <a:lnSpc>
                <a:spcPct val="100000"/>
              </a:lnSpc>
              <a:spcAft>
                <a:spcPts val="600"/>
              </a:spcAft>
            </a:pPr>
            <a:r>
              <a:rPr lang="en-US" sz="1500" kern="1200" dirty="0">
                <a:solidFill>
                  <a:schemeClr val="tx2"/>
                </a:solidFill>
                <a:effectLst/>
                <a:latin typeface="+mj-lt"/>
                <a:ea typeface="Calibri" panose="020F0502020204030204" pitchFamily="34" charset="0"/>
                <a:cs typeface="Calibri" panose="020F0502020204030204" pitchFamily="34" charset="0"/>
              </a:rPr>
              <a:t>Cd/-:Go back to previous directory path</a:t>
            </a:r>
          </a:p>
          <a:p>
            <a:pPr indent="-155448" defTabSz="621792">
              <a:lnSpc>
                <a:spcPct val="100000"/>
              </a:lnSpc>
              <a:spcAft>
                <a:spcPts val="600"/>
              </a:spcAft>
            </a:pPr>
            <a:r>
              <a:rPr lang="en-US" sz="1500" kern="1200" dirty="0">
                <a:solidFill>
                  <a:schemeClr val="tx2"/>
                </a:solidFill>
                <a:effectLst/>
                <a:latin typeface="+mj-lt"/>
                <a:ea typeface="Calibri" panose="020F0502020204030204" pitchFamily="34" charset="0"/>
                <a:cs typeface="Calibri" panose="020F0502020204030204" pitchFamily="34" charset="0"/>
              </a:rPr>
              <a:t>cd..: Go to immediate previous directory to current path</a:t>
            </a:r>
          </a:p>
          <a:p>
            <a:pPr indent="-155448" defTabSz="621792">
              <a:lnSpc>
                <a:spcPct val="100000"/>
              </a:lnSpc>
              <a:spcAft>
                <a:spcPts val="600"/>
              </a:spcAft>
            </a:pPr>
            <a:r>
              <a:rPr lang="en-US" sz="1500" kern="1200" dirty="0">
                <a:solidFill>
                  <a:schemeClr val="tx2"/>
                </a:solidFill>
                <a:effectLst/>
                <a:latin typeface="+mj-lt"/>
                <a:ea typeface="Calibri" panose="020F0502020204030204" pitchFamily="34" charset="0"/>
                <a:cs typeface="Calibri" panose="020F0502020204030204" pitchFamily="34" charset="0"/>
              </a:rPr>
              <a:t>Is -</a:t>
            </a:r>
            <a:r>
              <a:rPr lang="en-US" sz="1500" kern="1200" dirty="0" err="1">
                <a:solidFill>
                  <a:schemeClr val="tx2"/>
                </a:solidFill>
                <a:effectLst/>
                <a:latin typeface="+mj-lt"/>
                <a:ea typeface="Calibri" panose="020F0502020204030204" pitchFamily="34" charset="0"/>
                <a:cs typeface="Calibri" panose="020F0502020204030204" pitchFamily="34" charset="0"/>
              </a:rPr>
              <a:t>ltr</a:t>
            </a:r>
            <a:r>
              <a:rPr lang="en-US" sz="1500" kern="1200" dirty="0">
                <a:solidFill>
                  <a:schemeClr val="tx2"/>
                </a:solidFill>
                <a:effectLst/>
                <a:latin typeface="+mj-lt"/>
                <a:ea typeface="Calibri" panose="020F0502020204030204" pitchFamily="34" charset="0"/>
                <a:cs typeface="Calibri" panose="020F0502020204030204" pitchFamily="34" charset="0"/>
              </a:rPr>
              <a:t>: List contents of a directory</a:t>
            </a:r>
          </a:p>
          <a:p>
            <a:pPr indent="-155448" defTabSz="621792">
              <a:lnSpc>
                <a:spcPct val="100000"/>
              </a:lnSpc>
              <a:spcAft>
                <a:spcPts val="600"/>
              </a:spcAft>
            </a:pPr>
            <a:r>
              <a:rPr lang="en-US" sz="1500" kern="1200" dirty="0" err="1">
                <a:solidFill>
                  <a:schemeClr val="tx2"/>
                </a:solidFill>
                <a:effectLst/>
                <a:latin typeface="+mj-lt"/>
                <a:ea typeface="Calibri" panose="020F0502020204030204" pitchFamily="34" charset="0"/>
                <a:cs typeface="Calibri" panose="020F0502020204030204" pitchFamily="34" charset="0"/>
              </a:rPr>
              <a:t>pwd</a:t>
            </a:r>
            <a:r>
              <a:rPr lang="en-US" sz="1500" kern="1200" dirty="0">
                <a:solidFill>
                  <a:schemeClr val="tx2"/>
                </a:solidFill>
                <a:effectLst/>
                <a:latin typeface="+mj-lt"/>
                <a:ea typeface="Calibri" panose="020F0502020204030204" pitchFamily="34" charset="0"/>
                <a:cs typeface="Calibri" panose="020F0502020204030204" pitchFamily="34" charset="0"/>
              </a:rPr>
              <a:t> :Present Working Directory</a:t>
            </a:r>
          </a:p>
          <a:p>
            <a:pPr indent="-155448" defTabSz="621792">
              <a:lnSpc>
                <a:spcPct val="100000"/>
              </a:lnSpc>
              <a:spcAft>
                <a:spcPts val="600"/>
              </a:spcAft>
            </a:pPr>
            <a:r>
              <a:rPr lang="en-US" sz="1500" kern="1200" dirty="0" err="1">
                <a:solidFill>
                  <a:schemeClr val="tx2"/>
                </a:solidFill>
                <a:effectLst/>
                <a:latin typeface="+mj-lt"/>
                <a:ea typeface="Calibri" panose="020F0502020204030204" pitchFamily="34" charset="0"/>
                <a:cs typeface="Calibri" panose="020F0502020204030204" pitchFamily="34" charset="0"/>
              </a:rPr>
              <a:t>mkdir</a:t>
            </a:r>
            <a:r>
              <a:rPr lang="en-US" sz="1500" kern="1200" dirty="0">
                <a:solidFill>
                  <a:schemeClr val="tx2"/>
                </a:solidFill>
                <a:effectLst/>
                <a:latin typeface="+mj-lt"/>
                <a:ea typeface="Calibri" panose="020F0502020204030204" pitchFamily="34" charset="0"/>
                <a:cs typeface="Calibri" panose="020F0502020204030204" pitchFamily="34" charset="0"/>
              </a:rPr>
              <a:t> : Create a new directory</a:t>
            </a:r>
          </a:p>
          <a:p>
            <a:pPr indent="-155448" defTabSz="621792">
              <a:lnSpc>
                <a:spcPct val="100000"/>
              </a:lnSpc>
              <a:spcAft>
                <a:spcPts val="600"/>
              </a:spcAft>
            </a:pPr>
            <a:r>
              <a:rPr lang="en-US" sz="1500" kern="1200" dirty="0" err="1">
                <a:solidFill>
                  <a:schemeClr val="tx2"/>
                </a:solidFill>
                <a:effectLst/>
                <a:latin typeface="+mj-lt"/>
                <a:ea typeface="Calibri" panose="020F0502020204030204" pitchFamily="34" charset="0"/>
                <a:cs typeface="Calibri" panose="020F0502020204030204" pitchFamily="34" charset="0"/>
              </a:rPr>
              <a:t>rmdir</a:t>
            </a:r>
            <a:r>
              <a:rPr lang="en-US" sz="1500" kern="1200" dirty="0">
                <a:solidFill>
                  <a:schemeClr val="tx2"/>
                </a:solidFill>
                <a:effectLst/>
                <a:latin typeface="+mj-lt"/>
                <a:ea typeface="Calibri" panose="020F0502020204030204" pitchFamily="34" charset="0"/>
                <a:cs typeface="Calibri" panose="020F0502020204030204" pitchFamily="34" charset="0"/>
              </a:rPr>
              <a:t> : Remove a directory</a:t>
            </a:r>
          </a:p>
          <a:p>
            <a:pPr indent="-155448" defTabSz="621792">
              <a:lnSpc>
                <a:spcPct val="100000"/>
              </a:lnSpc>
              <a:spcAft>
                <a:spcPts val="600"/>
              </a:spcAft>
            </a:pPr>
            <a:r>
              <a:rPr lang="en-US" sz="1500" kern="1200" dirty="0" err="1">
                <a:solidFill>
                  <a:schemeClr val="tx2"/>
                </a:solidFill>
                <a:effectLst/>
                <a:latin typeface="+mj-lt"/>
                <a:ea typeface="Calibri" panose="020F0502020204030204" pitchFamily="34" charset="0"/>
                <a:cs typeface="Calibri" panose="020F0502020204030204" pitchFamily="34" charset="0"/>
              </a:rPr>
              <a:t>chmod</a:t>
            </a:r>
            <a:r>
              <a:rPr lang="en-US" sz="1500" kern="1200" dirty="0">
                <a:solidFill>
                  <a:schemeClr val="tx2"/>
                </a:solidFill>
                <a:effectLst/>
                <a:latin typeface="+mj-lt"/>
                <a:ea typeface="Calibri" panose="020F0502020204030204" pitchFamily="34" charset="0"/>
                <a:cs typeface="Calibri" panose="020F0502020204030204" pitchFamily="34" charset="0"/>
              </a:rPr>
              <a:t> : Change directory permissions</a:t>
            </a:r>
            <a:endParaRPr lang="en-US" sz="1500" dirty="0">
              <a:latin typeface="+mj-lt"/>
              <a:ea typeface="Calibri" panose="020F0502020204030204" pitchFamily="34" charset="0"/>
              <a:cs typeface="Calibri" panose="020F0502020204030204" pitchFamily="34" charset="0"/>
            </a:endParaRPr>
          </a:p>
        </p:txBody>
      </p:sp>
      <p:pic>
        <p:nvPicPr>
          <p:cNvPr id="7" name="Graphic 6" descr="Paper with solid fill">
            <a:extLst>
              <a:ext uri="{FF2B5EF4-FFF2-40B4-BE49-F238E27FC236}">
                <a16:creationId xmlns:a16="http://schemas.microsoft.com/office/drawing/2014/main" id="{CA45594A-B01F-5B48-2B8A-1171F39419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007017" y="1644818"/>
            <a:ext cx="521504" cy="521504"/>
          </a:xfrm>
          <a:prstGeom prst="rect">
            <a:avLst/>
          </a:prstGeom>
        </p:spPr>
      </p:pic>
      <p:pic>
        <p:nvPicPr>
          <p:cNvPr id="8" name="Graphic 7" descr="Open Folder">
            <a:extLst>
              <a:ext uri="{FF2B5EF4-FFF2-40B4-BE49-F238E27FC236}">
                <a16:creationId xmlns:a16="http://schemas.microsoft.com/office/drawing/2014/main" id="{CADF9E02-896D-7711-BEAF-FC169A07003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76424" y="1653115"/>
            <a:ext cx="561626" cy="561626"/>
          </a:xfrm>
          <a:prstGeom prst="rect">
            <a:avLst/>
          </a:prstGeom>
        </p:spPr>
      </p:pic>
    </p:spTree>
    <p:extLst>
      <p:ext uri="{BB962C8B-B14F-4D97-AF65-F5344CB8AC3E}">
        <p14:creationId xmlns:p14="http://schemas.microsoft.com/office/powerpoint/2010/main" val="3025824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F3D60-536D-41D7-948C-9081A22A48E5}"/>
              </a:ext>
            </a:extLst>
          </p:cNvPr>
          <p:cNvSpPr>
            <a:spLocks noGrp="1"/>
          </p:cNvSpPr>
          <p:nvPr>
            <p:ph type="title"/>
          </p:nvPr>
        </p:nvSpPr>
        <p:spPr>
          <a:xfrm>
            <a:off x="691079" y="725951"/>
            <a:ext cx="5404921" cy="1442463"/>
          </a:xfrm>
        </p:spPr>
        <p:txBody>
          <a:bodyPr>
            <a:normAutofit fontScale="90000"/>
          </a:bodyPr>
          <a:lstStyle/>
          <a:p>
            <a:r>
              <a:rPr lang="en-US" sz="3200" dirty="0"/>
              <a:t>What is </a:t>
            </a:r>
            <a:br>
              <a:rPr lang="en-US" sz="3200" dirty="0"/>
            </a:br>
            <a:r>
              <a:rPr lang="en-US" sz="3200" dirty="0"/>
              <a:t>	</a:t>
            </a:r>
            <a:r>
              <a:rPr lang="en-US" b="1" dirty="0">
                <a:solidFill>
                  <a:srgbClr val="0070C0"/>
                </a:solidFill>
              </a:rPr>
              <a:t>SQL</a:t>
            </a:r>
            <a:r>
              <a:rPr lang="en-US" dirty="0"/>
              <a:t> </a:t>
            </a:r>
            <a:r>
              <a:rPr lang="en-US" sz="3200" dirty="0"/>
              <a:t>(Structured </a:t>
            </a:r>
            <a:br>
              <a:rPr lang="en-US" sz="3200" dirty="0"/>
            </a:br>
            <a:r>
              <a:rPr lang="en-US" sz="3200" dirty="0"/>
              <a:t>		Query Language) </a:t>
            </a:r>
            <a:r>
              <a:rPr lang="en-US" dirty="0"/>
              <a:t>?</a:t>
            </a:r>
          </a:p>
        </p:txBody>
      </p:sp>
      <p:graphicFrame>
        <p:nvGraphicFramePr>
          <p:cNvPr id="7" name="Content Placeholder 2">
            <a:extLst>
              <a:ext uri="{FF2B5EF4-FFF2-40B4-BE49-F238E27FC236}">
                <a16:creationId xmlns:a16="http://schemas.microsoft.com/office/drawing/2014/main" id="{13941547-ABC3-0BF1-D240-33937D970B31}"/>
              </a:ext>
            </a:extLst>
          </p:cNvPr>
          <p:cNvGraphicFramePr>
            <a:graphicFrameLocks noGrp="1"/>
          </p:cNvGraphicFramePr>
          <p:nvPr>
            <p:ph idx="1"/>
          </p:nvPr>
        </p:nvGraphicFramePr>
        <p:xfrm>
          <a:off x="691079" y="2340131"/>
          <a:ext cx="5310328" cy="35644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Diagram&#10;&#10;Description automatically generated">
            <a:extLst>
              <a:ext uri="{FF2B5EF4-FFF2-40B4-BE49-F238E27FC236}">
                <a16:creationId xmlns:a16="http://schemas.microsoft.com/office/drawing/2014/main" id="{02B7C276-F659-4C96-A19C-E8F972D40596}"/>
              </a:ext>
            </a:extLst>
          </p:cNvPr>
          <p:cNvPicPr>
            <a:picLocks noChangeAspect="1"/>
          </p:cNvPicPr>
          <p:nvPr/>
        </p:nvPicPr>
        <p:blipFill>
          <a:blip r:embed="rId7">
            <a:alphaModFix amt="48000"/>
            <a:extLst>
              <a:ext uri="{BEBA8EAE-BF5A-486C-A8C5-ECC9F3942E4B}">
                <a14:imgProps xmlns:a14="http://schemas.microsoft.com/office/drawing/2010/main">
                  <a14:imgLayer r:embed="rId8">
                    <a14:imgEffect>
                      <a14:colorTemperature colorTemp="6235"/>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6361715" y="609600"/>
            <a:ext cx="4933950" cy="5638800"/>
          </a:xfrm>
          <a:prstGeom prst="rect">
            <a:avLst/>
          </a:prstGeom>
          <a:noFill/>
        </p:spPr>
      </p:pic>
    </p:spTree>
    <p:extLst>
      <p:ext uri="{BB962C8B-B14F-4D97-AF65-F5344CB8AC3E}">
        <p14:creationId xmlns:p14="http://schemas.microsoft.com/office/powerpoint/2010/main" val="2586271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4" name="Group 13">
            <a:extLst>
              <a:ext uri="{FF2B5EF4-FFF2-40B4-BE49-F238E27FC236}">
                <a16:creationId xmlns:a16="http://schemas.microsoft.com/office/drawing/2014/main" id="{5591A4A5-C00F-4B45-9735-FD2841BF34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 name="Straight Connector 14">
              <a:extLst>
                <a:ext uri="{FF2B5EF4-FFF2-40B4-BE49-F238E27FC236}">
                  <a16:creationId xmlns:a16="http://schemas.microsoft.com/office/drawing/2014/main" id="{7A16FDB6-C8B8-4BB9-B5F6-C9E7D1549A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65D67BC-2831-45D1-804D-2B848B7FF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3254059-39EC-48CC-B948-9EE6B05517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F3E0572-7D5E-4FAA-B67C-23A9C6D715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C5F1231-CF22-4258-B764-592B6CB8DC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B2C5387-42A2-4464-BF18-E70B0227B9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926F39D-AFC8-4FF6-9211-84AA777176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D812696-9AF7-4D2B-A041-80C015F33A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6CB557-1E5B-4D2D-9330-8EB4AF7307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03A4B30-3A15-4294-9BED-E7317857F0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E7B8343-CDF9-4023-9FBF-F4ADE601B2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BB30BD5-639D-4F53-BC6C-2A8D0FFFE5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D7E1947-04B8-4F0B-9E3C-FC4E26D618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3EDB6D6-D309-48D4-87F4-AAED7C57C7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F2E163F-B043-43B7-85CE-36F2136BAB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F6CB03C-E3B1-4D22-ABA3-986CC09FB3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B41E31-EE5F-423F-8B88-3B56009A34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59D4FE6-B271-4427-8273-0B80EF1366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F7D26D0-83A1-41B0-82E3-FB5D3E93EE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7E47C02-EBB8-4368-815C-FEDA23368D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E61DA55-8618-4048-A65A-41E072D9FF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DFC058B-6608-4509-92E1-D4D0D5BD57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E3652A3-36D6-4E0C-B7FB-52CD69E9CF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BF82BE6-B2D5-4FA1-98B4-1E0072C391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ECA553C-C7B8-4353-BC4C-D622087D6F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F802227-5CA9-40B4-870E-495C7899C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1A19F9E-BB49-4808-8481-77F848C2F4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53A57BE-F139-4C31-8201-477E20DD2A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9F800EC-2D85-47C7-BFB8-B146DD929C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478BA6D-3F48-40B1-8227-830029B628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21E6C45-0A76-456E-BDD6-3DCB66126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7" name="Right Triangle 46">
            <a:extLst>
              <a:ext uri="{FF2B5EF4-FFF2-40B4-BE49-F238E27FC236}">
                <a16:creationId xmlns:a16="http://schemas.microsoft.com/office/drawing/2014/main" id="{3C541D4F-11C2-4F36-B2A3-AB9028F2A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05909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28C45C9-C996-4134-9411-565723B1DF93}"/>
              </a:ext>
            </a:extLst>
          </p:cNvPr>
          <p:cNvSpPr>
            <a:spLocks noGrp="1"/>
          </p:cNvSpPr>
          <p:nvPr>
            <p:ph type="title"/>
          </p:nvPr>
        </p:nvSpPr>
        <p:spPr>
          <a:xfrm>
            <a:off x="691079" y="520763"/>
            <a:ext cx="4038652" cy="1881178"/>
          </a:xfrm>
        </p:spPr>
        <p:txBody>
          <a:bodyPr>
            <a:normAutofit/>
          </a:bodyPr>
          <a:lstStyle/>
          <a:p>
            <a:r>
              <a:rPr lang="en-US" sz="2900" dirty="0"/>
              <a:t>What is </a:t>
            </a:r>
            <a:br>
              <a:rPr lang="en-US" dirty="0"/>
            </a:br>
            <a:r>
              <a:rPr lang="en-US" dirty="0"/>
              <a:t>	</a:t>
            </a:r>
            <a:r>
              <a:rPr lang="en-US" sz="4000" b="1" dirty="0">
                <a:solidFill>
                  <a:srgbClr val="0070C0"/>
                </a:solidFill>
              </a:rPr>
              <a:t>Database</a:t>
            </a:r>
            <a:r>
              <a:rPr lang="en-US" b="1" dirty="0"/>
              <a:t> </a:t>
            </a:r>
            <a:r>
              <a:rPr lang="en-US" sz="2900" dirty="0"/>
              <a:t>?</a:t>
            </a:r>
          </a:p>
        </p:txBody>
      </p:sp>
      <p:sp>
        <p:nvSpPr>
          <p:cNvPr id="3" name="Content Placeholder 2">
            <a:extLst>
              <a:ext uri="{FF2B5EF4-FFF2-40B4-BE49-F238E27FC236}">
                <a16:creationId xmlns:a16="http://schemas.microsoft.com/office/drawing/2014/main" id="{07373028-E6F7-4F9D-9313-71D84A2F858B}"/>
              </a:ext>
            </a:extLst>
          </p:cNvPr>
          <p:cNvSpPr>
            <a:spLocks noGrp="1"/>
          </p:cNvSpPr>
          <p:nvPr>
            <p:ph idx="1"/>
          </p:nvPr>
        </p:nvSpPr>
        <p:spPr>
          <a:xfrm>
            <a:off x="580808" y="2712089"/>
            <a:ext cx="4222723" cy="3971091"/>
          </a:xfrm>
        </p:spPr>
        <p:txBody>
          <a:bodyPr>
            <a:noAutofit/>
          </a:bodyPr>
          <a:lstStyle/>
          <a:p>
            <a:r>
              <a:rPr lang="en-US" sz="1700" dirty="0"/>
              <a:t>A Database is an organized collection of structured information or data typically stored electronically in computer.</a:t>
            </a:r>
          </a:p>
          <a:p>
            <a:r>
              <a:rPr lang="en-US" sz="1700" dirty="0"/>
              <a:t>Data within the most common types of databases in operation today  is typically modeled in rows and columns in series of tables to make processing and data querying effect.</a:t>
            </a:r>
          </a:p>
          <a:p>
            <a:r>
              <a:rPr lang="en-US" sz="1700" dirty="0"/>
              <a:t>It is usually controlled by DBMS(Database management system).</a:t>
            </a:r>
          </a:p>
        </p:txBody>
      </p:sp>
      <p:pic>
        <p:nvPicPr>
          <p:cNvPr id="7" name="Picture 6" descr="Diagram&#10;&#10;Description automatically generated">
            <a:extLst>
              <a:ext uri="{FF2B5EF4-FFF2-40B4-BE49-F238E27FC236}">
                <a16:creationId xmlns:a16="http://schemas.microsoft.com/office/drawing/2014/main" id="{C91C8F7D-1D45-4D27-9E65-736D418EAD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7863" y="2085774"/>
            <a:ext cx="6401443" cy="2896652"/>
          </a:xfrm>
          <a:prstGeom prst="rect">
            <a:avLst/>
          </a:prstGeom>
        </p:spPr>
      </p:pic>
      <p:sp>
        <p:nvSpPr>
          <p:cNvPr id="46" name="TextBox 45">
            <a:extLst>
              <a:ext uri="{FF2B5EF4-FFF2-40B4-BE49-F238E27FC236}">
                <a16:creationId xmlns:a16="http://schemas.microsoft.com/office/drawing/2014/main" id="{701287B3-2170-440C-8727-C4FDEEC2BCBC}"/>
              </a:ext>
            </a:extLst>
          </p:cNvPr>
          <p:cNvSpPr txBox="1"/>
          <p:nvPr/>
        </p:nvSpPr>
        <p:spPr>
          <a:xfrm>
            <a:off x="5786924" y="5068662"/>
            <a:ext cx="5528962" cy="1138773"/>
          </a:xfrm>
          <a:prstGeom prst="rect">
            <a:avLst/>
          </a:prstGeom>
          <a:noFill/>
        </p:spPr>
        <p:txBody>
          <a:bodyPr wrap="square">
            <a:spAutoFit/>
          </a:bodyPr>
          <a:lstStyle/>
          <a:p>
            <a:r>
              <a:rPr lang="en-US" sz="1700" dirty="0"/>
              <a:t>There are many types of data bases. </a:t>
            </a:r>
          </a:p>
          <a:p>
            <a:r>
              <a:rPr lang="en-US" sz="1700" dirty="0"/>
              <a:t>Example: Relational databases, Distributed databases, object-oriented databases, Centralized databases, open-source databases cloud databases etc. </a:t>
            </a:r>
          </a:p>
        </p:txBody>
      </p:sp>
    </p:spTree>
    <p:extLst>
      <p:ext uri="{BB962C8B-B14F-4D97-AF65-F5344CB8AC3E}">
        <p14:creationId xmlns:p14="http://schemas.microsoft.com/office/powerpoint/2010/main" val="997300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3BD1B-DEBC-4EC8-82C2-F7349455F612}"/>
              </a:ext>
            </a:extLst>
          </p:cNvPr>
          <p:cNvSpPr>
            <a:spLocks noGrp="1"/>
          </p:cNvSpPr>
          <p:nvPr>
            <p:ph type="title"/>
          </p:nvPr>
        </p:nvSpPr>
        <p:spPr/>
        <p:txBody>
          <a:bodyPr/>
          <a:lstStyle/>
          <a:p>
            <a:r>
              <a:rPr lang="en-US" b="1" dirty="0">
                <a:solidFill>
                  <a:srgbClr val="0070C0"/>
                </a:solidFill>
              </a:rPr>
              <a:t>SQL Statements</a:t>
            </a:r>
          </a:p>
        </p:txBody>
      </p:sp>
      <p:sp>
        <p:nvSpPr>
          <p:cNvPr id="3" name="Content Placeholder 2">
            <a:extLst>
              <a:ext uri="{FF2B5EF4-FFF2-40B4-BE49-F238E27FC236}">
                <a16:creationId xmlns:a16="http://schemas.microsoft.com/office/drawing/2014/main" id="{AAE0D11F-73E9-4C6B-AA4D-43ED79BC68E2}"/>
              </a:ext>
            </a:extLst>
          </p:cNvPr>
          <p:cNvSpPr>
            <a:spLocks noGrp="1"/>
          </p:cNvSpPr>
          <p:nvPr>
            <p:ph idx="1"/>
          </p:nvPr>
        </p:nvSpPr>
        <p:spPr/>
        <p:txBody>
          <a:bodyPr>
            <a:normAutofit/>
          </a:bodyPr>
          <a:lstStyle/>
          <a:p>
            <a:r>
              <a:rPr lang="en-US" sz="2400" b="1" dirty="0"/>
              <a:t>Data Definition Language(DDL)</a:t>
            </a:r>
          </a:p>
          <a:p>
            <a:r>
              <a:rPr lang="en-US" sz="2400" b="1" dirty="0"/>
              <a:t>Data Manipulation language</a:t>
            </a:r>
          </a:p>
          <a:p>
            <a:r>
              <a:rPr lang="en-US" sz="2400" b="1" dirty="0"/>
              <a:t>Data Control Language</a:t>
            </a:r>
          </a:p>
          <a:p>
            <a:r>
              <a:rPr lang="en-US" sz="2400" b="1" dirty="0"/>
              <a:t>Transaction control Language</a:t>
            </a:r>
          </a:p>
        </p:txBody>
      </p:sp>
    </p:spTree>
    <p:extLst>
      <p:ext uri="{BB962C8B-B14F-4D97-AF65-F5344CB8AC3E}">
        <p14:creationId xmlns:p14="http://schemas.microsoft.com/office/powerpoint/2010/main" val="4034370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E64C0-6ADE-46E7-AF56-BED4B7F3815E}"/>
              </a:ext>
            </a:extLst>
          </p:cNvPr>
          <p:cNvSpPr>
            <a:spLocks noGrp="1"/>
          </p:cNvSpPr>
          <p:nvPr>
            <p:ph type="title"/>
          </p:nvPr>
        </p:nvSpPr>
        <p:spPr/>
        <p:txBody>
          <a:bodyPr>
            <a:normAutofit/>
          </a:bodyPr>
          <a:lstStyle/>
          <a:p>
            <a:r>
              <a:rPr lang="en-US" sz="4000" b="1" dirty="0">
                <a:solidFill>
                  <a:srgbClr val="0070C0"/>
                </a:solidFill>
              </a:rPr>
              <a:t>Data Definition Language(DDL) </a:t>
            </a:r>
            <a:r>
              <a:rPr lang="en-US" sz="2900" dirty="0"/>
              <a:t>Statement</a:t>
            </a:r>
          </a:p>
        </p:txBody>
      </p:sp>
      <p:sp>
        <p:nvSpPr>
          <p:cNvPr id="3" name="Content Placeholder 2">
            <a:extLst>
              <a:ext uri="{FF2B5EF4-FFF2-40B4-BE49-F238E27FC236}">
                <a16:creationId xmlns:a16="http://schemas.microsoft.com/office/drawing/2014/main" id="{74C6E61E-0946-4301-984A-D35EA5B342B7}"/>
              </a:ext>
            </a:extLst>
          </p:cNvPr>
          <p:cNvSpPr>
            <a:spLocks noGrp="1"/>
          </p:cNvSpPr>
          <p:nvPr>
            <p:ph idx="1"/>
          </p:nvPr>
        </p:nvSpPr>
        <p:spPr/>
        <p:txBody>
          <a:bodyPr/>
          <a:lstStyle/>
          <a:p>
            <a:r>
              <a:rPr lang="en-US" dirty="0"/>
              <a:t>DDL statement are used to define, alter, or drop database objects.</a:t>
            </a:r>
          </a:p>
        </p:txBody>
      </p:sp>
      <p:graphicFrame>
        <p:nvGraphicFramePr>
          <p:cNvPr id="4" name="Table 4">
            <a:extLst>
              <a:ext uri="{FF2B5EF4-FFF2-40B4-BE49-F238E27FC236}">
                <a16:creationId xmlns:a16="http://schemas.microsoft.com/office/drawing/2014/main" id="{167A34E4-4A36-4889-9ADC-5D8F5BB83CA0}"/>
              </a:ext>
            </a:extLst>
          </p:cNvPr>
          <p:cNvGraphicFramePr>
            <a:graphicFrameLocks noGrp="1"/>
          </p:cNvGraphicFramePr>
          <p:nvPr>
            <p:extLst>
              <p:ext uri="{D42A27DB-BD31-4B8C-83A1-F6EECF244321}">
                <p14:modId xmlns:p14="http://schemas.microsoft.com/office/powerpoint/2010/main" val="3148864332"/>
              </p:ext>
            </p:extLst>
          </p:nvPr>
        </p:nvGraphicFramePr>
        <p:xfrm>
          <a:off x="924911" y="3331779"/>
          <a:ext cx="9848192" cy="2132430"/>
        </p:xfrm>
        <a:graphic>
          <a:graphicData uri="http://schemas.openxmlformats.org/drawingml/2006/table">
            <a:tbl>
              <a:tblPr firstRow="1" bandRow="1">
                <a:tableStyleId>{5C22544A-7EE6-4342-B048-85BDC9FD1C3A}</a:tableStyleId>
              </a:tblPr>
              <a:tblGrid>
                <a:gridCol w="1562128">
                  <a:extLst>
                    <a:ext uri="{9D8B030D-6E8A-4147-A177-3AD203B41FA5}">
                      <a16:colId xmlns:a16="http://schemas.microsoft.com/office/drawing/2014/main" val="1439420800"/>
                    </a:ext>
                  </a:extLst>
                </a:gridCol>
                <a:gridCol w="5003333">
                  <a:extLst>
                    <a:ext uri="{9D8B030D-6E8A-4147-A177-3AD203B41FA5}">
                      <a16:colId xmlns:a16="http://schemas.microsoft.com/office/drawing/2014/main" val="1535016631"/>
                    </a:ext>
                  </a:extLst>
                </a:gridCol>
                <a:gridCol w="3282731">
                  <a:extLst>
                    <a:ext uri="{9D8B030D-6E8A-4147-A177-3AD203B41FA5}">
                      <a16:colId xmlns:a16="http://schemas.microsoft.com/office/drawing/2014/main" val="2438217392"/>
                    </a:ext>
                  </a:extLst>
                </a:gridCol>
              </a:tblGrid>
              <a:tr h="426486">
                <a:tc>
                  <a:txBody>
                    <a:bodyPr/>
                    <a:lstStyle/>
                    <a:p>
                      <a:r>
                        <a:rPr lang="en-US" dirty="0"/>
                        <a:t>S. No</a:t>
                      </a:r>
                    </a:p>
                  </a:txBody>
                  <a:tcPr/>
                </a:tc>
                <a:tc>
                  <a:txBody>
                    <a:bodyPr/>
                    <a:lstStyle/>
                    <a:p>
                      <a:r>
                        <a:rPr lang="en-US" dirty="0"/>
                        <a:t>Usage</a:t>
                      </a:r>
                    </a:p>
                  </a:txBody>
                  <a:tcPr/>
                </a:tc>
                <a:tc>
                  <a:txBody>
                    <a:bodyPr/>
                    <a:lstStyle/>
                    <a:p>
                      <a:r>
                        <a:rPr lang="en-US" dirty="0"/>
                        <a:t>SQL  Statement</a:t>
                      </a:r>
                    </a:p>
                  </a:txBody>
                  <a:tcPr/>
                </a:tc>
                <a:extLst>
                  <a:ext uri="{0D108BD9-81ED-4DB2-BD59-A6C34878D82A}">
                    <a16:rowId xmlns:a16="http://schemas.microsoft.com/office/drawing/2014/main" val="3983096974"/>
                  </a:ext>
                </a:extLst>
              </a:tr>
              <a:tr h="426486">
                <a:tc>
                  <a:txBody>
                    <a:bodyPr/>
                    <a:lstStyle/>
                    <a:p>
                      <a:pPr algn="ctr"/>
                      <a:r>
                        <a:rPr lang="en-US" dirty="0"/>
                        <a:t>1</a:t>
                      </a:r>
                    </a:p>
                  </a:txBody>
                  <a:tcPr/>
                </a:tc>
                <a:tc>
                  <a:txBody>
                    <a:bodyPr/>
                    <a:lstStyle/>
                    <a:p>
                      <a:pPr algn="ctr"/>
                      <a:r>
                        <a:rPr lang="en-US" dirty="0"/>
                        <a:t>Create schema objects</a:t>
                      </a:r>
                    </a:p>
                  </a:txBody>
                  <a:tcPr/>
                </a:tc>
                <a:tc>
                  <a:txBody>
                    <a:bodyPr/>
                    <a:lstStyle/>
                    <a:p>
                      <a:pPr algn="ctr"/>
                      <a:r>
                        <a:rPr lang="en-US" dirty="0"/>
                        <a:t>Create</a:t>
                      </a:r>
                    </a:p>
                  </a:txBody>
                  <a:tcPr/>
                </a:tc>
                <a:extLst>
                  <a:ext uri="{0D108BD9-81ED-4DB2-BD59-A6C34878D82A}">
                    <a16:rowId xmlns:a16="http://schemas.microsoft.com/office/drawing/2014/main" val="3754334592"/>
                  </a:ext>
                </a:extLst>
              </a:tr>
              <a:tr h="426486">
                <a:tc>
                  <a:txBody>
                    <a:bodyPr/>
                    <a:lstStyle/>
                    <a:p>
                      <a:pPr algn="ctr"/>
                      <a:r>
                        <a:rPr lang="en-US" dirty="0"/>
                        <a:t>2</a:t>
                      </a:r>
                    </a:p>
                  </a:txBody>
                  <a:tcPr/>
                </a:tc>
                <a:tc>
                  <a:txBody>
                    <a:bodyPr/>
                    <a:lstStyle/>
                    <a:p>
                      <a:pPr algn="ctr"/>
                      <a:r>
                        <a:rPr lang="en-US" dirty="0"/>
                        <a:t>Alter schema objects</a:t>
                      </a:r>
                    </a:p>
                  </a:txBody>
                  <a:tcPr/>
                </a:tc>
                <a:tc>
                  <a:txBody>
                    <a:bodyPr/>
                    <a:lstStyle/>
                    <a:p>
                      <a:pPr algn="ctr"/>
                      <a:r>
                        <a:rPr lang="en-US" dirty="0"/>
                        <a:t>Alter</a:t>
                      </a:r>
                    </a:p>
                  </a:txBody>
                  <a:tcPr/>
                </a:tc>
                <a:extLst>
                  <a:ext uri="{0D108BD9-81ED-4DB2-BD59-A6C34878D82A}">
                    <a16:rowId xmlns:a16="http://schemas.microsoft.com/office/drawing/2014/main" val="3197135516"/>
                  </a:ext>
                </a:extLst>
              </a:tr>
              <a:tr h="426486">
                <a:tc>
                  <a:txBody>
                    <a:bodyPr/>
                    <a:lstStyle/>
                    <a:p>
                      <a:pPr algn="ctr"/>
                      <a:r>
                        <a:rPr lang="en-US" dirty="0"/>
                        <a:t>3</a:t>
                      </a:r>
                    </a:p>
                  </a:txBody>
                  <a:tcPr/>
                </a:tc>
                <a:tc>
                  <a:txBody>
                    <a:bodyPr/>
                    <a:lstStyle/>
                    <a:p>
                      <a:pPr algn="ctr"/>
                      <a:r>
                        <a:rPr lang="en-US" dirty="0"/>
                        <a:t>Delete schema objects</a:t>
                      </a:r>
                    </a:p>
                  </a:txBody>
                  <a:tcPr/>
                </a:tc>
                <a:tc>
                  <a:txBody>
                    <a:bodyPr/>
                    <a:lstStyle/>
                    <a:p>
                      <a:pPr algn="ctr"/>
                      <a:r>
                        <a:rPr lang="en-US" dirty="0"/>
                        <a:t>Drop</a:t>
                      </a:r>
                    </a:p>
                  </a:txBody>
                  <a:tcPr/>
                </a:tc>
                <a:extLst>
                  <a:ext uri="{0D108BD9-81ED-4DB2-BD59-A6C34878D82A}">
                    <a16:rowId xmlns:a16="http://schemas.microsoft.com/office/drawing/2014/main" val="132449429"/>
                  </a:ext>
                </a:extLst>
              </a:tr>
              <a:tr h="426486">
                <a:tc>
                  <a:txBody>
                    <a:bodyPr/>
                    <a:lstStyle/>
                    <a:p>
                      <a:pPr algn="ctr"/>
                      <a:r>
                        <a:rPr lang="en-US" dirty="0"/>
                        <a:t>4</a:t>
                      </a:r>
                    </a:p>
                  </a:txBody>
                  <a:tcPr/>
                </a:tc>
                <a:tc>
                  <a:txBody>
                    <a:bodyPr/>
                    <a:lstStyle/>
                    <a:p>
                      <a:pPr algn="ctr"/>
                      <a:r>
                        <a:rPr lang="en-US" dirty="0"/>
                        <a:t>Rename schema objects</a:t>
                      </a:r>
                    </a:p>
                  </a:txBody>
                  <a:tcPr/>
                </a:tc>
                <a:tc>
                  <a:txBody>
                    <a:bodyPr/>
                    <a:lstStyle/>
                    <a:p>
                      <a:pPr algn="ctr"/>
                      <a:r>
                        <a:rPr lang="en-US" dirty="0"/>
                        <a:t>Rename</a:t>
                      </a:r>
                    </a:p>
                  </a:txBody>
                  <a:tcPr/>
                </a:tc>
                <a:extLst>
                  <a:ext uri="{0D108BD9-81ED-4DB2-BD59-A6C34878D82A}">
                    <a16:rowId xmlns:a16="http://schemas.microsoft.com/office/drawing/2014/main" val="137663287"/>
                  </a:ext>
                </a:extLst>
              </a:tr>
            </a:tbl>
          </a:graphicData>
        </a:graphic>
      </p:graphicFrame>
    </p:spTree>
    <p:extLst>
      <p:ext uri="{BB962C8B-B14F-4D97-AF65-F5344CB8AC3E}">
        <p14:creationId xmlns:p14="http://schemas.microsoft.com/office/powerpoint/2010/main" val="3502046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5BD799-A6BC-47A5-823C-F549CDB106D4}"/>
              </a:ext>
            </a:extLst>
          </p:cNvPr>
          <p:cNvSpPr>
            <a:spLocks noGrp="1"/>
          </p:cNvSpPr>
          <p:nvPr>
            <p:ph idx="1"/>
          </p:nvPr>
        </p:nvSpPr>
        <p:spPr/>
        <p:txBody>
          <a:bodyPr/>
          <a:lstStyle/>
          <a:p>
            <a:r>
              <a:rPr lang="en-US" dirty="0"/>
              <a:t>Once the tables have been created, the DML statement enable user to </a:t>
            </a:r>
            <a:r>
              <a:rPr lang="en-US" dirty="0" err="1"/>
              <a:t>quer</a:t>
            </a:r>
            <a:r>
              <a:rPr lang="en-US" dirty="0"/>
              <a:t> or manipulate data in existing schemas objects.</a:t>
            </a:r>
          </a:p>
          <a:p>
            <a:pPr marL="0" indent="0">
              <a:buNone/>
            </a:pPr>
            <a:endParaRPr lang="en-US" dirty="0"/>
          </a:p>
        </p:txBody>
      </p:sp>
      <p:sp>
        <p:nvSpPr>
          <p:cNvPr id="4" name="Title 1">
            <a:extLst>
              <a:ext uri="{FF2B5EF4-FFF2-40B4-BE49-F238E27FC236}">
                <a16:creationId xmlns:a16="http://schemas.microsoft.com/office/drawing/2014/main" id="{559FF3BA-92A6-43BB-9CD8-76A5FA07C116}"/>
              </a:ext>
            </a:extLst>
          </p:cNvPr>
          <p:cNvSpPr>
            <a:spLocks noGrp="1"/>
          </p:cNvSpPr>
          <p:nvPr>
            <p:ph type="title"/>
          </p:nvPr>
        </p:nvSpPr>
        <p:spPr>
          <a:xfrm>
            <a:off x="690563" y="725488"/>
            <a:ext cx="10325100" cy="1443037"/>
          </a:xfrm>
        </p:spPr>
        <p:txBody>
          <a:bodyPr>
            <a:normAutofit/>
          </a:bodyPr>
          <a:lstStyle/>
          <a:p>
            <a:r>
              <a:rPr lang="en-US" sz="4000" b="1" dirty="0">
                <a:solidFill>
                  <a:srgbClr val="0070C0"/>
                </a:solidFill>
              </a:rPr>
              <a:t>Data Manipulation Language(DML) </a:t>
            </a:r>
            <a:r>
              <a:rPr lang="en-US" sz="2900" dirty="0"/>
              <a:t>Statement</a:t>
            </a:r>
          </a:p>
        </p:txBody>
      </p:sp>
      <p:graphicFrame>
        <p:nvGraphicFramePr>
          <p:cNvPr id="5" name="Table 4">
            <a:extLst>
              <a:ext uri="{FF2B5EF4-FFF2-40B4-BE49-F238E27FC236}">
                <a16:creationId xmlns:a16="http://schemas.microsoft.com/office/drawing/2014/main" id="{71960A22-98BD-4035-B626-A6E33963CEFC}"/>
              </a:ext>
            </a:extLst>
          </p:cNvPr>
          <p:cNvGraphicFramePr>
            <a:graphicFrameLocks noGrp="1"/>
          </p:cNvGraphicFramePr>
          <p:nvPr>
            <p:extLst>
              <p:ext uri="{D42A27DB-BD31-4B8C-83A1-F6EECF244321}">
                <p14:modId xmlns:p14="http://schemas.microsoft.com/office/powerpoint/2010/main" val="941993639"/>
              </p:ext>
            </p:extLst>
          </p:nvPr>
        </p:nvGraphicFramePr>
        <p:xfrm>
          <a:off x="924911" y="3331779"/>
          <a:ext cx="9848192" cy="2346024"/>
        </p:xfrm>
        <a:graphic>
          <a:graphicData uri="http://schemas.openxmlformats.org/drawingml/2006/table">
            <a:tbl>
              <a:tblPr firstRow="1" bandRow="1">
                <a:tableStyleId>{5C22544A-7EE6-4342-B048-85BDC9FD1C3A}</a:tableStyleId>
              </a:tblPr>
              <a:tblGrid>
                <a:gridCol w="1562128">
                  <a:extLst>
                    <a:ext uri="{9D8B030D-6E8A-4147-A177-3AD203B41FA5}">
                      <a16:colId xmlns:a16="http://schemas.microsoft.com/office/drawing/2014/main" val="1439420800"/>
                    </a:ext>
                  </a:extLst>
                </a:gridCol>
                <a:gridCol w="5003333">
                  <a:extLst>
                    <a:ext uri="{9D8B030D-6E8A-4147-A177-3AD203B41FA5}">
                      <a16:colId xmlns:a16="http://schemas.microsoft.com/office/drawing/2014/main" val="1535016631"/>
                    </a:ext>
                  </a:extLst>
                </a:gridCol>
                <a:gridCol w="3282731">
                  <a:extLst>
                    <a:ext uri="{9D8B030D-6E8A-4147-A177-3AD203B41FA5}">
                      <a16:colId xmlns:a16="http://schemas.microsoft.com/office/drawing/2014/main" val="2438217392"/>
                    </a:ext>
                  </a:extLst>
                </a:gridCol>
              </a:tblGrid>
              <a:tr h="426486">
                <a:tc>
                  <a:txBody>
                    <a:bodyPr/>
                    <a:lstStyle/>
                    <a:p>
                      <a:r>
                        <a:rPr lang="en-US" dirty="0"/>
                        <a:t>S. No</a:t>
                      </a:r>
                    </a:p>
                  </a:txBody>
                  <a:tcPr/>
                </a:tc>
                <a:tc>
                  <a:txBody>
                    <a:bodyPr/>
                    <a:lstStyle/>
                    <a:p>
                      <a:r>
                        <a:rPr lang="en-US" dirty="0"/>
                        <a:t>Usage</a:t>
                      </a:r>
                    </a:p>
                  </a:txBody>
                  <a:tcPr/>
                </a:tc>
                <a:tc>
                  <a:txBody>
                    <a:bodyPr/>
                    <a:lstStyle/>
                    <a:p>
                      <a:r>
                        <a:rPr lang="en-US" dirty="0"/>
                        <a:t>SQL  Statement</a:t>
                      </a:r>
                    </a:p>
                  </a:txBody>
                  <a:tcPr/>
                </a:tc>
                <a:extLst>
                  <a:ext uri="{0D108BD9-81ED-4DB2-BD59-A6C34878D82A}">
                    <a16:rowId xmlns:a16="http://schemas.microsoft.com/office/drawing/2014/main" val="3983096974"/>
                  </a:ext>
                </a:extLst>
              </a:tr>
              <a:tr h="426486">
                <a:tc>
                  <a:txBody>
                    <a:bodyPr/>
                    <a:lstStyle/>
                    <a:p>
                      <a:pPr algn="ctr"/>
                      <a:r>
                        <a:rPr lang="en-US" dirty="0"/>
                        <a:t>1</a:t>
                      </a:r>
                    </a:p>
                  </a:txBody>
                  <a:tcPr/>
                </a:tc>
                <a:tc>
                  <a:txBody>
                    <a:bodyPr/>
                    <a:lstStyle/>
                    <a:p>
                      <a:pPr algn="ctr"/>
                      <a:r>
                        <a:rPr lang="en-US" dirty="0"/>
                        <a:t>Remove rows from the table or view</a:t>
                      </a:r>
                    </a:p>
                  </a:txBody>
                  <a:tcPr/>
                </a:tc>
                <a:tc>
                  <a:txBody>
                    <a:bodyPr/>
                    <a:lstStyle/>
                    <a:p>
                      <a:pPr algn="ctr"/>
                      <a:r>
                        <a:rPr lang="en-US" dirty="0"/>
                        <a:t>delete</a:t>
                      </a:r>
                    </a:p>
                  </a:txBody>
                  <a:tcPr/>
                </a:tc>
                <a:extLst>
                  <a:ext uri="{0D108BD9-81ED-4DB2-BD59-A6C34878D82A}">
                    <a16:rowId xmlns:a16="http://schemas.microsoft.com/office/drawing/2014/main" val="3754334592"/>
                  </a:ext>
                </a:extLst>
              </a:tr>
              <a:tr h="426486">
                <a:tc>
                  <a:txBody>
                    <a:bodyPr/>
                    <a:lstStyle/>
                    <a:p>
                      <a:pPr algn="ctr"/>
                      <a:r>
                        <a:rPr lang="en-US" dirty="0"/>
                        <a:t>2</a:t>
                      </a:r>
                    </a:p>
                  </a:txBody>
                  <a:tcPr/>
                </a:tc>
                <a:tc>
                  <a:txBody>
                    <a:bodyPr/>
                    <a:lstStyle/>
                    <a:p>
                      <a:pPr algn="ctr"/>
                      <a:r>
                        <a:rPr lang="en-US" dirty="0"/>
                        <a:t>Add rows from the table or view</a:t>
                      </a:r>
                    </a:p>
                  </a:txBody>
                  <a:tcPr/>
                </a:tc>
                <a:tc>
                  <a:txBody>
                    <a:bodyPr/>
                    <a:lstStyle/>
                    <a:p>
                      <a:pPr algn="ctr"/>
                      <a:r>
                        <a:rPr lang="en-US" dirty="0"/>
                        <a:t>Insert</a:t>
                      </a:r>
                    </a:p>
                  </a:txBody>
                  <a:tcPr/>
                </a:tc>
                <a:extLst>
                  <a:ext uri="{0D108BD9-81ED-4DB2-BD59-A6C34878D82A}">
                    <a16:rowId xmlns:a16="http://schemas.microsoft.com/office/drawing/2014/main" val="3197135516"/>
                  </a:ext>
                </a:extLst>
              </a:tr>
              <a:tr h="426486">
                <a:tc>
                  <a:txBody>
                    <a:bodyPr/>
                    <a:lstStyle/>
                    <a:p>
                      <a:pPr algn="ctr"/>
                      <a:r>
                        <a:rPr lang="en-US" dirty="0"/>
                        <a:t>3</a:t>
                      </a:r>
                    </a:p>
                  </a:txBody>
                  <a:tcPr/>
                </a:tc>
                <a:tc>
                  <a:txBody>
                    <a:bodyPr/>
                    <a:lstStyle/>
                    <a:p>
                      <a:pPr algn="ctr"/>
                      <a:r>
                        <a:rPr lang="en-US" dirty="0"/>
                        <a:t>Retrieve data from one or more tables</a:t>
                      </a:r>
                    </a:p>
                  </a:txBody>
                  <a:tcPr/>
                </a:tc>
                <a:tc>
                  <a:txBody>
                    <a:bodyPr/>
                    <a:lstStyle/>
                    <a:p>
                      <a:pPr algn="ctr"/>
                      <a:r>
                        <a:rPr lang="en-US" dirty="0"/>
                        <a:t>Select</a:t>
                      </a:r>
                    </a:p>
                  </a:txBody>
                  <a:tcPr/>
                </a:tc>
                <a:extLst>
                  <a:ext uri="{0D108BD9-81ED-4DB2-BD59-A6C34878D82A}">
                    <a16:rowId xmlns:a16="http://schemas.microsoft.com/office/drawing/2014/main" val="132449429"/>
                  </a:ext>
                </a:extLst>
              </a:tr>
              <a:tr h="426486">
                <a:tc>
                  <a:txBody>
                    <a:bodyPr/>
                    <a:lstStyle/>
                    <a:p>
                      <a:pPr algn="ctr"/>
                      <a:r>
                        <a:rPr lang="en-US" dirty="0"/>
                        <a:t>4</a:t>
                      </a:r>
                    </a:p>
                  </a:txBody>
                  <a:tcPr/>
                </a:tc>
                <a:tc>
                  <a:txBody>
                    <a:bodyPr/>
                    <a:lstStyle/>
                    <a:p>
                      <a:pPr algn="ctr"/>
                      <a:r>
                        <a:rPr lang="en-US" dirty="0"/>
                        <a:t>Change column values in existing rows of a table or view </a:t>
                      </a:r>
                    </a:p>
                  </a:txBody>
                  <a:tcPr/>
                </a:tc>
                <a:tc>
                  <a:txBody>
                    <a:bodyPr/>
                    <a:lstStyle/>
                    <a:p>
                      <a:pPr algn="ctr"/>
                      <a:r>
                        <a:rPr lang="en-US" dirty="0"/>
                        <a:t>update</a:t>
                      </a:r>
                    </a:p>
                  </a:txBody>
                  <a:tcPr/>
                </a:tc>
                <a:extLst>
                  <a:ext uri="{0D108BD9-81ED-4DB2-BD59-A6C34878D82A}">
                    <a16:rowId xmlns:a16="http://schemas.microsoft.com/office/drawing/2014/main" val="137663287"/>
                  </a:ext>
                </a:extLst>
              </a:tr>
            </a:tbl>
          </a:graphicData>
        </a:graphic>
      </p:graphicFrame>
    </p:spTree>
    <p:extLst>
      <p:ext uri="{BB962C8B-B14F-4D97-AF65-F5344CB8AC3E}">
        <p14:creationId xmlns:p14="http://schemas.microsoft.com/office/powerpoint/2010/main" val="3694784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F00ED3-58D9-47FF-B89C-9554AC5E21D8}"/>
              </a:ext>
            </a:extLst>
          </p:cNvPr>
          <p:cNvSpPr>
            <a:spLocks noGrp="1"/>
          </p:cNvSpPr>
          <p:nvPr>
            <p:ph idx="1"/>
          </p:nvPr>
        </p:nvSpPr>
        <p:spPr/>
        <p:txBody>
          <a:bodyPr/>
          <a:lstStyle/>
          <a:p>
            <a:r>
              <a:rPr lang="en-US" dirty="0"/>
              <a:t>DCL statements are used to grant the privilege to the user.</a:t>
            </a:r>
          </a:p>
          <a:p>
            <a:pPr marL="0" indent="0">
              <a:buNone/>
            </a:pPr>
            <a:r>
              <a:rPr lang="en-US" dirty="0"/>
              <a:t> </a:t>
            </a:r>
          </a:p>
        </p:txBody>
      </p:sp>
      <p:sp>
        <p:nvSpPr>
          <p:cNvPr id="4" name="Title 1">
            <a:extLst>
              <a:ext uri="{FF2B5EF4-FFF2-40B4-BE49-F238E27FC236}">
                <a16:creationId xmlns:a16="http://schemas.microsoft.com/office/drawing/2014/main" id="{D971CD70-6135-4462-BDCE-87379A16FA92}"/>
              </a:ext>
            </a:extLst>
          </p:cNvPr>
          <p:cNvSpPr>
            <a:spLocks noGrp="1"/>
          </p:cNvSpPr>
          <p:nvPr>
            <p:ph type="title"/>
          </p:nvPr>
        </p:nvSpPr>
        <p:spPr>
          <a:xfrm>
            <a:off x="690563" y="725488"/>
            <a:ext cx="10325100" cy="1443037"/>
          </a:xfrm>
        </p:spPr>
        <p:txBody>
          <a:bodyPr>
            <a:normAutofit/>
          </a:bodyPr>
          <a:lstStyle/>
          <a:p>
            <a:r>
              <a:rPr lang="en-US" sz="4000" b="1" dirty="0">
                <a:solidFill>
                  <a:srgbClr val="0070C0"/>
                </a:solidFill>
              </a:rPr>
              <a:t>Data Control Language(DCL) </a:t>
            </a:r>
            <a:r>
              <a:rPr lang="en-US" sz="2900" dirty="0"/>
              <a:t>Statement</a:t>
            </a:r>
          </a:p>
        </p:txBody>
      </p:sp>
      <p:graphicFrame>
        <p:nvGraphicFramePr>
          <p:cNvPr id="5" name="Table 4">
            <a:extLst>
              <a:ext uri="{FF2B5EF4-FFF2-40B4-BE49-F238E27FC236}">
                <a16:creationId xmlns:a16="http://schemas.microsoft.com/office/drawing/2014/main" id="{B89793B7-B556-46E5-A72B-9A98D2485FF7}"/>
              </a:ext>
            </a:extLst>
          </p:cNvPr>
          <p:cNvGraphicFramePr>
            <a:graphicFrameLocks noGrp="1"/>
          </p:cNvGraphicFramePr>
          <p:nvPr>
            <p:extLst>
              <p:ext uri="{D42A27DB-BD31-4B8C-83A1-F6EECF244321}">
                <p14:modId xmlns:p14="http://schemas.microsoft.com/office/powerpoint/2010/main" val="3129856735"/>
              </p:ext>
            </p:extLst>
          </p:nvPr>
        </p:nvGraphicFramePr>
        <p:xfrm>
          <a:off x="924911" y="3331779"/>
          <a:ext cx="9848192" cy="1279458"/>
        </p:xfrm>
        <a:graphic>
          <a:graphicData uri="http://schemas.openxmlformats.org/drawingml/2006/table">
            <a:tbl>
              <a:tblPr firstRow="1" bandRow="1">
                <a:tableStyleId>{5C22544A-7EE6-4342-B048-85BDC9FD1C3A}</a:tableStyleId>
              </a:tblPr>
              <a:tblGrid>
                <a:gridCol w="1562128">
                  <a:extLst>
                    <a:ext uri="{9D8B030D-6E8A-4147-A177-3AD203B41FA5}">
                      <a16:colId xmlns:a16="http://schemas.microsoft.com/office/drawing/2014/main" val="1439420800"/>
                    </a:ext>
                  </a:extLst>
                </a:gridCol>
                <a:gridCol w="5003333">
                  <a:extLst>
                    <a:ext uri="{9D8B030D-6E8A-4147-A177-3AD203B41FA5}">
                      <a16:colId xmlns:a16="http://schemas.microsoft.com/office/drawing/2014/main" val="1535016631"/>
                    </a:ext>
                  </a:extLst>
                </a:gridCol>
                <a:gridCol w="3282731">
                  <a:extLst>
                    <a:ext uri="{9D8B030D-6E8A-4147-A177-3AD203B41FA5}">
                      <a16:colId xmlns:a16="http://schemas.microsoft.com/office/drawing/2014/main" val="2438217392"/>
                    </a:ext>
                  </a:extLst>
                </a:gridCol>
              </a:tblGrid>
              <a:tr h="426486">
                <a:tc>
                  <a:txBody>
                    <a:bodyPr/>
                    <a:lstStyle/>
                    <a:p>
                      <a:r>
                        <a:rPr lang="en-US" dirty="0"/>
                        <a:t>S. No</a:t>
                      </a:r>
                    </a:p>
                  </a:txBody>
                  <a:tcPr/>
                </a:tc>
                <a:tc>
                  <a:txBody>
                    <a:bodyPr/>
                    <a:lstStyle/>
                    <a:p>
                      <a:r>
                        <a:rPr lang="en-US" dirty="0"/>
                        <a:t>Usage</a:t>
                      </a:r>
                    </a:p>
                  </a:txBody>
                  <a:tcPr/>
                </a:tc>
                <a:tc>
                  <a:txBody>
                    <a:bodyPr/>
                    <a:lstStyle/>
                    <a:p>
                      <a:r>
                        <a:rPr lang="en-US" dirty="0"/>
                        <a:t>SQL  Statement</a:t>
                      </a:r>
                    </a:p>
                  </a:txBody>
                  <a:tcPr/>
                </a:tc>
                <a:extLst>
                  <a:ext uri="{0D108BD9-81ED-4DB2-BD59-A6C34878D82A}">
                    <a16:rowId xmlns:a16="http://schemas.microsoft.com/office/drawing/2014/main" val="3983096974"/>
                  </a:ext>
                </a:extLst>
              </a:tr>
              <a:tr h="426486">
                <a:tc>
                  <a:txBody>
                    <a:bodyPr/>
                    <a:lstStyle/>
                    <a:p>
                      <a:pPr algn="ctr"/>
                      <a:r>
                        <a:rPr lang="en-US" dirty="0"/>
                        <a:t>1</a:t>
                      </a:r>
                    </a:p>
                  </a:txBody>
                  <a:tcPr/>
                </a:tc>
                <a:tc>
                  <a:txBody>
                    <a:bodyPr/>
                    <a:lstStyle/>
                    <a:p>
                      <a:pPr algn="ctr"/>
                      <a:r>
                        <a:rPr lang="en-US" dirty="0"/>
                        <a:t>Grant or take away the privileges</a:t>
                      </a:r>
                    </a:p>
                  </a:txBody>
                  <a:tcPr/>
                </a:tc>
                <a:tc>
                  <a:txBody>
                    <a:bodyPr/>
                    <a:lstStyle/>
                    <a:p>
                      <a:pPr algn="ctr"/>
                      <a:r>
                        <a:rPr lang="en-US" dirty="0"/>
                        <a:t>Grant/Revoke</a:t>
                      </a:r>
                    </a:p>
                  </a:txBody>
                  <a:tcPr/>
                </a:tc>
                <a:extLst>
                  <a:ext uri="{0D108BD9-81ED-4DB2-BD59-A6C34878D82A}">
                    <a16:rowId xmlns:a16="http://schemas.microsoft.com/office/drawing/2014/main" val="3754334592"/>
                  </a:ext>
                </a:extLst>
              </a:tr>
              <a:tr h="426486">
                <a:tc>
                  <a:txBody>
                    <a:bodyPr/>
                    <a:lstStyle/>
                    <a:p>
                      <a:pPr algn="ctr"/>
                      <a:r>
                        <a:rPr lang="en-US" dirty="0"/>
                        <a:t>2</a:t>
                      </a:r>
                    </a:p>
                  </a:txBody>
                  <a:tcPr/>
                </a:tc>
                <a:tc>
                  <a:txBody>
                    <a:bodyPr/>
                    <a:lstStyle/>
                    <a:p>
                      <a:pPr algn="ctr"/>
                      <a:r>
                        <a:rPr lang="en-US" dirty="0"/>
                        <a:t>Add a comment to the data dictionary</a:t>
                      </a:r>
                    </a:p>
                  </a:txBody>
                  <a:tcPr/>
                </a:tc>
                <a:tc>
                  <a:txBody>
                    <a:bodyPr/>
                    <a:lstStyle/>
                    <a:p>
                      <a:pPr algn="ctr"/>
                      <a:r>
                        <a:rPr lang="en-US" dirty="0"/>
                        <a:t>Comment</a:t>
                      </a:r>
                    </a:p>
                  </a:txBody>
                  <a:tcPr/>
                </a:tc>
                <a:extLst>
                  <a:ext uri="{0D108BD9-81ED-4DB2-BD59-A6C34878D82A}">
                    <a16:rowId xmlns:a16="http://schemas.microsoft.com/office/drawing/2014/main" val="3197135516"/>
                  </a:ext>
                </a:extLst>
              </a:tr>
            </a:tbl>
          </a:graphicData>
        </a:graphic>
      </p:graphicFrame>
    </p:spTree>
    <p:extLst>
      <p:ext uri="{BB962C8B-B14F-4D97-AF65-F5344CB8AC3E}">
        <p14:creationId xmlns:p14="http://schemas.microsoft.com/office/powerpoint/2010/main" val="3751622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F00ED3-58D9-47FF-B89C-9554AC5E21D8}"/>
              </a:ext>
            </a:extLst>
          </p:cNvPr>
          <p:cNvSpPr>
            <a:spLocks noGrp="1"/>
          </p:cNvSpPr>
          <p:nvPr>
            <p:ph idx="1"/>
          </p:nvPr>
        </p:nvSpPr>
        <p:spPr/>
        <p:txBody>
          <a:bodyPr/>
          <a:lstStyle/>
          <a:p>
            <a:r>
              <a:rPr lang="en-US" dirty="0"/>
              <a:t>TCL statements manages the changes </a:t>
            </a:r>
            <a:r>
              <a:rPr lang="en-US" dirty="0" err="1"/>
              <a:t>mae</a:t>
            </a:r>
            <a:r>
              <a:rPr lang="en-US" dirty="0"/>
              <a:t> by DML statements and group DML statements into transactions.</a:t>
            </a:r>
          </a:p>
          <a:p>
            <a:pPr marL="0" indent="0">
              <a:buNone/>
            </a:pPr>
            <a:r>
              <a:rPr lang="en-US" dirty="0"/>
              <a:t> </a:t>
            </a:r>
          </a:p>
        </p:txBody>
      </p:sp>
      <p:sp>
        <p:nvSpPr>
          <p:cNvPr id="4" name="Title 1">
            <a:extLst>
              <a:ext uri="{FF2B5EF4-FFF2-40B4-BE49-F238E27FC236}">
                <a16:creationId xmlns:a16="http://schemas.microsoft.com/office/drawing/2014/main" id="{D971CD70-6135-4462-BDCE-87379A16FA92}"/>
              </a:ext>
            </a:extLst>
          </p:cNvPr>
          <p:cNvSpPr>
            <a:spLocks noGrp="1"/>
          </p:cNvSpPr>
          <p:nvPr>
            <p:ph type="title"/>
          </p:nvPr>
        </p:nvSpPr>
        <p:spPr>
          <a:xfrm>
            <a:off x="690563" y="725488"/>
            <a:ext cx="10325100" cy="1443037"/>
          </a:xfrm>
        </p:spPr>
        <p:txBody>
          <a:bodyPr>
            <a:normAutofit/>
          </a:bodyPr>
          <a:lstStyle/>
          <a:p>
            <a:r>
              <a:rPr lang="en-US" sz="4000" b="1" dirty="0">
                <a:solidFill>
                  <a:srgbClr val="0070C0"/>
                </a:solidFill>
              </a:rPr>
              <a:t>Transaction Control Language(DCL) </a:t>
            </a:r>
            <a:r>
              <a:rPr lang="en-US" sz="2900" dirty="0"/>
              <a:t>Statement</a:t>
            </a:r>
          </a:p>
        </p:txBody>
      </p:sp>
      <p:graphicFrame>
        <p:nvGraphicFramePr>
          <p:cNvPr id="5" name="Table 4">
            <a:extLst>
              <a:ext uri="{FF2B5EF4-FFF2-40B4-BE49-F238E27FC236}">
                <a16:creationId xmlns:a16="http://schemas.microsoft.com/office/drawing/2014/main" id="{B89793B7-B556-46E5-A72B-9A98D2485FF7}"/>
              </a:ext>
            </a:extLst>
          </p:cNvPr>
          <p:cNvGraphicFramePr>
            <a:graphicFrameLocks noGrp="1"/>
          </p:cNvGraphicFramePr>
          <p:nvPr>
            <p:extLst>
              <p:ext uri="{D42A27DB-BD31-4B8C-83A1-F6EECF244321}">
                <p14:modId xmlns:p14="http://schemas.microsoft.com/office/powerpoint/2010/main" val="4206726138"/>
              </p:ext>
            </p:extLst>
          </p:nvPr>
        </p:nvGraphicFramePr>
        <p:xfrm>
          <a:off x="924911" y="3331779"/>
          <a:ext cx="9848192" cy="2132430"/>
        </p:xfrm>
        <a:graphic>
          <a:graphicData uri="http://schemas.openxmlformats.org/drawingml/2006/table">
            <a:tbl>
              <a:tblPr firstRow="1" bandRow="1">
                <a:tableStyleId>{5C22544A-7EE6-4342-B048-85BDC9FD1C3A}</a:tableStyleId>
              </a:tblPr>
              <a:tblGrid>
                <a:gridCol w="1562128">
                  <a:extLst>
                    <a:ext uri="{9D8B030D-6E8A-4147-A177-3AD203B41FA5}">
                      <a16:colId xmlns:a16="http://schemas.microsoft.com/office/drawing/2014/main" val="1439420800"/>
                    </a:ext>
                  </a:extLst>
                </a:gridCol>
                <a:gridCol w="5003333">
                  <a:extLst>
                    <a:ext uri="{9D8B030D-6E8A-4147-A177-3AD203B41FA5}">
                      <a16:colId xmlns:a16="http://schemas.microsoft.com/office/drawing/2014/main" val="1535016631"/>
                    </a:ext>
                  </a:extLst>
                </a:gridCol>
                <a:gridCol w="3282731">
                  <a:extLst>
                    <a:ext uri="{9D8B030D-6E8A-4147-A177-3AD203B41FA5}">
                      <a16:colId xmlns:a16="http://schemas.microsoft.com/office/drawing/2014/main" val="2438217392"/>
                    </a:ext>
                  </a:extLst>
                </a:gridCol>
              </a:tblGrid>
              <a:tr h="426486">
                <a:tc>
                  <a:txBody>
                    <a:bodyPr/>
                    <a:lstStyle/>
                    <a:p>
                      <a:r>
                        <a:rPr lang="en-US" dirty="0"/>
                        <a:t>S. No</a:t>
                      </a:r>
                    </a:p>
                  </a:txBody>
                  <a:tcPr/>
                </a:tc>
                <a:tc>
                  <a:txBody>
                    <a:bodyPr/>
                    <a:lstStyle/>
                    <a:p>
                      <a:r>
                        <a:rPr lang="en-US" dirty="0"/>
                        <a:t>Usage</a:t>
                      </a:r>
                    </a:p>
                  </a:txBody>
                  <a:tcPr/>
                </a:tc>
                <a:tc>
                  <a:txBody>
                    <a:bodyPr/>
                    <a:lstStyle/>
                    <a:p>
                      <a:r>
                        <a:rPr lang="en-US" dirty="0"/>
                        <a:t>SQL  Statement</a:t>
                      </a:r>
                    </a:p>
                  </a:txBody>
                  <a:tcPr/>
                </a:tc>
                <a:extLst>
                  <a:ext uri="{0D108BD9-81ED-4DB2-BD59-A6C34878D82A}">
                    <a16:rowId xmlns:a16="http://schemas.microsoft.com/office/drawing/2014/main" val="3983096974"/>
                  </a:ext>
                </a:extLst>
              </a:tr>
              <a:tr h="426486">
                <a:tc>
                  <a:txBody>
                    <a:bodyPr/>
                    <a:lstStyle/>
                    <a:p>
                      <a:pPr algn="ctr"/>
                      <a:r>
                        <a:rPr lang="en-US" dirty="0"/>
                        <a:t>1</a:t>
                      </a:r>
                    </a:p>
                  </a:txBody>
                  <a:tcPr/>
                </a:tc>
                <a:tc>
                  <a:txBody>
                    <a:bodyPr/>
                    <a:lstStyle/>
                    <a:p>
                      <a:pPr algn="ctr"/>
                      <a:r>
                        <a:rPr lang="en-US" dirty="0"/>
                        <a:t>Make transaction Statement Permanent</a:t>
                      </a:r>
                    </a:p>
                  </a:txBody>
                  <a:tcPr/>
                </a:tc>
                <a:tc>
                  <a:txBody>
                    <a:bodyPr/>
                    <a:lstStyle/>
                    <a:p>
                      <a:pPr algn="ctr"/>
                      <a:r>
                        <a:rPr lang="en-US" dirty="0"/>
                        <a:t>commit</a:t>
                      </a:r>
                    </a:p>
                  </a:txBody>
                  <a:tcPr/>
                </a:tc>
                <a:extLst>
                  <a:ext uri="{0D108BD9-81ED-4DB2-BD59-A6C34878D82A}">
                    <a16:rowId xmlns:a16="http://schemas.microsoft.com/office/drawing/2014/main" val="3754334592"/>
                  </a:ext>
                </a:extLst>
              </a:tr>
              <a:tr h="426486">
                <a:tc>
                  <a:txBody>
                    <a:bodyPr/>
                    <a:lstStyle/>
                    <a:p>
                      <a:pPr algn="ctr"/>
                      <a:r>
                        <a:rPr lang="en-US" dirty="0"/>
                        <a:t>2</a:t>
                      </a:r>
                    </a:p>
                  </a:txBody>
                  <a:tcPr/>
                </a:tc>
                <a:tc>
                  <a:txBody>
                    <a:bodyPr/>
                    <a:lstStyle/>
                    <a:p>
                      <a:pPr algn="ctr"/>
                      <a:r>
                        <a:rPr lang="en-US" dirty="0"/>
                        <a:t>Undo changes</a:t>
                      </a:r>
                    </a:p>
                  </a:txBody>
                  <a:tcPr/>
                </a:tc>
                <a:tc>
                  <a:txBody>
                    <a:bodyPr/>
                    <a:lstStyle/>
                    <a:p>
                      <a:pPr algn="ctr"/>
                      <a:r>
                        <a:rPr lang="en-US" dirty="0"/>
                        <a:t>Rollback</a:t>
                      </a:r>
                    </a:p>
                  </a:txBody>
                  <a:tcPr/>
                </a:tc>
                <a:extLst>
                  <a:ext uri="{0D108BD9-81ED-4DB2-BD59-A6C34878D82A}">
                    <a16:rowId xmlns:a16="http://schemas.microsoft.com/office/drawing/2014/main" val="3197135516"/>
                  </a:ext>
                </a:extLst>
              </a:tr>
              <a:tr h="426486">
                <a:tc>
                  <a:txBody>
                    <a:bodyPr/>
                    <a:lstStyle/>
                    <a:p>
                      <a:pPr algn="ctr"/>
                      <a:r>
                        <a:rPr lang="en-US" dirty="0"/>
                        <a:t>3</a:t>
                      </a:r>
                    </a:p>
                  </a:txBody>
                  <a:tcPr/>
                </a:tc>
                <a:tc>
                  <a:txBody>
                    <a:bodyPr/>
                    <a:lstStyle/>
                    <a:p>
                      <a:pPr algn="ctr"/>
                      <a:r>
                        <a:rPr lang="en-US" dirty="0"/>
                        <a:t>Set point to rollback</a:t>
                      </a:r>
                    </a:p>
                  </a:txBody>
                  <a:tcPr/>
                </a:tc>
                <a:tc>
                  <a:txBody>
                    <a:bodyPr/>
                    <a:lstStyle/>
                    <a:p>
                      <a:pPr algn="ctr"/>
                      <a:r>
                        <a:rPr lang="en-US" dirty="0" err="1"/>
                        <a:t>savepoint</a:t>
                      </a:r>
                      <a:endParaRPr lang="en-US" dirty="0"/>
                    </a:p>
                  </a:txBody>
                  <a:tcPr/>
                </a:tc>
                <a:extLst>
                  <a:ext uri="{0D108BD9-81ED-4DB2-BD59-A6C34878D82A}">
                    <a16:rowId xmlns:a16="http://schemas.microsoft.com/office/drawing/2014/main" val="1779987054"/>
                  </a:ext>
                </a:extLst>
              </a:tr>
              <a:tr h="426486">
                <a:tc>
                  <a:txBody>
                    <a:bodyPr/>
                    <a:lstStyle/>
                    <a:p>
                      <a:pPr algn="ctr"/>
                      <a:r>
                        <a:rPr lang="en-US" dirty="0"/>
                        <a:t>4</a:t>
                      </a:r>
                    </a:p>
                  </a:txBody>
                  <a:tcPr/>
                </a:tc>
                <a:tc>
                  <a:txBody>
                    <a:bodyPr/>
                    <a:lstStyle/>
                    <a:p>
                      <a:pPr algn="ctr"/>
                      <a:r>
                        <a:rPr lang="en-US" dirty="0"/>
                        <a:t>Establish properties for transaction</a:t>
                      </a:r>
                    </a:p>
                  </a:txBody>
                  <a:tcPr/>
                </a:tc>
                <a:tc>
                  <a:txBody>
                    <a:bodyPr/>
                    <a:lstStyle/>
                    <a:p>
                      <a:pPr algn="ctr"/>
                      <a:r>
                        <a:rPr lang="en-US" dirty="0"/>
                        <a:t>Set transaction</a:t>
                      </a:r>
                    </a:p>
                  </a:txBody>
                  <a:tcPr/>
                </a:tc>
                <a:extLst>
                  <a:ext uri="{0D108BD9-81ED-4DB2-BD59-A6C34878D82A}">
                    <a16:rowId xmlns:a16="http://schemas.microsoft.com/office/drawing/2014/main" val="2085479137"/>
                  </a:ext>
                </a:extLst>
              </a:tr>
            </a:tbl>
          </a:graphicData>
        </a:graphic>
      </p:graphicFrame>
    </p:spTree>
    <p:extLst>
      <p:ext uri="{BB962C8B-B14F-4D97-AF65-F5344CB8AC3E}">
        <p14:creationId xmlns:p14="http://schemas.microsoft.com/office/powerpoint/2010/main" val="3690320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FE9660-2FF0-4A4F-B7AB-B4955305E45B}"/>
              </a:ext>
            </a:extLst>
          </p:cNvPr>
          <p:cNvSpPr txBox="1"/>
          <p:nvPr/>
        </p:nvSpPr>
        <p:spPr>
          <a:xfrm>
            <a:off x="690612" y="1057341"/>
            <a:ext cx="4014952" cy="353943"/>
          </a:xfrm>
          <a:prstGeom prst="rect">
            <a:avLst/>
          </a:prstGeom>
          <a:noFill/>
        </p:spPr>
        <p:txBody>
          <a:bodyPr wrap="square">
            <a:spAutoFit/>
          </a:bodyPr>
          <a:lstStyle/>
          <a:p>
            <a:r>
              <a:rPr lang="en-US" sz="1700" b="1" dirty="0"/>
              <a:t>Arithmetic Operators</a:t>
            </a:r>
            <a:r>
              <a:rPr lang="en-US" sz="1700" dirty="0"/>
              <a:t>:</a:t>
            </a:r>
          </a:p>
        </p:txBody>
      </p:sp>
      <p:sp>
        <p:nvSpPr>
          <p:cNvPr id="5" name="Title 1">
            <a:extLst>
              <a:ext uri="{FF2B5EF4-FFF2-40B4-BE49-F238E27FC236}">
                <a16:creationId xmlns:a16="http://schemas.microsoft.com/office/drawing/2014/main" id="{1A67ACC2-2D7F-4471-B4AF-3A6EE3AD58AC}"/>
              </a:ext>
            </a:extLst>
          </p:cNvPr>
          <p:cNvSpPr txBox="1">
            <a:spLocks/>
          </p:cNvSpPr>
          <p:nvPr/>
        </p:nvSpPr>
        <p:spPr>
          <a:xfrm>
            <a:off x="690612" y="0"/>
            <a:ext cx="10325000" cy="891752"/>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US" sz="2900" dirty="0"/>
              <a:t>SQL Commonly used</a:t>
            </a:r>
            <a:r>
              <a:rPr lang="en-US" sz="1700" dirty="0"/>
              <a:t> </a:t>
            </a:r>
            <a:r>
              <a:rPr lang="en-US" sz="4000" b="1" dirty="0">
                <a:solidFill>
                  <a:srgbClr val="0070C0"/>
                </a:solidFill>
              </a:rPr>
              <a:t>Operators</a:t>
            </a:r>
          </a:p>
        </p:txBody>
      </p:sp>
      <p:graphicFrame>
        <p:nvGraphicFramePr>
          <p:cNvPr id="6" name="Table 6">
            <a:extLst>
              <a:ext uri="{FF2B5EF4-FFF2-40B4-BE49-F238E27FC236}">
                <a16:creationId xmlns:a16="http://schemas.microsoft.com/office/drawing/2014/main" id="{F3762CAB-4389-4016-911D-E6BDF8E8AD1C}"/>
              </a:ext>
            </a:extLst>
          </p:cNvPr>
          <p:cNvGraphicFramePr>
            <a:graphicFrameLocks noGrp="1"/>
          </p:cNvGraphicFramePr>
          <p:nvPr>
            <p:extLst>
              <p:ext uri="{D42A27DB-BD31-4B8C-83A1-F6EECF244321}">
                <p14:modId xmlns:p14="http://schemas.microsoft.com/office/powerpoint/2010/main" val="3697401627"/>
              </p:ext>
            </p:extLst>
          </p:nvPr>
        </p:nvGraphicFramePr>
        <p:xfrm>
          <a:off x="690612" y="1411285"/>
          <a:ext cx="3828836" cy="1941515"/>
        </p:xfrm>
        <a:graphic>
          <a:graphicData uri="http://schemas.openxmlformats.org/drawingml/2006/table">
            <a:tbl>
              <a:tblPr firstRow="1" bandRow="1">
                <a:tableStyleId>{5C22544A-7EE6-4342-B048-85BDC9FD1C3A}</a:tableStyleId>
              </a:tblPr>
              <a:tblGrid>
                <a:gridCol w="1106657">
                  <a:extLst>
                    <a:ext uri="{9D8B030D-6E8A-4147-A177-3AD203B41FA5}">
                      <a16:colId xmlns:a16="http://schemas.microsoft.com/office/drawing/2014/main" val="1939947359"/>
                    </a:ext>
                  </a:extLst>
                </a:gridCol>
                <a:gridCol w="2722179">
                  <a:extLst>
                    <a:ext uri="{9D8B030D-6E8A-4147-A177-3AD203B41FA5}">
                      <a16:colId xmlns:a16="http://schemas.microsoft.com/office/drawing/2014/main" val="3998007890"/>
                    </a:ext>
                  </a:extLst>
                </a:gridCol>
              </a:tblGrid>
              <a:tr h="301695">
                <a:tc>
                  <a:txBody>
                    <a:bodyPr/>
                    <a:lstStyle/>
                    <a:p>
                      <a:pPr algn="ctr"/>
                      <a:r>
                        <a:rPr lang="en-US" sz="1300" dirty="0"/>
                        <a:t>Operator</a:t>
                      </a:r>
                    </a:p>
                  </a:txBody>
                  <a:tcPr/>
                </a:tc>
                <a:tc>
                  <a:txBody>
                    <a:bodyPr/>
                    <a:lstStyle/>
                    <a:p>
                      <a:pPr algn="ctr"/>
                      <a:r>
                        <a:rPr lang="en-US" sz="1300" dirty="0"/>
                        <a:t>Description</a:t>
                      </a:r>
                    </a:p>
                  </a:txBody>
                  <a:tcPr/>
                </a:tc>
                <a:extLst>
                  <a:ext uri="{0D108BD9-81ED-4DB2-BD59-A6C34878D82A}">
                    <a16:rowId xmlns:a16="http://schemas.microsoft.com/office/drawing/2014/main" val="3071737797"/>
                  </a:ext>
                </a:extLst>
              </a:tr>
              <a:tr h="327964">
                <a:tc>
                  <a:txBody>
                    <a:bodyPr/>
                    <a:lstStyle/>
                    <a:p>
                      <a:pPr algn="ctr"/>
                      <a:r>
                        <a:rPr lang="en-US" sz="1300" dirty="0"/>
                        <a:t>+</a:t>
                      </a:r>
                    </a:p>
                  </a:txBody>
                  <a:tcPr/>
                </a:tc>
                <a:tc>
                  <a:txBody>
                    <a:bodyPr/>
                    <a:lstStyle/>
                    <a:p>
                      <a:pPr algn="ctr"/>
                      <a:r>
                        <a:rPr lang="en-US" sz="1300" dirty="0"/>
                        <a:t>Add</a:t>
                      </a:r>
                    </a:p>
                  </a:txBody>
                  <a:tcPr/>
                </a:tc>
                <a:extLst>
                  <a:ext uri="{0D108BD9-81ED-4DB2-BD59-A6C34878D82A}">
                    <a16:rowId xmlns:a16="http://schemas.microsoft.com/office/drawing/2014/main" val="2803932309"/>
                  </a:ext>
                </a:extLst>
              </a:tr>
              <a:tr h="327964">
                <a:tc>
                  <a:txBody>
                    <a:bodyPr/>
                    <a:lstStyle/>
                    <a:p>
                      <a:pPr algn="ctr"/>
                      <a:r>
                        <a:rPr lang="en-US" sz="1300" dirty="0"/>
                        <a:t>-</a:t>
                      </a:r>
                    </a:p>
                  </a:txBody>
                  <a:tcPr/>
                </a:tc>
                <a:tc>
                  <a:txBody>
                    <a:bodyPr/>
                    <a:lstStyle/>
                    <a:p>
                      <a:pPr algn="ctr"/>
                      <a:r>
                        <a:rPr lang="en-US" sz="1300" dirty="0"/>
                        <a:t>Subtract</a:t>
                      </a:r>
                    </a:p>
                  </a:txBody>
                  <a:tcPr/>
                </a:tc>
                <a:extLst>
                  <a:ext uri="{0D108BD9-81ED-4DB2-BD59-A6C34878D82A}">
                    <a16:rowId xmlns:a16="http://schemas.microsoft.com/office/drawing/2014/main" val="1135361833"/>
                  </a:ext>
                </a:extLst>
              </a:tr>
              <a:tr h="327964">
                <a:tc>
                  <a:txBody>
                    <a:bodyPr/>
                    <a:lstStyle/>
                    <a:p>
                      <a:pPr algn="ctr"/>
                      <a:r>
                        <a:rPr lang="en-US" sz="1300" dirty="0"/>
                        <a:t>*</a:t>
                      </a:r>
                    </a:p>
                  </a:txBody>
                  <a:tcPr/>
                </a:tc>
                <a:tc>
                  <a:txBody>
                    <a:bodyPr/>
                    <a:lstStyle/>
                    <a:p>
                      <a:pPr algn="ctr"/>
                      <a:r>
                        <a:rPr lang="en-US" sz="1300" dirty="0"/>
                        <a:t>Multiple</a:t>
                      </a:r>
                    </a:p>
                  </a:txBody>
                  <a:tcPr/>
                </a:tc>
                <a:extLst>
                  <a:ext uri="{0D108BD9-81ED-4DB2-BD59-A6C34878D82A}">
                    <a16:rowId xmlns:a16="http://schemas.microsoft.com/office/drawing/2014/main" val="1098864219"/>
                  </a:ext>
                </a:extLst>
              </a:tr>
              <a:tr h="327964">
                <a:tc>
                  <a:txBody>
                    <a:bodyPr/>
                    <a:lstStyle/>
                    <a:p>
                      <a:pPr algn="ctr"/>
                      <a:r>
                        <a:rPr lang="en-US" sz="1300" dirty="0"/>
                        <a:t>/</a:t>
                      </a:r>
                    </a:p>
                  </a:txBody>
                  <a:tcPr/>
                </a:tc>
                <a:tc>
                  <a:txBody>
                    <a:bodyPr/>
                    <a:lstStyle/>
                    <a:p>
                      <a:pPr algn="ctr"/>
                      <a:r>
                        <a:rPr lang="en-US" sz="1300" dirty="0"/>
                        <a:t>Divide</a:t>
                      </a:r>
                    </a:p>
                  </a:txBody>
                  <a:tcPr/>
                </a:tc>
                <a:extLst>
                  <a:ext uri="{0D108BD9-81ED-4DB2-BD59-A6C34878D82A}">
                    <a16:rowId xmlns:a16="http://schemas.microsoft.com/office/drawing/2014/main" val="3156023072"/>
                  </a:ext>
                </a:extLst>
              </a:tr>
              <a:tr h="327964">
                <a:tc>
                  <a:txBody>
                    <a:bodyPr/>
                    <a:lstStyle/>
                    <a:p>
                      <a:pPr algn="ctr"/>
                      <a:r>
                        <a:rPr lang="en-US" sz="1300" dirty="0"/>
                        <a:t>%</a:t>
                      </a:r>
                    </a:p>
                  </a:txBody>
                  <a:tcPr/>
                </a:tc>
                <a:tc>
                  <a:txBody>
                    <a:bodyPr/>
                    <a:lstStyle/>
                    <a:p>
                      <a:pPr algn="ctr"/>
                      <a:r>
                        <a:rPr lang="en-US" sz="1300" dirty="0"/>
                        <a:t>Modulo</a:t>
                      </a:r>
                    </a:p>
                  </a:txBody>
                  <a:tcPr/>
                </a:tc>
                <a:extLst>
                  <a:ext uri="{0D108BD9-81ED-4DB2-BD59-A6C34878D82A}">
                    <a16:rowId xmlns:a16="http://schemas.microsoft.com/office/drawing/2014/main" val="1781936931"/>
                  </a:ext>
                </a:extLst>
              </a:tr>
            </a:tbl>
          </a:graphicData>
        </a:graphic>
      </p:graphicFrame>
      <p:sp>
        <p:nvSpPr>
          <p:cNvPr id="7" name="TextBox 6">
            <a:extLst>
              <a:ext uri="{FF2B5EF4-FFF2-40B4-BE49-F238E27FC236}">
                <a16:creationId xmlns:a16="http://schemas.microsoft.com/office/drawing/2014/main" id="{8EAA0E13-D517-47DB-AC91-2744BC02A440}"/>
              </a:ext>
            </a:extLst>
          </p:cNvPr>
          <p:cNvSpPr txBox="1"/>
          <p:nvPr/>
        </p:nvSpPr>
        <p:spPr>
          <a:xfrm>
            <a:off x="4621700" y="2579496"/>
            <a:ext cx="4014952" cy="353943"/>
          </a:xfrm>
          <a:prstGeom prst="rect">
            <a:avLst/>
          </a:prstGeom>
          <a:noFill/>
        </p:spPr>
        <p:txBody>
          <a:bodyPr wrap="square">
            <a:spAutoFit/>
          </a:bodyPr>
          <a:lstStyle/>
          <a:p>
            <a:r>
              <a:rPr lang="en-US" sz="1700" b="1" dirty="0"/>
              <a:t>Bitwise Operators</a:t>
            </a:r>
            <a:r>
              <a:rPr lang="en-US" sz="1700" dirty="0"/>
              <a:t>:</a:t>
            </a:r>
          </a:p>
        </p:txBody>
      </p:sp>
      <p:graphicFrame>
        <p:nvGraphicFramePr>
          <p:cNvPr id="8" name="Table 6">
            <a:extLst>
              <a:ext uri="{FF2B5EF4-FFF2-40B4-BE49-F238E27FC236}">
                <a16:creationId xmlns:a16="http://schemas.microsoft.com/office/drawing/2014/main" id="{A5C5F038-2F78-4B22-8618-7FE06822EF5F}"/>
              </a:ext>
            </a:extLst>
          </p:cNvPr>
          <p:cNvGraphicFramePr>
            <a:graphicFrameLocks noGrp="1"/>
          </p:cNvGraphicFramePr>
          <p:nvPr>
            <p:extLst>
              <p:ext uri="{D42A27DB-BD31-4B8C-83A1-F6EECF244321}">
                <p14:modId xmlns:p14="http://schemas.microsoft.com/office/powerpoint/2010/main" val="1729196470"/>
              </p:ext>
            </p:extLst>
          </p:nvPr>
        </p:nvGraphicFramePr>
        <p:xfrm>
          <a:off x="4621700" y="2933439"/>
          <a:ext cx="3313610" cy="1342425"/>
        </p:xfrm>
        <a:graphic>
          <a:graphicData uri="http://schemas.openxmlformats.org/drawingml/2006/table">
            <a:tbl>
              <a:tblPr firstRow="1" bandRow="1">
                <a:tableStyleId>{5C22544A-7EE6-4342-B048-85BDC9FD1C3A}</a:tableStyleId>
              </a:tblPr>
              <a:tblGrid>
                <a:gridCol w="1051035">
                  <a:extLst>
                    <a:ext uri="{9D8B030D-6E8A-4147-A177-3AD203B41FA5}">
                      <a16:colId xmlns:a16="http://schemas.microsoft.com/office/drawing/2014/main" val="1939947359"/>
                    </a:ext>
                  </a:extLst>
                </a:gridCol>
                <a:gridCol w="2262575">
                  <a:extLst>
                    <a:ext uri="{9D8B030D-6E8A-4147-A177-3AD203B41FA5}">
                      <a16:colId xmlns:a16="http://schemas.microsoft.com/office/drawing/2014/main" val="3998007890"/>
                    </a:ext>
                  </a:extLst>
                </a:gridCol>
              </a:tblGrid>
              <a:tr h="296686">
                <a:tc>
                  <a:txBody>
                    <a:bodyPr/>
                    <a:lstStyle/>
                    <a:p>
                      <a:pPr algn="ctr"/>
                      <a:r>
                        <a:rPr lang="en-US" sz="1300" dirty="0"/>
                        <a:t>Operator</a:t>
                      </a:r>
                    </a:p>
                  </a:txBody>
                  <a:tcPr/>
                </a:tc>
                <a:tc>
                  <a:txBody>
                    <a:bodyPr/>
                    <a:lstStyle/>
                    <a:p>
                      <a:pPr algn="ctr"/>
                      <a:r>
                        <a:rPr lang="en-US" sz="1300" dirty="0"/>
                        <a:t>Description</a:t>
                      </a:r>
                    </a:p>
                  </a:txBody>
                  <a:tcPr/>
                </a:tc>
                <a:extLst>
                  <a:ext uri="{0D108BD9-81ED-4DB2-BD59-A6C34878D82A}">
                    <a16:rowId xmlns:a16="http://schemas.microsoft.com/office/drawing/2014/main" val="3071737797"/>
                  </a:ext>
                </a:extLst>
              </a:tr>
              <a:tr h="296686">
                <a:tc>
                  <a:txBody>
                    <a:bodyPr/>
                    <a:lstStyle/>
                    <a:p>
                      <a:pPr algn="ctr"/>
                      <a:r>
                        <a:rPr lang="en-US" sz="1300" dirty="0"/>
                        <a:t>&amp;</a:t>
                      </a:r>
                    </a:p>
                  </a:txBody>
                  <a:tcPr/>
                </a:tc>
                <a:tc>
                  <a:txBody>
                    <a:bodyPr/>
                    <a:lstStyle/>
                    <a:p>
                      <a:pPr algn="ctr"/>
                      <a:r>
                        <a:rPr lang="en-US" sz="1300" dirty="0"/>
                        <a:t>Bitwise AND</a:t>
                      </a:r>
                    </a:p>
                  </a:txBody>
                  <a:tcPr/>
                </a:tc>
                <a:extLst>
                  <a:ext uri="{0D108BD9-81ED-4DB2-BD59-A6C34878D82A}">
                    <a16:rowId xmlns:a16="http://schemas.microsoft.com/office/drawing/2014/main" val="2803932309"/>
                  </a:ext>
                </a:extLst>
              </a:tr>
              <a:tr h="296686">
                <a:tc>
                  <a:txBody>
                    <a:bodyPr/>
                    <a:lstStyle/>
                    <a:p>
                      <a:pPr algn="ctr"/>
                      <a:r>
                        <a:rPr lang="en-US" sz="1300" dirty="0"/>
                        <a:t>|</a:t>
                      </a:r>
                    </a:p>
                  </a:txBody>
                  <a:tcPr/>
                </a:tc>
                <a:tc>
                  <a:txBody>
                    <a:bodyPr/>
                    <a:lstStyle/>
                    <a:p>
                      <a:pPr algn="ctr"/>
                      <a:r>
                        <a:rPr lang="en-US" sz="1300" dirty="0"/>
                        <a:t>Bitwise OR</a:t>
                      </a:r>
                    </a:p>
                  </a:txBody>
                  <a:tcPr/>
                </a:tc>
                <a:extLst>
                  <a:ext uri="{0D108BD9-81ED-4DB2-BD59-A6C34878D82A}">
                    <a16:rowId xmlns:a16="http://schemas.microsoft.com/office/drawing/2014/main" val="1135361833"/>
                  </a:ext>
                </a:extLst>
              </a:tr>
              <a:tr h="452367">
                <a:tc>
                  <a:txBody>
                    <a:bodyPr/>
                    <a:lstStyle/>
                    <a:p>
                      <a:pPr algn="ctr"/>
                      <a:r>
                        <a:rPr lang="en-US" sz="1300" dirty="0"/>
                        <a:t>^</a:t>
                      </a:r>
                    </a:p>
                  </a:txBody>
                  <a:tcPr/>
                </a:tc>
                <a:tc>
                  <a:txBody>
                    <a:bodyPr/>
                    <a:lstStyle/>
                    <a:p>
                      <a:pPr algn="ctr"/>
                      <a:r>
                        <a:rPr lang="en-US" sz="1300" dirty="0"/>
                        <a:t>Bitwise exclusive OR</a:t>
                      </a:r>
                    </a:p>
                  </a:txBody>
                  <a:tcPr/>
                </a:tc>
                <a:extLst>
                  <a:ext uri="{0D108BD9-81ED-4DB2-BD59-A6C34878D82A}">
                    <a16:rowId xmlns:a16="http://schemas.microsoft.com/office/drawing/2014/main" val="1098864219"/>
                  </a:ext>
                </a:extLst>
              </a:tr>
            </a:tbl>
          </a:graphicData>
        </a:graphic>
      </p:graphicFrame>
      <p:sp>
        <p:nvSpPr>
          <p:cNvPr id="9" name="TextBox 8">
            <a:extLst>
              <a:ext uri="{FF2B5EF4-FFF2-40B4-BE49-F238E27FC236}">
                <a16:creationId xmlns:a16="http://schemas.microsoft.com/office/drawing/2014/main" id="{19E012CE-5477-4FAA-99E8-13111FBDD53C}"/>
              </a:ext>
            </a:extLst>
          </p:cNvPr>
          <p:cNvSpPr txBox="1"/>
          <p:nvPr/>
        </p:nvSpPr>
        <p:spPr>
          <a:xfrm>
            <a:off x="8082455" y="1057342"/>
            <a:ext cx="4014952" cy="353943"/>
          </a:xfrm>
          <a:prstGeom prst="rect">
            <a:avLst/>
          </a:prstGeom>
          <a:noFill/>
        </p:spPr>
        <p:txBody>
          <a:bodyPr wrap="square">
            <a:spAutoFit/>
          </a:bodyPr>
          <a:lstStyle/>
          <a:p>
            <a:r>
              <a:rPr lang="en-US" sz="1700" b="1" dirty="0"/>
              <a:t>Logical Operators</a:t>
            </a:r>
            <a:r>
              <a:rPr lang="en-US" sz="1700" dirty="0"/>
              <a:t>:</a:t>
            </a:r>
          </a:p>
        </p:txBody>
      </p:sp>
      <p:graphicFrame>
        <p:nvGraphicFramePr>
          <p:cNvPr id="10" name="Table 6">
            <a:extLst>
              <a:ext uri="{FF2B5EF4-FFF2-40B4-BE49-F238E27FC236}">
                <a16:creationId xmlns:a16="http://schemas.microsoft.com/office/drawing/2014/main" id="{843F2C38-18E5-4F2B-A245-59660934E403}"/>
              </a:ext>
            </a:extLst>
          </p:cNvPr>
          <p:cNvGraphicFramePr>
            <a:graphicFrameLocks noGrp="1"/>
          </p:cNvGraphicFramePr>
          <p:nvPr>
            <p:extLst>
              <p:ext uri="{D42A27DB-BD31-4B8C-83A1-F6EECF244321}">
                <p14:modId xmlns:p14="http://schemas.microsoft.com/office/powerpoint/2010/main" val="2066148549"/>
              </p:ext>
            </p:extLst>
          </p:nvPr>
        </p:nvGraphicFramePr>
        <p:xfrm>
          <a:off x="8082455" y="1411284"/>
          <a:ext cx="3847006" cy="5166360"/>
        </p:xfrm>
        <a:graphic>
          <a:graphicData uri="http://schemas.openxmlformats.org/drawingml/2006/table">
            <a:tbl>
              <a:tblPr firstRow="1" bandRow="1">
                <a:tableStyleId>{5C22544A-7EE6-4342-B048-85BDC9FD1C3A}</a:tableStyleId>
              </a:tblPr>
              <a:tblGrid>
                <a:gridCol w="1374951">
                  <a:extLst>
                    <a:ext uri="{9D8B030D-6E8A-4147-A177-3AD203B41FA5}">
                      <a16:colId xmlns:a16="http://schemas.microsoft.com/office/drawing/2014/main" val="1939947359"/>
                    </a:ext>
                  </a:extLst>
                </a:gridCol>
                <a:gridCol w="2472055">
                  <a:extLst>
                    <a:ext uri="{9D8B030D-6E8A-4147-A177-3AD203B41FA5}">
                      <a16:colId xmlns:a16="http://schemas.microsoft.com/office/drawing/2014/main" val="3998007890"/>
                    </a:ext>
                  </a:extLst>
                </a:gridCol>
              </a:tblGrid>
              <a:tr h="283899">
                <a:tc>
                  <a:txBody>
                    <a:bodyPr/>
                    <a:lstStyle/>
                    <a:p>
                      <a:pPr algn="ctr"/>
                      <a:r>
                        <a:rPr lang="en-US" sz="1300" dirty="0"/>
                        <a:t>Operator</a:t>
                      </a:r>
                    </a:p>
                  </a:txBody>
                  <a:tcPr/>
                </a:tc>
                <a:tc>
                  <a:txBody>
                    <a:bodyPr/>
                    <a:lstStyle/>
                    <a:p>
                      <a:pPr algn="ctr"/>
                      <a:r>
                        <a:rPr lang="en-US" sz="1300" dirty="0"/>
                        <a:t>Description</a:t>
                      </a:r>
                    </a:p>
                  </a:txBody>
                  <a:tcPr/>
                </a:tc>
                <a:extLst>
                  <a:ext uri="{0D108BD9-81ED-4DB2-BD59-A6C34878D82A}">
                    <a16:rowId xmlns:a16="http://schemas.microsoft.com/office/drawing/2014/main" val="3071737797"/>
                  </a:ext>
                </a:extLst>
              </a:tr>
              <a:tr h="283899">
                <a:tc>
                  <a:txBody>
                    <a:bodyPr/>
                    <a:lstStyle/>
                    <a:p>
                      <a:pPr algn="ctr"/>
                      <a:r>
                        <a:rPr lang="en-US" sz="1300" dirty="0"/>
                        <a:t>ALL</a:t>
                      </a:r>
                    </a:p>
                  </a:txBody>
                  <a:tcPr/>
                </a:tc>
                <a:tc>
                  <a:txBody>
                    <a:bodyPr/>
                    <a:lstStyle/>
                    <a:p>
                      <a:pPr algn="ctr"/>
                      <a:r>
                        <a:rPr lang="en-US" sz="1300" dirty="0"/>
                        <a:t>True if all the subquery values meet the condition</a:t>
                      </a:r>
                    </a:p>
                  </a:txBody>
                  <a:tcPr/>
                </a:tc>
                <a:extLst>
                  <a:ext uri="{0D108BD9-81ED-4DB2-BD59-A6C34878D82A}">
                    <a16:rowId xmlns:a16="http://schemas.microsoft.com/office/drawing/2014/main" val="2803932309"/>
                  </a:ext>
                </a:extLst>
              </a:tr>
              <a:tr h="283899">
                <a:tc>
                  <a:txBody>
                    <a:bodyPr/>
                    <a:lstStyle/>
                    <a:p>
                      <a:pPr algn="ctr"/>
                      <a:r>
                        <a:rPr lang="en-US" sz="1300" dirty="0"/>
                        <a:t>AND</a:t>
                      </a:r>
                    </a:p>
                  </a:txBody>
                  <a:tcPr/>
                </a:tc>
                <a:tc>
                  <a:txBody>
                    <a:bodyPr/>
                    <a:lstStyle/>
                    <a:p>
                      <a:pPr algn="ctr"/>
                      <a:r>
                        <a:rPr lang="en-US" sz="1300" dirty="0"/>
                        <a:t>True if all the conditions separated AND is true</a:t>
                      </a:r>
                    </a:p>
                  </a:txBody>
                  <a:tcPr/>
                </a:tc>
                <a:extLst>
                  <a:ext uri="{0D108BD9-81ED-4DB2-BD59-A6C34878D82A}">
                    <a16:rowId xmlns:a16="http://schemas.microsoft.com/office/drawing/2014/main" val="1135361833"/>
                  </a:ext>
                </a:extLst>
              </a:tr>
              <a:tr h="283899">
                <a:tc>
                  <a:txBody>
                    <a:bodyPr/>
                    <a:lstStyle/>
                    <a:p>
                      <a:pPr algn="ctr"/>
                      <a:r>
                        <a:rPr lang="en-US" sz="1300" dirty="0"/>
                        <a:t>ANY</a:t>
                      </a:r>
                    </a:p>
                  </a:txBody>
                  <a:tcPr/>
                </a:tc>
                <a:tc>
                  <a:txBody>
                    <a:bodyPr/>
                    <a:lstStyle/>
                    <a:p>
                      <a:pPr algn="ctr"/>
                      <a:r>
                        <a:rPr lang="en-US" sz="1300" dirty="0"/>
                        <a:t>True if any od the subquery values meet the condition</a:t>
                      </a:r>
                    </a:p>
                  </a:txBody>
                  <a:tcPr/>
                </a:tc>
                <a:extLst>
                  <a:ext uri="{0D108BD9-81ED-4DB2-BD59-A6C34878D82A}">
                    <a16:rowId xmlns:a16="http://schemas.microsoft.com/office/drawing/2014/main" val="1098864219"/>
                  </a:ext>
                </a:extLst>
              </a:tr>
              <a:tr h="143785">
                <a:tc>
                  <a:txBody>
                    <a:bodyPr/>
                    <a:lstStyle/>
                    <a:p>
                      <a:pPr algn="ctr"/>
                      <a:r>
                        <a:rPr lang="en-US" sz="1300" dirty="0"/>
                        <a:t>BETWEEN</a:t>
                      </a:r>
                    </a:p>
                  </a:txBody>
                  <a:tcPr/>
                </a:tc>
                <a:tc>
                  <a:txBody>
                    <a:bodyPr/>
                    <a:lstStyle/>
                    <a:p>
                      <a:pPr algn="ctr"/>
                      <a:r>
                        <a:rPr lang="en-US" sz="1300" dirty="0"/>
                        <a:t>True if the operand is within the range</a:t>
                      </a:r>
                    </a:p>
                  </a:txBody>
                  <a:tcPr/>
                </a:tc>
                <a:extLst>
                  <a:ext uri="{0D108BD9-81ED-4DB2-BD59-A6C34878D82A}">
                    <a16:rowId xmlns:a16="http://schemas.microsoft.com/office/drawing/2014/main" val="3156023072"/>
                  </a:ext>
                </a:extLst>
              </a:tr>
              <a:tr h="283899">
                <a:tc>
                  <a:txBody>
                    <a:bodyPr/>
                    <a:lstStyle/>
                    <a:p>
                      <a:pPr algn="ctr"/>
                      <a:r>
                        <a:rPr lang="en-US" sz="1300" dirty="0"/>
                        <a:t>EXISTS</a:t>
                      </a:r>
                    </a:p>
                  </a:txBody>
                  <a:tcPr/>
                </a:tc>
                <a:tc>
                  <a:txBody>
                    <a:bodyPr/>
                    <a:lstStyle/>
                    <a:p>
                      <a:pPr algn="ctr"/>
                      <a:r>
                        <a:rPr kumimoji="0" lang="en-US" sz="1300" b="0" i="0" u="none" strike="noStrike" kern="1200" cap="none" spc="0" normalizeH="0" baseline="0" noProof="0" dirty="0">
                          <a:ln>
                            <a:noFill/>
                          </a:ln>
                          <a:solidFill>
                            <a:srgbClr val="000000"/>
                          </a:solidFill>
                          <a:effectLst/>
                          <a:uLnTx/>
                          <a:uFillTx/>
                          <a:latin typeface="Grandview"/>
                          <a:ea typeface="+mn-ea"/>
                          <a:cs typeface="+mn-cs"/>
                        </a:rPr>
                        <a:t>True if the</a:t>
                      </a:r>
                      <a:r>
                        <a:rPr lang="en-US" sz="1300" dirty="0"/>
                        <a:t>subquery returns one or more records.</a:t>
                      </a:r>
                      <a:r>
                        <a:rPr kumimoji="0" lang="en-US" sz="1300" b="0" i="0" u="none" strike="noStrike" kern="1200" cap="none" spc="0" normalizeH="0" baseline="0" noProof="0" dirty="0">
                          <a:ln>
                            <a:noFill/>
                          </a:ln>
                          <a:solidFill>
                            <a:srgbClr val="000000"/>
                          </a:solidFill>
                          <a:effectLst/>
                          <a:uLnTx/>
                          <a:uFillTx/>
                          <a:latin typeface="Grandview"/>
                          <a:ea typeface="+mn-ea"/>
                          <a:cs typeface="+mn-cs"/>
                        </a:rPr>
                        <a:t> </a:t>
                      </a:r>
                      <a:endParaRPr lang="en-US" sz="1300" dirty="0"/>
                    </a:p>
                  </a:txBody>
                  <a:tcPr/>
                </a:tc>
                <a:extLst>
                  <a:ext uri="{0D108BD9-81ED-4DB2-BD59-A6C34878D82A}">
                    <a16:rowId xmlns:a16="http://schemas.microsoft.com/office/drawing/2014/main" val="1781936931"/>
                  </a:ext>
                </a:extLst>
              </a:tr>
              <a:tr h="283899">
                <a:tc>
                  <a:txBody>
                    <a:bodyPr/>
                    <a:lstStyle/>
                    <a:p>
                      <a:pPr algn="ctr"/>
                      <a:r>
                        <a:rPr lang="en-US" sz="1300" dirty="0"/>
                        <a:t>IN</a:t>
                      </a:r>
                    </a:p>
                  </a:txBody>
                  <a:tcPr/>
                </a:tc>
                <a:tc>
                  <a:txBody>
                    <a:bodyPr/>
                    <a:lstStyle/>
                    <a:p>
                      <a:pPr algn="ctr"/>
                      <a:r>
                        <a:rPr kumimoji="0" lang="en-US" sz="1300" b="0" i="0" u="none" strike="noStrike" kern="1200" cap="none" spc="0" normalizeH="0" baseline="0" noProof="0" dirty="0">
                          <a:ln>
                            <a:noFill/>
                          </a:ln>
                          <a:solidFill>
                            <a:srgbClr val="000000"/>
                          </a:solidFill>
                          <a:effectLst/>
                          <a:uLnTx/>
                          <a:uFillTx/>
                          <a:latin typeface="Grandview"/>
                          <a:ea typeface="+mn-ea"/>
                          <a:cs typeface="+mn-cs"/>
                        </a:rPr>
                        <a:t>True if the operand is equal to one of a list of expressions</a:t>
                      </a:r>
                      <a:endParaRPr lang="en-US" sz="1300" dirty="0"/>
                    </a:p>
                  </a:txBody>
                  <a:tcPr/>
                </a:tc>
                <a:extLst>
                  <a:ext uri="{0D108BD9-81ED-4DB2-BD59-A6C34878D82A}">
                    <a16:rowId xmlns:a16="http://schemas.microsoft.com/office/drawing/2014/main" val="565861721"/>
                  </a:ext>
                </a:extLst>
              </a:tr>
              <a:tr h="283899">
                <a:tc>
                  <a:txBody>
                    <a:bodyPr/>
                    <a:lstStyle/>
                    <a:p>
                      <a:pPr algn="ctr"/>
                      <a:r>
                        <a:rPr lang="en-US" sz="1300" dirty="0"/>
                        <a:t>LIKE</a:t>
                      </a:r>
                    </a:p>
                  </a:txBody>
                  <a:tcPr/>
                </a:tc>
                <a:tc>
                  <a:txBody>
                    <a:bodyPr/>
                    <a:lstStyle/>
                    <a:p>
                      <a:pPr algn="ctr"/>
                      <a:r>
                        <a:rPr kumimoji="0" lang="en-US" sz="1300" b="0" i="0" u="none" strike="noStrike" kern="1200" cap="none" spc="0" normalizeH="0" baseline="0" noProof="0" dirty="0">
                          <a:ln>
                            <a:noFill/>
                          </a:ln>
                          <a:solidFill>
                            <a:srgbClr val="000000"/>
                          </a:solidFill>
                          <a:effectLst/>
                          <a:uLnTx/>
                          <a:uFillTx/>
                          <a:latin typeface="Grandview"/>
                          <a:ea typeface="+mn-ea"/>
                          <a:cs typeface="+mn-cs"/>
                        </a:rPr>
                        <a:t>True if the operand matches the pattern</a:t>
                      </a:r>
                      <a:endParaRPr lang="en-US" sz="1300" dirty="0"/>
                    </a:p>
                  </a:txBody>
                  <a:tcPr/>
                </a:tc>
                <a:extLst>
                  <a:ext uri="{0D108BD9-81ED-4DB2-BD59-A6C34878D82A}">
                    <a16:rowId xmlns:a16="http://schemas.microsoft.com/office/drawing/2014/main" val="262995965"/>
                  </a:ext>
                </a:extLst>
              </a:tr>
              <a:tr h="283899">
                <a:tc>
                  <a:txBody>
                    <a:bodyPr/>
                    <a:lstStyle/>
                    <a:p>
                      <a:pPr algn="ctr"/>
                      <a:r>
                        <a:rPr lang="en-US" sz="1300" dirty="0"/>
                        <a:t>NOT</a:t>
                      </a:r>
                    </a:p>
                  </a:txBody>
                  <a:tcPr/>
                </a:tc>
                <a:tc>
                  <a:txBody>
                    <a:bodyPr/>
                    <a:lstStyle/>
                    <a:p>
                      <a:pPr algn="ctr"/>
                      <a:r>
                        <a:rPr kumimoji="0" lang="en-US" sz="1300" b="0" i="0" u="none" strike="noStrike" kern="1200" cap="none" spc="0" normalizeH="0" baseline="0" noProof="0" dirty="0">
                          <a:ln>
                            <a:noFill/>
                          </a:ln>
                          <a:solidFill>
                            <a:srgbClr val="000000"/>
                          </a:solidFill>
                          <a:effectLst/>
                          <a:uLnTx/>
                          <a:uFillTx/>
                          <a:latin typeface="Grandview"/>
                          <a:ea typeface="+mn-ea"/>
                          <a:cs typeface="+mn-cs"/>
                        </a:rPr>
                        <a:t>Display a records if the conditions is NOT True </a:t>
                      </a:r>
                      <a:endParaRPr lang="en-US" sz="1300" dirty="0"/>
                    </a:p>
                  </a:txBody>
                  <a:tcPr/>
                </a:tc>
                <a:extLst>
                  <a:ext uri="{0D108BD9-81ED-4DB2-BD59-A6C34878D82A}">
                    <a16:rowId xmlns:a16="http://schemas.microsoft.com/office/drawing/2014/main" val="4061552857"/>
                  </a:ext>
                </a:extLst>
              </a:tr>
              <a:tr h="283899">
                <a:tc>
                  <a:txBody>
                    <a:bodyPr/>
                    <a:lstStyle/>
                    <a:p>
                      <a:pPr algn="ctr"/>
                      <a:r>
                        <a:rPr lang="en-US" sz="1300" dirty="0"/>
                        <a:t>OR </a:t>
                      </a:r>
                    </a:p>
                  </a:txBody>
                  <a:tcPr/>
                </a:tc>
                <a:tc>
                  <a:txBody>
                    <a:bodyPr/>
                    <a:lstStyle/>
                    <a:p>
                      <a:pPr algn="ctr"/>
                      <a:r>
                        <a:rPr kumimoji="0" lang="en-US" sz="1300" b="0" i="0" u="none" strike="noStrike" kern="1200" cap="none" spc="0" normalizeH="0" baseline="0" noProof="0" dirty="0">
                          <a:ln>
                            <a:noFill/>
                          </a:ln>
                          <a:solidFill>
                            <a:srgbClr val="000000"/>
                          </a:solidFill>
                          <a:effectLst/>
                          <a:uLnTx/>
                          <a:uFillTx/>
                          <a:latin typeface="Grandview"/>
                          <a:ea typeface="+mn-ea"/>
                          <a:cs typeface="+mn-cs"/>
                        </a:rPr>
                        <a:t>True if any of the conditions separated by OR is True</a:t>
                      </a:r>
                      <a:endParaRPr lang="en-US" sz="1300" dirty="0"/>
                    </a:p>
                  </a:txBody>
                  <a:tcPr/>
                </a:tc>
                <a:extLst>
                  <a:ext uri="{0D108BD9-81ED-4DB2-BD59-A6C34878D82A}">
                    <a16:rowId xmlns:a16="http://schemas.microsoft.com/office/drawing/2014/main" val="3391850870"/>
                  </a:ext>
                </a:extLst>
              </a:tr>
              <a:tr h="283899">
                <a:tc>
                  <a:txBody>
                    <a:bodyPr/>
                    <a:lstStyle/>
                    <a:p>
                      <a:pPr algn="ctr"/>
                      <a:r>
                        <a:rPr lang="en-US" sz="1300" dirty="0"/>
                        <a:t>SOME</a:t>
                      </a:r>
                    </a:p>
                  </a:txBody>
                  <a:tcPr/>
                </a:tc>
                <a:tc>
                  <a:txBody>
                    <a:bodyPr/>
                    <a:lstStyle/>
                    <a:p>
                      <a:pPr algn="ctr"/>
                      <a:r>
                        <a:rPr kumimoji="0" lang="en-US" sz="1300" b="0" i="0" u="none" strike="noStrike" kern="1200" cap="none" spc="0" normalizeH="0" baseline="0" noProof="0" dirty="0">
                          <a:ln>
                            <a:noFill/>
                          </a:ln>
                          <a:solidFill>
                            <a:srgbClr val="000000"/>
                          </a:solidFill>
                          <a:effectLst/>
                          <a:uLnTx/>
                          <a:uFillTx/>
                          <a:latin typeface="Grandview"/>
                          <a:ea typeface="+mn-ea"/>
                          <a:cs typeface="+mn-cs"/>
                        </a:rPr>
                        <a:t>True if any of the subquery values mee the condition</a:t>
                      </a:r>
                      <a:endParaRPr lang="en-US" sz="1300" dirty="0"/>
                    </a:p>
                  </a:txBody>
                  <a:tcPr/>
                </a:tc>
                <a:extLst>
                  <a:ext uri="{0D108BD9-81ED-4DB2-BD59-A6C34878D82A}">
                    <a16:rowId xmlns:a16="http://schemas.microsoft.com/office/drawing/2014/main" val="1295263288"/>
                  </a:ext>
                </a:extLst>
              </a:tr>
            </a:tbl>
          </a:graphicData>
        </a:graphic>
      </p:graphicFrame>
      <p:sp>
        <p:nvSpPr>
          <p:cNvPr id="11" name="TextBox 10">
            <a:extLst>
              <a:ext uri="{FF2B5EF4-FFF2-40B4-BE49-F238E27FC236}">
                <a16:creationId xmlns:a16="http://schemas.microsoft.com/office/drawing/2014/main" id="{AC73116C-3ED2-4592-87A0-398E346C45FE}"/>
              </a:ext>
            </a:extLst>
          </p:cNvPr>
          <p:cNvSpPr txBox="1"/>
          <p:nvPr/>
        </p:nvSpPr>
        <p:spPr>
          <a:xfrm>
            <a:off x="690612" y="3750348"/>
            <a:ext cx="4014952" cy="353943"/>
          </a:xfrm>
          <a:prstGeom prst="rect">
            <a:avLst/>
          </a:prstGeom>
          <a:noFill/>
        </p:spPr>
        <p:txBody>
          <a:bodyPr wrap="square">
            <a:spAutoFit/>
          </a:bodyPr>
          <a:lstStyle/>
          <a:p>
            <a:r>
              <a:rPr lang="en-US" sz="1700" b="1" dirty="0"/>
              <a:t>Comparison Operators</a:t>
            </a:r>
            <a:r>
              <a:rPr lang="en-US" sz="1700" dirty="0"/>
              <a:t>:</a:t>
            </a:r>
          </a:p>
        </p:txBody>
      </p:sp>
      <p:graphicFrame>
        <p:nvGraphicFramePr>
          <p:cNvPr id="12" name="Table 6">
            <a:extLst>
              <a:ext uri="{FF2B5EF4-FFF2-40B4-BE49-F238E27FC236}">
                <a16:creationId xmlns:a16="http://schemas.microsoft.com/office/drawing/2014/main" id="{0B1955B6-0BDA-4C46-B581-667E649834CE}"/>
              </a:ext>
            </a:extLst>
          </p:cNvPr>
          <p:cNvGraphicFramePr>
            <a:graphicFrameLocks noGrp="1"/>
          </p:cNvGraphicFramePr>
          <p:nvPr>
            <p:extLst>
              <p:ext uri="{D42A27DB-BD31-4B8C-83A1-F6EECF244321}">
                <p14:modId xmlns:p14="http://schemas.microsoft.com/office/powerpoint/2010/main" val="2946986101"/>
              </p:ext>
            </p:extLst>
          </p:nvPr>
        </p:nvGraphicFramePr>
        <p:xfrm>
          <a:off x="690612" y="4104291"/>
          <a:ext cx="3847006" cy="2225040"/>
        </p:xfrm>
        <a:graphic>
          <a:graphicData uri="http://schemas.openxmlformats.org/drawingml/2006/table">
            <a:tbl>
              <a:tblPr firstRow="1" bandRow="1">
                <a:tableStyleId>{5C22544A-7EE6-4342-B048-85BDC9FD1C3A}</a:tableStyleId>
              </a:tblPr>
              <a:tblGrid>
                <a:gridCol w="1374951">
                  <a:extLst>
                    <a:ext uri="{9D8B030D-6E8A-4147-A177-3AD203B41FA5}">
                      <a16:colId xmlns:a16="http://schemas.microsoft.com/office/drawing/2014/main" val="1939947359"/>
                    </a:ext>
                  </a:extLst>
                </a:gridCol>
                <a:gridCol w="2472055">
                  <a:extLst>
                    <a:ext uri="{9D8B030D-6E8A-4147-A177-3AD203B41FA5}">
                      <a16:colId xmlns:a16="http://schemas.microsoft.com/office/drawing/2014/main" val="3998007890"/>
                    </a:ext>
                  </a:extLst>
                </a:gridCol>
              </a:tblGrid>
              <a:tr h="283899">
                <a:tc>
                  <a:txBody>
                    <a:bodyPr/>
                    <a:lstStyle/>
                    <a:p>
                      <a:pPr algn="ctr"/>
                      <a:r>
                        <a:rPr lang="en-US" sz="1300" dirty="0"/>
                        <a:t>Operator</a:t>
                      </a:r>
                    </a:p>
                  </a:txBody>
                  <a:tcPr/>
                </a:tc>
                <a:tc>
                  <a:txBody>
                    <a:bodyPr/>
                    <a:lstStyle/>
                    <a:p>
                      <a:pPr algn="ctr"/>
                      <a:r>
                        <a:rPr lang="en-US" sz="1300" dirty="0"/>
                        <a:t>Description</a:t>
                      </a:r>
                    </a:p>
                  </a:txBody>
                  <a:tcPr/>
                </a:tc>
                <a:extLst>
                  <a:ext uri="{0D108BD9-81ED-4DB2-BD59-A6C34878D82A}">
                    <a16:rowId xmlns:a16="http://schemas.microsoft.com/office/drawing/2014/main" val="3071737797"/>
                  </a:ext>
                </a:extLst>
              </a:tr>
              <a:tr h="283899">
                <a:tc>
                  <a:txBody>
                    <a:bodyPr/>
                    <a:lstStyle/>
                    <a:p>
                      <a:pPr algn="ctr"/>
                      <a:r>
                        <a:rPr lang="en-US" sz="1300" dirty="0"/>
                        <a:t>=</a:t>
                      </a:r>
                    </a:p>
                  </a:txBody>
                  <a:tcPr/>
                </a:tc>
                <a:tc>
                  <a:txBody>
                    <a:bodyPr/>
                    <a:lstStyle/>
                    <a:p>
                      <a:pPr algn="ctr"/>
                      <a:r>
                        <a:rPr lang="en-US" sz="1300" dirty="0"/>
                        <a:t>Equal to</a:t>
                      </a:r>
                    </a:p>
                  </a:txBody>
                  <a:tcPr/>
                </a:tc>
                <a:extLst>
                  <a:ext uri="{0D108BD9-81ED-4DB2-BD59-A6C34878D82A}">
                    <a16:rowId xmlns:a16="http://schemas.microsoft.com/office/drawing/2014/main" val="2803932309"/>
                  </a:ext>
                </a:extLst>
              </a:tr>
              <a:tr h="283899">
                <a:tc>
                  <a:txBody>
                    <a:bodyPr/>
                    <a:lstStyle/>
                    <a:p>
                      <a:pPr algn="ctr"/>
                      <a:r>
                        <a:rPr lang="en-US" sz="1300" dirty="0"/>
                        <a:t>&gt;</a:t>
                      </a:r>
                    </a:p>
                  </a:txBody>
                  <a:tcPr/>
                </a:tc>
                <a:tc>
                  <a:txBody>
                    <a:bodyPr/>
                    <a:lstStyle/>
                    <a:p>
                      <a:pPr algn="ctr"/>
                      <a:r>
                        <a:rPr lang="en-US" sz="1300" dirty="0"/>
                        <a:t>Greater than</a:t>
                      </a:r>
                    </a:p>
                  </a:txBody>
                  <a:tcPr/>
                </a:tc>
                <a:extLst>
                  <a:ext uri="{0D108BD9-81ED-4DB2-BD59-A6C34878D82A}">
                    <a16:rowId xmlns:a16="http://schemas.microsoft.com/office/drawing/2014/main" val="1135361833"/>
                  </a:ext>
                </a:extLst>
              </a:tr>
              <a:tr h="283899">
                <a:tc>
                  <a:txBody>
                    <a:bodyPr/>
                    <a:lstStyle/>
                    <a:p>
                      <a:pPr algn="ctr"/>
                      <a:r>
                        <a:rPr lang="en-US" sz="1300" dirty="0"/>
                        <a:t>&lt;</a:t>
                      </a:r>
                    </a:p>
                  </a:txBody>
                  <a:tcPr/>
                </a:tc>
                <a:tc>
                  <a:txBody>
                    <a:bodyPr/>
                    <a:lstStyle/>
                    <a:p>
                      <a:pPr algn="ctr"/>
                      <a:r>
                        <a:rPr lang="en-US" sz="1300" dirty="0"/>
                        <a:t>Less than</a:t>
                      </a:r>
                    </a:p>
                  </a:txBody>
                  <a:tcPr/>
                </a:tc>
                <a:extLst>
                  <a:ext uri="{0D108BD9-81ED-4DB2-BD59-A6C34878D82A}">
                    <a16:rowId xmlns:a16="http://schemas.microsoft.com/office/drawing/2014/main" val="1098864219"/>
                  </a:ext>
                </a:extLst>
              </a:tr>
              <a:tr h="143785">
                <a:tc>
                  <a:txBody>
                    <a:bodyPr/>
                    <a:lstStyle/>
                    <a:p>
                      <a:pPr algn="ctr"/>
                      <a:r>
                        <a:rPr lang="en-US" sz="1300" dirty="0"/>
                        <a:t>&gt;=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dirty="0"/>
                        <a:t>Greater than or Equal to</a:t>
                      </a:r>
                    </a:p>
                    <a:p>
                      <a:pPr algn="ctr"/>
                      <a:endParaRPr lang="en-US" sz="1300" dirty="0"/>
                    </a:p>
                  </a:txBody>
                  <a:tcPr/>
                </a:tc>
                <a:extLst>
                  <a:ext uri="{0D108BD9-81ED-4DB2-BD59-A6C34878D82A}">
                    <a16:rowId xmlns:a16="http://schemas.microsoft.com/office/drawing/2014/main" val="3156023072"/>
                  </a:ext>
                </a:extLst>
              </a:tr>
              <a:tr h="283899">
                <a:tc>
                  <a:txBody>
                    <a:bodyPr/>
                    <a:lstStyle/>
                    <a:p>
                      <a:pPr algn="ctr"/>
                      <a:r>
                        <a:rPr lang="en-US" sz="1300" dirty="0"/>
                        <a:t>&lt;=</a:t>
                      </a:r>
                    </a:p>
                  </a:txBody>
                  <a:tcPr/>
                </a:tc>
                <a:tc>
                  <a:txBody>
                    <a:bodyPr/>
                    <a:lstStyle/>
                    <a:p>
                      <a:pPr algn="ctr"/>
                      <a:r>
                        <a:rPr lang="en-US" sz="1300" dirty="0"/>
                        <a:t>Less than or Equal to</a:t>
                      </a:r>
                    </a:p>
                  </a:txBody>
                  <a:tcPr/>
                </a:tc>
                <a:extLst>
                  <a:ext uri="{0D108BD9-81ED-4DB2-BD59-A6C34878D82A}">
                    <a16:rowId xmlns:a16="http://schemas.microsoft.com/office/drawing/2014/main" val="1781936931"/>
                  </a:ext>
                </a:extLst>
              </a:tr>
              <a:tr h="283899">
                <a:tc>
                  <a:txBody>
                    <a:bodyPr/>
                    <a:lstStyle/>
                    <a:p>
                      <a:pPr algn="ctr"/>
                      <a:r>
                        <a:rPr lang="en-US" sz="1300" dirty="0"/>
                        <a:t>&lt;&gt;</a:t>
                      </a:r>
                    </a:p>
                  </a:txBody>
                  <a:tcPr/>
                </a:tc>
                <a:tc>
                  <a:txBody>
                    <a:bodyPr/>
                    <a:lstStyle/>
                    <a:p>
                      <a:pPr algn="ctr"/>
                      <a:r>
                        <a:rPr lang="en-US" sz="1300" dirty="0"/>
                        <a:t>Not equal to</a:t>
                      </a:r>
                    </a:p>
                  </a:txBody>
                  <a:tcPr/>
                </a:tc>
                <a:extLst>
                  <a:ext uri="{0D108BD9-81ED-4DB2-BD59-A6C34878D82A}">
                    <a16:rowId xmlns:a16="http://schemas.microsoft.com/office/drawing/2014/main" val="565861721"/>
                  </a:ext>
                </a:extLst>
              </a:tr>
            </a:tbl>
          </a:graphicData>
        </a:graphic>
      </p:graphicFrame>
    </p:spTree>
    <p:extLst>
      <p:ext uri="{BB962C8B-B14F-4D97-AF65-F5344CB8AC3E}">
        <p14:creationId xmlns:p14="http://schemas.microsoft.com/office/powerpoint/2010/main" val="2667870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EAFC8-1D17-4A2B-80FF-4706E2D649E2}"/>
              </a:ext>
            </a:extLst>
          </p:cNvPr>
          <p:cNvSpPr>
            <a:spLocks noGrp="1"/>
          </p:cNvSpPr>
          <p:nvPr>
            <p:ph type="title"/>
          </p:nvPr>
        </p:nvSpPr>
        <p:spPr>
          <a:xfrm>
            <a:off x="691079" y="368599"/>
            <a:ext cx="10325000" cy="798049"/>
          </a:xfrm>
        </p:spPr>
        <p:txBody>
          <a:bodyPr/>
          <a:lstStyle/>
          <a:p>
            <a:r>
              <a:rPr lang="en-US" sz="2900" dirty="0"/>
              <a:t>SQL</a:t>
            </a:r>
            <a:r>
              <a:rPr lang="en-US" dirty="0"/>
              <a:t> </a:t>
            </a:r>
            <a:r>
              <a:rPr lang="en-US" sz="4000" b="1" dirty="0">
                <a:solidFill>
                  <a:srgbClr val="0070C0"/>
                </a:solidFill>
              </a:rPr>
              <a:t>DATA TYPES</a:t>
            </a:r>
          </a:p>
        </p:txBody>
      </p:sp>
      <p:sp>
        <p:nvSpPr>
          <p:cNvPr id="3" name="Content Placeholder 2">
            <a:extLst>
              <a:ext uri="{FF2B5EF4-FFF2-40B4-BE49-F238E27FC236}">
                <a16:creationId xmlns:a16="http://schemas.microsoft.com/office/drawing/2014/main" id="{96E4CD36-57C7-4065-8D5F-E8C10256A9AB}"/>
              </a:ext>
            </a:extLst>
          </p:cNvPr>
          <p:cNvSpPr>
            <a:spLocks noGrp="1"/>
          </p:cNvSpPr>
          <p:nvPr>
            <p:ph idx="1"/>
          </p:nvPr>
        </p:nvSpPr>
        <p:spPr>
          <a:xfrm>
            <a:off x="691079" y="1593896"/>
            <a:ext cx="10325000" cy="4281386"/>
          </a:xfrm>
        </p:spPr>
        <p:txBody>
          <a:bodyPr>
            <a:normAutofit/>
          </a:bodyPr>
          <a:lstStyle/>
          <a:p>
            <a:r>
              <a:rPr lang="en-US" dirty="0"/>
              <a:t>The information in the database is maintained in the form of tables and each tables  consist of rows and columns, which store the data and therefore this data must have some data type.</a:t>
            </a:r>
          </a:p>
          <a:p>
            <a:endParaRPr lang="en-US" b="1" dirty="0"/>
          </a:p>
          <a:p>
            <a:r>
              <a:rPr lang="en-US" b="1" dirty="0"/>
              <a:t>The most commonly used data types are:</a:t>
            </a:r>
          </a:p>
          <a:p>
            <a:pPr>
              <a:buFont typeface="Wingdings" panose="05000000000000000000" pitchFamily="2" charset="2"/>
              <a:buChar char="ü"/>
            </a:pPr>
            <a:r>
              <a:rPr lang="en-US" sz="1700" dirty="0"/>
              <a:t>Char</a:t>
            </a:r>
          </a:p>
          <a:p>
            <a:pPr>
              <a:buFont typeface="Wingdings" panose="05000000000000000000" pitchFamily="2" charset="2"/>
              <a:buChar char="ü"/>
            </a:pPr>
            <a:r>
              <a:rPr lang="en-US" sz="1700" dirty="0"/>
              <a:t>Varchar or varchar2</a:t>
            </a:r>
          </a:p>
          <a:p>
            <a:pPr>
              <a:buFont typeface="Wingdings" panose="05000000000000000000" pitchFamily="2" charset="2"/>
              <a:buChar char="ü"/>
            </a:pPr>
            <a:r>
              <a:rPr lang="en-US" sz="1700" dirty="0"/>
              <a:t>Number</a:t>
            </a:r>
          </a:p>
          <a:p>
            <a:pPr>
              <a:buFont typeface="Wingdings" panose="05000000000000000000" pitchFamily="2" charset="2"/>
              <a:buChar char="ü"/>
            </a:pPr>
            <a:r>
              <a:rPr lang="en-US" sz="1700" dirty="0"/>
              <a:t>Date</a:t>
            </a:r>
          </a:p>
          <a:p>
            <a:pPr>
              <a:buFont typeface="Wingdings" panose="05000000000000000000" pitchFamily="2" charset="2"/>
              <a:buChar char="ü"/>
            </a:pPr>
            <a:r>
              <a:rPr lang="en-US" sz="1700" dirty="0"/>
              <a:t>Long</a:t>
            </a:r>
          </a:p>
          <a:p>
            <a:pPr marL="0" indent="0">
              <a:buNone/>
            </a:pPr>
            <a:endParaRPr lang="en-US" dirty="0"/>
          </a:p>
          <a:p>
            <a:endParaRPr lang="en-US" dirty="0"/>
          </a:p>
        </p:txBody>
      </p:sp>
    </p:spTree>
    <p:extLst>
      <p:ext uri="{BB962C8B-B14F-4D97-AF65-F5344CB8AC3E}">
        <p14:creationId xmlns:p14="http://schemas.microsoft.com/office/powerpoint/2010/main" val="3254079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D7A49-7353-4F41-BED2-BE17739EFCEC}"/>
              </a:ext>
            </a:extLst>
          </p:cNvPr>
          <p:cNvSpPr>
            <a:spLocks noGrp="1"/>
          </p:cNvSpPr>
          <p:nvPr>
            <p:ph type="title"/>
          </p:nvPr>
        </p:nvSpPr>
        <p:spPr/>
        <p:txBody>
          <a:bodyPr/>
          <a:lstStyle/>
          <a:p>
            <a:r>
              <a:rPr lang="en-US" sz="4000" b="1" dirty="0">
                <a:solidFill>
                  <a:srgbClr val="0070C0"/>
                </a:solidFill>
              </a:rPr>
              <a:t>Structure</a:t>
            </a:r>
            <a:r>
              <a:rPr lang="en-US" sz="2900" dirty="0"/>
              <a:t> of an SQL Statement</a:t>
            </a:r>
          </a:p>
        </p:txBody>
      </p:sp>
      <p:sp>
        <p:nvSpPr>
          <p:cNvPr id="3" name="Content Placeholder 2">
            <a:extLst>
              <a:ext uri="{FF2B5EF4-FFF2-40B4-BE49-F238E27FC236}">
                <a16:creationId xmlns:a16="http://schemas.microsoft.com/office/drawing/2014/main" id="{590C1C4A-22B4-47A6-A1C5-1FC5ACD1D75B}"/>
              </a:ext>
            </a:extLst>
          </p:cNvPr>
          <p:cNvSpPr>
            <a:spLocks noGrp="1"/>
          </p:cNvSpPr>
          <p:nvPr>
            <p:ph idx="1"/>
          </p:nvPr>
        </p:nvSpPr>
        <p:spPr/>
        <p:txBody>
          <a:bodyPr/>
          <a:lstStyle/>
          <a:p>
            <a:pPr marL="0" indent="0">
              <a:buNone/>
            </a:pPr>
            <a:endParaRPr lang="en-US" dirty="0"/>
          </a:p>
          <a:p>
            <a:pPr marL="0" indent="0">
              <a:buNone/>
            </a:pPr>
            <a:r>
              <a:rPr lang="en-US" dirty="0"/>
              <a:t>A typical SQL statement consist of:</a:t>
            </a:r>
          </a:p>
          <a:p>
            <a:pPr marL="0" indent="0">
              <a:buNone/>
            </a:pPr>
            <a:endParaRPr lang="en-US" dirty="0"/>
          </a:p>
          <a:p>
            <a:r>
              <a:rPr lang="en-US" sz="1700" dirty="0"/>
              <a:t>a </a:t>
            </a:r>
            <a:r>
              <a:rPr lang="en-US" sz="1700" b="1" dirty="0"/>
              <a:t>statement keywords </a:t>
            </a:r>
            <a:r>
              <a:rPr lang="en-US" sz="1700" dirty="0"/>
              <a:t>(e.g., Select, Create, Update).</a:t>
            </a:r>
          </a:p>
          <a:p>
            <a:r>
              <a:rPr lang="en-US" sz="1700" dirty="0"/>
              <a:t>One or more </a:t>
            </a:r>
            <a:r>
              <a:rPr lang="en-US" sz="1700" b="1" dirty="0"/>
              <a:t>column names</a:t>
            </a:r>
            <a:r>
              <a:rPr lang="en-US" sz="1700" dirty="0"/>
              <a:t>(e.g., id, name, address).</a:t>
            </a:r>
          </a:p>
          <a:p>
            <a:r>
              <a:rPr lang="en-US" sz="1700" b="1" dirty="0"/>
              <a:t>From</a:t>
            </a:r>
            <a:r>
              <a:rPr lang="en-US" sz="1700" dirty="0"/>
              <a:t> (database name, table name ).</a:t>
            </a:r>
          </a:p>
          <a:p>
            <a:r>
              <a:rPr lang="en-US" sz="1700" dirty="0"/>
              <a:t>One or more </a:t>
            </a:r>
            <a:r>
              <a:rPr lang="en-US" sz="1700" b="1" dirty="0"/>
              <a:t>optional clauses keywords </a:t>
            </a:r>
            <a:r>
              <a:rPr lang="en-US" sz="1700" dirty="0"/>
              <a:t>(Where, group by, having, order by ).</a:t>
            </a:r>
            <a:endParaRPr lang="en-US" sz="1700" b="1" dirty="0"/>
          </a:p>
        </p:txBody>
      </p:sp>
    </p:spTree>
    <p:extLst>
      <p:ext uri="{BB962C8B-B14F-4D97-AF65-F5344CB8AC3E}">
        <p14:creationId xmlns:p14="http://schemas.microsoft.com/office/powerpoint/2010/main" val="3291570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icture containing bubble chart&#10;&#10;Description automatically generated">
            <a:extLst>
              <a:ext uri="{FF2B5EF4-FFF2-40B4-BE49-F238E27FC236}">
                <a16:creationId xmlns:a16="http://schemas.microsoft.com/office/drawing/2014/main" id="{406DB338-B174-48D3-B2E5-EAECA373EEB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037" t="1628" r="68813" b="61189"/>
          <a:stretch/>
        </p:blipFill>
        <p:spPr>
          <a:xfrm>
            <a:off x="5013433" y="1308103"/>
            <a:ext cx="2028498" cy="1501169"/>
          </a:xfrm>
        </p:spPr>
      </p:pic>
      <p:sp>
        <p:nvSpPr>
          <p:cNvPr id="6" name="TextBox 5">
            <a:extLst>
              <a:ext uri="{FF2B5EF4-FFF2-40B4-BE49-F238E27FC236}">
                <a16:creationId xmlns:a16="http://schemas.microsoft.com/office/drawing/2014/main" id="{0C8E6B19-ACF3-4EB3-B7F5-CB2FD72252AA}"/>
              </a:ext>
            </a:extLst>
          </p:cNvPr>
          <p:cNvSpPr txBox="1"/>
          <p:nvPr/>
        </p:nvSpPr>
        <p:spPr>
          <a:xfrm>
            <a:off x="803928" y="1488267"/>
            <a:ext cx="4014952" cy="1138773"/>
          </a:xfrm>
          <a:prstGeom prst="rect">
            <a:avLst/>
          </a:prstGeom>
          <a:noFill/>
        </p:spPr>
        <p:txBody>
          <a:bodyPr wrap="square">
            <a:spAutoFit/>
          </a:bodyPr>
          <a:lstStyle/>
          <a:p>
            <a:r>
              <a:rPr lang="en-US" sz="1700" b="1" dirty="0"/>
              <a:t>Inner join</a:t>
            </a:r>
            <a:r>
              <a:rPr lang="en-US" sz="1700" dirty="0"/>
              <a:t>:</a:t>
            </a:r>
          </a:p>
          <a:p>
            <a:r>
              <a:rPr lang="en-US" sz="1700" dirty="0"/>
              <a:t>Inner join  returns all the records that have matching values in both the tables.</a:t>
            </a:r>
          </a:p>
        </p:txBody>
      </p:sp>
      <p:pic>
        <p:nvPicPr>
          <p:cNvPr id="7" name="Content Placeholder 4" descr="A picture containing bubble chart&#10;&#10;Description automatically generated">
            <a:extLst>
              <a:ext uri="{FF2B5EF4-FFF2-40B4-BE49-F238E27FC236}">
                <a16:creationId xmlns:a16="http://schemas.microsoft.com/office/drawing/2014/main" id="{B9F225A3-4B31-43B1-ACD1-8E60D98189D3}"/>
              </a:ext>
            </a:extLst>
          </p:cNvPr>
          <p:cNvPicPr>
            <a:picLocks noChangeAspect="1"/>
          </p:cNvPicPr>
          <p:nvPr/>
        </p:nvPicPr>
        <p:blipFill rotWithShape="1">
          <a:blip r:embed="rId2">
            <a:extLst>
              <a:ext uri="{28A0092B-C50C-407E-A947-70E740481C1C}">
                <a14:useLocalDpi xmlns:a14="http://schemas.microsoft.com/office/drawing/2010/main" val="0"/>
              </a:ext>
            </a:extLst>
          </a:blip>
          <a:srcRect l="34607" r="36145" b="63088"/>
          <a:stretch/>
        </p:blipFill>
        <p:spPr>
          <a:xfrm>
            <a:off x="5013433" y="3181953"/>
            <a:ext cx="2105013" cy="1488320"/>
          </a:xfrm>
          <a:prstGeom prst="rect">
            <a:avLst/>
          </a:prstGeom>
        </p:spPr>
      </p:pic>
      <p:sp>
        <p:nvSpPr>
          <p:cNvPr id="8" name="TextBox 7">
            <a:extLst>
              <a:ext uri="{FF2B5EF4-FFF2-40B4-BE49-F238E27FC236}">
                <a16:creationId xmlns:a16="http://schemas.microsoft.com/office/drawing/2014/main" id="{CE32021F-D9F0-45F5-B813-0CB6D15964C0}"/>
              </a:ext>
            </a:extLst>
          </p:cNvPr>
          <p:cNvSpPr txBox="1"/>
          <p:nvPr/>
        </p:nvSpPr>
        <p:spPr>
          <a:xfrm>
            <a:off x="803928" y="3092188"/>
            <a:ext cx="4014952" cy="1138773"/>
          </a:xfrm>
          <a:prstGeom prst="rect">
            <a:avLst/>
          </a:prstGeom>
          <a:noFill/>
        </p:spPr>
        <p:txBody>
          <a:bodyPr wrap="square">
            <a:spAutoFit/>
          </a:bodyPr>
          <a:lstStyle/>
          <a:p>
            <a:r>
              <a:rPr lang="en-US" sz="1700" b="1" dirty="0"/>
              <a:t>Left join</a:t>
            </a:r>
            <a:r>
              <a:rPr lang="en-US" sz="1700" dirty="0"/>
              <a:t>:</a:t>
            </a:r>
          </a:p>
          <a:p>
            <a:r>
              <a:rPr lang="en-US" sz="1700" dirty="0"/>
              <a:t>Left join  returns all the records from the left table and then matched records from the right table.</a:t>
            </a:r>
          </a:p>
        </p:txBody>
      </p:sp>
      <p:sp>
        <p:nvSpPr>
          <p:cNvPr id="9" name="TextBox 8">
            <a:extLst>
              <a:ext uri="{FF2B5EF4-FFF2-40B4-BE49-F238E27FC236}">
                <a16:creationId xmlns:a16="http://schemas.microsoft.com/office/drawing/2014/main" id="{C165ADEB-1EEA-4038-B967-9BDD94BC8494}"/>
              </a:ext>
            </a:extLst>
          </p:cNvPr>
          <p:cNvSpPr txBox="1"/>
          <p:nvPr/>
        </p:nvSpPr>
        <p:spPr>
          <a:xfrm>
            <a:off x="803928" y="4986048"/>
            <a:ext cx="4014952" cy="1138773"/>
          </a:xfrm>
          <a:prstGeom prst="rect">
            <a:avLst/>
          </a:prstGeom>
          <a:noFill/>
        </p:spPr>
        <p:txBody>
          <a:bodyPr wrap="square">
            <a:spAutoFit/>
          </a:bodyPr>
          <a:lstStyle/>
          <a:p>
            <a:r>
              <a:rPr lang="en-US" sz="1700" b="1" dirty="0"/>
              <a:t>Right join</a:t>
            </a:r>
            <a:r>
              <a:rPr lang="en-US" sz="1700" dirty="0"/>
              <a:t>:</a:t>
            </a:r>
          </a:p>
          <a:p>
            <a:r>
              <a:rPr lang="en-US" sz="1700" dirty="0"/>
              <a:t>Right join  returns all the records from the right table and then matched records from the left table.</a:t>
            </a:r>
          </a:p>
        </p:txBody>
      </p:sp>
      <p:pic>
        <p:nvPicPr>
          <p:cNvPr id="10" name="Content Placeholder 4" descr="A picture containing bubble chart&#10;&#10;Description automatically generated">
            <a:extLst>
              <a:ext uri="{FF2B5EF4-FFF2-40B4-BE49-F238E27FC236}">
                <a16:creationId xmlns:a16="http://schemas.microsoft.com/office/drawing/2014/main" id="{8A6B36C5-FAD0-4F22-A33B-1FCDE458BDBB}"/>
              </a:ext>
            </a:extLst>
          </p:cNvPr>
          <p:cNvPicPr>
            <a:picLocks noChangeAspect="1"/>
          </p:cNvPicPr>
          <p:nvPr/>
        </p:nvPicPr>
        <p:blipFill rotWithShape="1">
          <a:blip r:embed="rId2">
            <a:extLst>
              <a:ext uri="{28A0092B-C50C-407E-A947-70E740481C1C}">
                <a14:useLocalDpi xmlns:a14="http://schemas.microsoft.com/office/drawing/2010/main" val="0"/>
              </a:ext>
            </a:extLst>
          </a:blip>
          <a:srcRect l="69270" r="5189" b="62065"/>
          <a:stretch/>
        </p:blipFill>
        <p:spPr>
          <a:xfrm>
            <a:off x="5013433" y="5080642"/>
            <a:ext cx="2105013" cy="1566368"/>
          </a:xfrm>
          <a:prstGeom prst="rect">
            <a:avLst/>
          </a:prstGeom>
        </p:spPr>
      </p:pic>
      <p:sp>
        <p:nvSpPr>
          <p:cNvPr id="11" name="TextBox 10">
            <a:extLst>
              <a:ext uri="{FF2B5EF4-FFF2-40B4-BE49-F238E27FC236}">
                <a16:creationId xmlns:a16="http://schemas.microsoft.com/office/drawing/2014/main" id="{27A8DF6C-0D51-47D6-B3BC-AF7AECC661C0}"/>
              </a:ext>
            </a:extLst>
          </p:cNvPr>
          <p:cNvSpPr txBox="1"/>
          <p:nvPr/>
        </p:nvSpPr>
        <p:spPr>
          <a:xfrm>
            <a:off x="7830093" y="1670499"/>
            <a:ext cx="4014952" cy="1138773"/>
          </a:xfrm>
          <a:prstGeom prst="rect">
            <a:avLst/>
          </a:prstGeom>
          <a:noFill/>
        </p:spPr>
        <p:txBody>
          <a:bodyPr wrap="square">
            <a:spAutoFit/>
          </a:bodyPr>
          <a:lstStyle/>
          <a:p>
            <a:r>
              <a:rPr lang="en-US" sz="1700" b="1" dirty="0"/>
              <a:t>Full Outer join</a:t>
            </a:r>
            <a:r>
              <a:rPr lang="en-US" sz="1700" dirty="0"/>
              <a:t>:</a:t>
            </a:r>
          </a:p>
          <a:p>
            <a:r>
              <a:rPr lang="en-US" sz="1700" dirty="0"/>
              <a:t>Full Outer join  returns all the records when there is a match in either left or right tables</a:t>
            </a:r>
          </a:p>
        </p:txBody>
      </p:sp>
      <p:pic>
        <p:nvPicPr>
          <p:cNvPr id="12" name="Content Placeholder 4" descr="A picture containing bubble chart&#10;&#10;Description automatically generated">
            <a:extLst>
              <a:ext uri="{FF2B5EF4-FFF2-40B4-BE49-F238E27FC236}">
                <a16:creationId xmlns:a16="http://schemas.microsoft.com/office/drawing/2014/main" id="{13DF35A2-39E4-4CA5-8DC3-B286C0BFF50F}"/>
              </a:ext>
            </a:extLst>
          </p:cNvPr>
          <p:cNvPicPr>
            <a:picLocks noChangeAspect="1"/>
          </p:cNvPicPr>
          <p:nvPr/>
        </p:nvPicPr>
        <p:blipFill rotWithShape="1">
          <a:blip r:embed="rId2">
            <a:extLst>
              <a:ext uri="{28A0092B-C50C-407E-A947-70E740481C1C}">
                <a14:useLocalDpi xmlns:a14="http://schemas.microsoft.com/office/drawing/2010/main" val="0"/>
              </a:ext>
            </a:extLst>
          </a:blip>
          <a:srcRect l="20924" t="53317" r="52622" b="16352"/>
          <a:stretch/>
        </p:blipFill>
        <p:spPr>
          <a:xfrm>
            <a:off x="8408162" y="3140442"/>
            <a:ext cx="2316900" cy="1488319"/>
          </a:xfrm>
          <a:prstGeom prst="rect">
            <a:avLst/>
          </a:prstGeom>
        </p:spPr>
      </p:pic>
      <p:sp>
        <p:nvSpPr>
          <p:cNvPr id="13" name="Title 1">
            <a:extLst>
              <a:ext uri="{FF2B5EF4-FFF2-40B4-BE49-F238E27FC236}">
                <a16:creationId xmlns:a16="http://schemas.microsoft.com/office/drawing/2014/main" id="{FDCA5171-B0A5-41DC-9465-67C1647195B7}"/>
              </a:ext>
            </a:extLst>
          </p:cNvPr>
          <p:cNvSpPr txBox="1">
            <a:spLocks/>
          </p:cNvSpPr>
          <p:nvPr/>
        </p:nvSpPr>
        <p:spPr>
          <a:xfrm>
            <a:off x="711633" y="167286"/>
            <a:ext cx="10325000" cy="891752"/>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US" sz="2900" dirty="0"/>
              <a:t>SQL</a:t>
            </a:r>
            <a:r>
              <a:rPr lang="en-US" sz="1700" dirty="0"/>
              <a:t> </a:t>
            </a:r>
            <a:r>
              <a:rPr lang="en-US" sz="4000" b="1" dirty="0">
                <a:solidFill>
                  <a:srgbClr val="0070C0"/>
                </a:solidFill>
              </a:rPr>
              <a:t>Joins</a:t>
            </a:r>
          </a:p>
        </p:txBody>
      </p:sp>
    </p:spTree>
    <p:extLst>
      <p:ext uri="{BB962C8B-B14F-4D97-AF65-F5344CB8AC3E}">
        <p14:creationId xmlns:p14="http://schemas.microsoft.com/office/powerpoint/2010/main" val="3266632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1C675-B87D-41A1-BC78-F695502C1942}"/>
              </a:ext>
            </a:extLst>
          </p:cNvPr>
          <p:cNvSpPr>
            <a:spLocks noGrp="1"/>
          </p:cNvSpPr>
          <p:nvPr>
            <p:ph idx="1"/>
          </p:nvPr>
        </p:nvSpPr>
        <p:spPr>
          <a:xfrm>
            <a:off x="711632" y="952765"/>
            <a:ext cx="11385775" cy="5610945"/>
          </a:xfrm>
        </p:spPr>
        <p:txBody>
          <a:bodyPr>
            <a:normAutofit/>
          </a:bodyPr>
          <a:lstStyle/>
          <a:p>
            <a:pPr marL="228600" lvl="1" indent="0">
              <a:lnSpc>
                <a:spcPct val="100000"/>
              </a:lnSpc>
              <a:buNone/>
            </a:pPr>
            <a:r>
              <a:rPr lang="en-US" sz="1400" dirty="0"/>
              <a:t>For performing operations on data SQL has many  built-in functions</a:t>
            </a:r>
            <a:endParaRPr lang="en-US" sz="1400" b="1" dirty="0"/>
          </a:p>
          <a:p>
            <a:pPr lvl="1">
              <a:lnSpc>
                <a:spcPct val="100000"/>
              </a:lnSpc>
            </a:pPr>
            <a:r>
              <a:rPr lang="en-US" sz="1500" b="1" dirty="0"/>
              <a:t>Aggregate Functions:</a:t>
            </a:r>
          </a:p>
          <a:p>
            <a:pPr marL="228600" lvl="1" indent="0">
              <a:lnSpc>
                <a:spcPct val="100000"/>
              </a:lnSpc>
              <a:buNone/>
            </a:pPr>
            <a:r>
              <a:rPr lang="en-US" sz="1400" dirty="0"/>
              <a:t>These functions are used to perform operations on the the values from the columns.</a:t>
            </a:r>
          </a:p>
          <a:p>
            <a:pPr marL="571500" lvl="1" indent="-342900">
              <a:lnSpc>
                <a:spcPct val="100000"/>
              </a:lnSpc>
              <a:buFont typeface="+mj-lt"/>
              <a:buAutoNum type="arabicPeriod"/>
            </a:pPr>
            <a:r>
              <a:rPr lang="en-US" sz="1400" dirty="0"/>
              <a:t>AVG()- It returns the average values after calculating the numeric values from columns. Syntax: SELECT AVG(Column)from table</a:t>
            </a:r>
          </a:p>
          <a:p>
            <a:pPr marL="571500" lvl="1" indent="-342900">
              <a:lnSpc>
                <a:spcPct val="100000"/>
              </a:lnSpc>
              <a:buFont typeface="+mj-lt"/>
              <a:buAutoNum type="arabicPeriod"/>
            </a:pPr>
            <a:r>
              <a:rPr lang="en-US" sz="1400" dirty="0"/>
              <a:t>COUNT()-It returns the count the number of rows returned in SELECT. Syntax: SELECT COUNT(Column)from table</a:t>
            </a:r>
          </a:p>
          <a:p>
            <a:pPr marL="571500" lvl="1" indent="-342900">
              <a:lnSpc>
                <a:spcPct val="100000"/>
              </a:lnSpc>
              <a:buFont typeface="+mj-lt"/>
              <a:buAutoNum type="arabicPeriod"/>
            </a:pPr>
            <a:r>
              <a:rPr lang="en-US" sz="1400" dirty="0"/>
              <a:t>FIRST()-It returns the first values from columns. Syntax: SELECT FIRST(Column)from table</a:t>
            </a:r>
          </a:p>
          <a:p>
            <a:pPr marL="571500" lvl="1" indent="-342900">
              <a:lnSpc>
                <a:spcPct val="100000"/>
              </a:lnSpc>
              <a:buFont typeface="+mj-lt"/>
              <a:buAutoNum type="arabicPeriod"/>
            </a:pPr>
            <a:r>
              <a:rPr lang="en-US" sz="1400" dirty="0"/>
              <a:t>LAST()- It returns the last values from columns. Syntax: SELECT LAST(Column)from table</a:t>
            </a:r>
          </a:p>
          <a:p>
            <a:pPr marL="571500" lvl="1" indent="-342900">
              <a:lnSpc>
                <a:spcPct val="100000"/>
              </a:lnSpc>
              <a:buFont typeface="+mj-lt"/>
              <a:buAutoNum type="arabicPeriod"/>
            </a:pPr>
            <a:r>
              <a:rPr lang="en-US" sz="1400" dirty="0"/>
              <a:t>MAX()- It returns the maximum values of selected  columns. Syntax: SELECT MAX(Column)from table</a:t>
            </a:r>
          </a:p>
          <a:p>
            <a:pPr marL="571500" lvl="1" indent="-342900">
              <a:lnSpc>
                <a:spcPct val="100000"/>
              </a:lnSpc>
              <a:buFont typeface="+mj-lt"/>
              <a:buAutoNum type="arabicPeriod"/>
            </a:pPr>
            <a:r>
              <a:rPr lang="en-US" sz="1400" dirty="0"/>
              <a:t>MIN()-It returns the Minimum values of selected  columns. Syntax: SELECT MIN(Column)from table</a:t>
            </a:r>
          </a:p>
          <a:p>
            <a:pPr marL="571500" lvl="1" indent="-342900">
              <a:lnSpc>
                <a:spcPct val="100000"/>
              </a:lnSpc>
              <a:buFont typeface="+mj-lt"/>
              <a:buAutoNum type="arabicPeriod"/>
            </a:pPr>
            <a:r>
              <a:rPr lang="en-US" sz="1400" dirty="0"/>
              <a:t>SUM()-It returns the sum of all the  values of selected  columns. Syntax: SELECT SUM(Column)from table</a:t>
            </a:r>
          </a:p>
          <a:p>
            <a:pPr marL="228600" lvl="1" indent="0">
              <a:lnSpc>
                <a:spcPct val="100000"/>
              </a:lnSpc>
              <a:buNone/>
            </a:pPr>
            <a:endParaRPr lang="en-US" sz="1400" dirty="0"/>
          </a:p>
          <a:p>
            <a:pPr lvl="1">
              <a:lnSpc>
                <a:spcPct val="100000"/>
              </a:lnSpc>
            </a:pPr>
            <a:r>
              <a:rPr lang="en-US" sz="1500" b="1" dirty="0"/>
              <a:t>Scalar Functions:</a:t>
            </a:r>
          </a:p>
          <a:p>
            <a:pPr marL="228600" lvl="1" indent="0">
              <a:lnSpc>
                <a:spcPct val="100000"/>
              </a:lnSpc>
              <a:buNone/>
            </a:pPr>
            <a:r>
              <a:rPr lang="en-US" sz="1400" dirty="0"/>
              <a:t>These functions are based on user input.</a:t>
            </a:r>
          </a:p>
          <a:p>
            <a:pPr marL="571500" lvl="1" indent="-342900">
              <a:lnSpc>
                <a:spcPct val="100000"/>
              </a:lnSpc>
              <a:buFont typeface="+mj-lt"/>
              <a:buAutoNum type="arabicPeriod"/>
            </a:pPr>
            <a:r>
              <a:rPr lang="en-US" sz="1400" dirty="0"/>
              <a:t>UCASE()-It convert value of a field to uppercase. Syntax: SELECT UCASE(Column) from table</a:t>
            </a:r>
          </a:p>
          <a:p>
            <a:pPr marL="571500" lvl="1" indent="-342900">
              <a:lnSpc>
                <a:spcPct val="100000"/>
              </a:lnSpc>
              <a:buFont typeface="+mj-lt"/>
              <a:buAutoNum type="arabicPeriod"/>
            </a:pPr>
            <a:r>
              <a:rPr lang="en-US" sz="1400" dirty="0"/>
              <a:t>LCASE()- It convert value of a field to Lowercase. Syntax: SELECT LCASE(Column) from table</a:t>
            </a:r>
          </a:p>
          <a:p>
            <a:pPr marL="571500" lvl="1" indent="-342900">
              <a:lnSpc>
                <a:spcPct val="100000"/>
              </a:lnSpc>
              <a:buFont typeface="+mj-lt"/>
              <a:buAutoNum type="arabicPeriod"/>
            </a:pPr>
            <a:r>
              <a:rPr lang="en-US" sz="1400" dirty="0"/>
              <a:t>MID()- It extracts text from the text field. Syntax: SELECT MID(Column, Start, length) from table</a:t>
            </a:r>
          </a:p>
          <a:p>
            <a:pPr marL="571500" lvl="1" indent="-342900">
              <a:lnSpc>
                <a:spcPct val="100000"/>
              </a:lnSpc>
              <a:buFont typeface="+mj-lt"/>
              <a:buAutoNum type="arabicPeriod"/>
            </a:pPr>
            <a:r>
              <a:rPr lang="en-US" sz="1400" dirty="0"/>
              <a:t>LENGTH()- It returns the length of the value in text field. Syntax: SELECT LENGTH(Column) from table</a:t>
            </a:r>
          </a:p>
          <a:p>
            <a:pPr marL="571500" lvl="1" indent="-342900">
              <a:lnSpc>
                <a:spcPct val="100000"/>
              </a:lnSpc>
              <a:buFont typeface="+mj-lt"/>
              <a:buAutoNum type="arabicPeriod"/>
            </a:pPr>
            <a:r>
              <a:rPr lang="en-US" sz="1400" dirty="0"/>
              <a:t>ROUND()-It is used to roundoff the numeric value. SELECT ROUND(Column, decimals) from table</a:t>
            </a:r>
          </a:p>
          <a:p>
            <a:pPr marL="571500" lvl="1" indent="-342900">
              <a:lnSpc>
                <a:spcPct val="100000"/>
              </a:lnSpc>
              <a:buFont typeface="+mj-lt"/>
              <a:buAutoNum type="arabicPeriod"/>
            </a:pPr>
            <a:r>
              <a:rPr lang="en-US" sz="1400" dirty="0"/>
              <a:t>NOW()-It returns current system date and time. SELECT NOW(Column) from table</a:t>
            </a:r>
          </a:p>
          <a:p>
            <a:pPr marL="571500" lvl="1" indent="-342900">
              <a:lnSpc>
                <a:spcPct val="100000"/>
              </a:lnSpc>
              <a:buFont typeface="+mj-lt"/>
              <a:buAutoNum type="arabicPeriod"/>
            </a:pPr>
            <a:r>
              <a:rPr lang="en-US" sz="1400" dirty="0"/>
              <a:t>FORMAT()-It is used to format how the fields are to be displayed. SELECT FORMAT(</a:t>
            </a:r>
            <a:r>
              <a:rPr lang="en-US" sz="1400" dirty="0" err="1"/>
              <a:t>Column,format</a:t>
            </a:r>
            <a:r>
              <a:rPr lang="en-US" sz="1400" dirty="0"/>
              <a:t>) from table</a:t>
            </a:r>
          </a:p>
          <a:p>
            <a:pPr marL="457200" indent="-457200">
              <a:buFont typeface="+mj-lt"/>
              <a:buAutoNum type="arabicPeriod"/>
            </a:pPr>
            <a:endParaRPr lang="en-US" dirty="0"/>
          </a:p>
        </p:txBody>
      </p:sp>
      <p:sp>
        <p:nvSpPr>
          <p:cNvPr id="4" name="Title 1">
            <a:extLst>
              <a:ext uri="{FF2B5EF4-FFF2-40B4-BE49-F238E27FC236}">
                <a16:creationId xmlns:a16="http://schemas.microsoft.com/office/drawing/2014/main" id="{AC23D0C1-8800-4645-8560-44C6CE6959F1}"/>
              </a:ext>
            </a:extLst>
          </p:cNvPr>
          <p:cNvSpPr txBox="1">
            <a:spLocks/>
          </p:cNvSpPr>
          <p:nvPr/>
        </p:nvSpPr>
        <p:spPr>
          <a:xfrm>
            <a:off x="711633" y="167286"/>
            <a:ext cx="10325000" cy="642011"/>
          </a:xfrm>
          <a:prstGeom prst="rect">
            <a:avLst/>
          </a:prstGeom>
        </p:spPr>
        <p:txBody>
          <a:bodyPr vert="horz" lIns="91440" tIns="45720" rIns="91440" bIns="45720" rtlCol="0" anchor="b">
            <a:normAutofit lnSpcReduction="10000"/>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US" sz="2900" dirty="0"/>
              <a:t>SQL Commonly used</a:t>
            </a:r>
            <a:r>
              <a:rPr lang="en-US" sz="1700" dirty="0"/>
              <a:t> </a:t>
            </a:r>
            <a:r>
              <a:rPr lang="en-US" sz="4000" b="1" dirty="0">
                <a:solidFill>
                  <a:srgbClr val="0070C0"/>
                </a:solidFill>
              </a:rPr>
              <a:t>Functions</a:t>
            </a:r>
          </a:p>
        </p:txBody>
      </p:sp>
    </p:spTree>
    <p:extLst>
      <p:ext uri="{BB962C8B-B14F-4D97-AF65-F5344CB8AC3E}">
        <p14:creationId xmlns:p14="http://schemas.microsoft.com/office/powerpoint/2010/main" val="1154208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F6167-3FD9-42D6-8A64-08EA2AE8397D}"/>
              </a:ext>
            </a:extLst>
          </p:cNvPr>
          <p:cNvSpPr>
            <a:spLocks noGrp="1"/>
          </p:cNvSpPr>
          <p:nvPr>
            <p:ph type="title"/>
          </p:nvPr>
        </p:nvSpPr>
        <p:spPr/>
        <p:txBody>
          <a:bodyPr/>
          <a:lstStyle/>
          <a:p>
            <a:r>
              <a:rPr lang="en-US" dirty="0">
                <a:solidFill>
                  <a:srgbClr val="0070C0"/>
                </a:solidFill>
              </a:rPr>
              <a:t>Knowledge</a:t>
            </a:r>
            <a:r>
              <a:rPr lang="en-US" dirty="0"/>
              <a:t> Check</a:t>
            </a:r>
            <a:br>
              <a:rPr lang="en-US" dirty="0"/>
            </a:br>
            <a:r>
              <a:rPr lang="en-US" dirty="0">
                <a:solidFill>
                  <a:srgbClr val="00B050"/>
                </a:solidFill>
              </a:rPr>
              <a:t>True</a:t>
            </a:r>
            <a:r>
              <a:rPr lang="en-US" dirty="0"/>
              <a:t> or </a:t>
            </a:r>
            <a:r>
              <a:rPr lang="en-US" dirty="0">
                <a:solidFill>
                  <a:srgbClr val="FF0000"/>
                </a:solidFill>
              </a:rPr>
              <a:t>False</a:t>
            </a:r>
            <a:endParaRPr lang="en-US" dirty="0"/>
          </a:p>
        </p:txBody>
      </p:sp>
      <p:sp>
        <p:nvSpPr>
          <p:cNvPr id="3" name="Content Placeholder 2">
            <a:extLst>
              <a:ext uri="{FF2B5EF4-FFF2-40B4-BE49-F238E27FC236}">
                <a16:creationId xmlns:a16="http://schemas.microsoft.com/office/drawing/2014/main" id="{5F31B49D-9811-4E74-A835-51E301D5F941}"/>
              </a:ext>
            </a:extLst>
          </p:cNvPr>
          <p:cNvSpPr>
            <a:spLocks noGrp="1"/>
          </p:cNvSpPr>
          <p:nvPr>
            <p:ph idx="1"/>
          </p:nvPr>
        </p:nvSpPr>
        <p:spPr/>
        <p:txBody>
          <a:bodyPr/>
          <a:lstStyle/>
          <a:p>
            <a:pPr marL="457200" indent="-457200">
              <a:buFont typeface="+mj-lt"/>
              <a:buAutoNum type="arabicPeriod"/>
            </a:pPr>
            <a:r>
              <a:rPr lang="en-US" sz="2000" dirty="0"/>
              <a:t>SQL is usually controlled by File management system.</a:t>
            </a:r>
            <a:endParaRPr lang="en-US" dirty="0"/>
          </a:p>
          <a:p>
            <a:pPr marL="457200" indent="-457200">
              <a:buFont typeface="+mj-lt"/>
              <a:buAutoNum type="arabicPeriod"/>
            </a:pPr>
            <a:r>
              <a:rPr lang="en-US" dirty="0"/>
              <a:t>According to ANSI(</a:t>
            </a:r>
            <a:r>
              <a:rPr lang="en-US" sz="2000" dirty="0"/>
              <a:t>American National Standards Institute</a:t>
            </a:r>
            <a:r>
              <a:rPr lang="en-US" dirty="0"/>
              <a:t>), SQL is </a:t>
            </a:r>
            <a:r>
              <a:rPr lang="en-US" sz="2000" dirty="0"/>
              <a:t>standard language for Relational database management system.</a:t>
            </a:r>
          </a:p>
          <a:p>
            <a:pPr marL="457200" indent="-457200">
              <a:buFont typeface="+mj-lt"/>
              <a:buAutoNum type="arabicPeriod"/>
            </a:pPr>
            <a:r>
              <a:rPr lang="en-US" sz="2000" dirty="0"/>
              <a:t>Rm command is used to remove </a:t>
            </a:r>
            <a:r>
              <a:rPr lang="en-US" dirty="0"/>
              <a:t>directory from the location.</a:t>
            </a:r>
            <a:endParaRPr lang="en-US" sz="2000" dirty="0"/>
          </a:p>
          <a:p>
            <a:pPr marL="457200" indent="-457200">
              <a:buFont typeface="+mj-lt"/>
              <a:buAutoNum type="arabicPeriod"/>
            </a:pPr>
            <a:endParaRPr lang="en-US" sz="2000" dirty="0"/>
          </a:p>
          <a:p>
            <a:endParaRPr lang="en-US" dirty="0"/>
          </a:p>
        </p:txBody>
      </p:sp>
    </p:spTree>
    <p:extLst>
      <p:ext uri="{BB962C8B-B14F-4D97-AF65-F5344CB8AC3E}">
        <p14:creationId xmlns:p14="http://schemas.microsoft.com/office/powerpoint/2010/main" val="2658490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418BB-AD16-4F16-9A9D-4F9B18ABD845}"/>
              </a:ext>
            </a:extLst>
          </p:cNvPr>
          <p:cNvSpPr>
            <a:spLocks noGrp="1"/>
          </p:cNvSpPr>
          <p:nvPr>
            <p:ph type="title"/>
          </p:nvPr>
        </p:nvSpPr>
        <p:spPr>
          <a:xfrm>
            <a:off x="2982334" y="2407606"/>
            <a:ext cx="10325000" cy="1442463"/>
          </a:xfrm>
        </p:spPr>
        <p:txBody>
          <a:bodyPr>
            <a:normAutofit/>
          </a:bodyPr>
          <a:lstStyle/>
          <a:p>
            <a:r>
              <a:rPr lang="en-US" sz="6600" dirty="0"/>
              <a:t>Any </a:t>
            </a:r>
            <a:r>
              <a:rPr lang="en-US" sz="6600" b="1" dirty="0">
                <a:solidFill>
                  <a:srgbClr val="0070C0"/>
                </a:solidFill>
              </a:rPr>
              <a:t>Questions</a:t>
            </a:r>
            <a:r>
              <a:rPr lang="en-US" sz="6600" dirty="0"/>
              <a:t>?</a:t>
            </a:r>
          </a:p>
        </p:txBody>
      </p:sp>
    </p:spTree>
    <p:extLst>
      <p:ext uri="{BB962C8B-B14F-4D97-AF65-F5344CB8AC3E}">
        <p14:creationId xmlns:p14="http://schemas.microsoft.com/office/powerpoint/2010/main" val="4208813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61ACDD9-9726-4142-9B26-8E9761714A55}"/>
              </a:ext>
            </a:extLst>
          </p:cNvPr>
          <p:cNvSpPr txBox="1">
            <a:spLocks/>
          </p:cNvSpPr>
          <p:nvPr/>
        </p:nvSpPr>
        <p:spPr>
          <a:xfrm>
            <a:off x="2982334" y="2407606"/>
            <a:ext cx="10325000" cy="1442463"/>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r>
              <a:rPr lang="en-US" sz="6600" dirty="0"/>
              <a:t>Thank </a:t>
            </a:r>
            <a:r>
              <a:rPr lang="en-US" sz="6600" b="1" dirty="0">
                <a:solidFill>
                  <a:srgbClr val="0070C0"/>
                </a:solidFill>
              </a:rPr>
              <a:t>you</a:t>
            </a:r>
            <a:r>
              <a:rPr lang="en-US" sz="6600" dirty="0"/>
              <a:t>.!</a:t>
            </a:r>
          </a:p>
        </p:txBody>
      </p:sp>
    </p:spTree>
    <p:extLst>
      <p:ext uri="{BB962C8B-B14F-4D97-AF65-F5344CB8AC3E}">
        <p14:creationId xmlns:p14="http://schemas.microsoft.com/office/powerpoint/2010/main" val="2256191285"/>
      </p:ext>
    </p:extLst>
  </p:cSld>
  <p:clrMapOvr>
    <a:masterClrMapping/>
  </p:clrMapOvr>
</p:sld>
</file>

<file path=ppt/theme/theme1.xml><?xml version="1.0" encoding="utf-8"?>
<a:theme xmlns:a="http://schemas.openxmlformats.org/drawingml/2006/main" name="CosineVTI">
  <a:themeElements>
    <a:clrScheme name="AnalogousFromLightSeedRightStep">
      <a:dk1>
        <a:srgbClr val="000000"/>
      </a:dk1>
      <a:lt1>
        <a:srgbClr val="FFFFFF"/>
      </a:lt1>
      <a:dk2>
        <a:srgbClr val="243141"/>
      </a:dk2>
      <a:lt2>
        <a:srgbClr val="E2E3E8"/>
      </a:lt2>
      <a:accent1>
        <a:srgbClr val="AAA180"/>
      </a:accent1>
      <a:accent2>
        <a:srgbClr val="9CA671"/>
      </a:accent2>
      <a:accent3>
        <a:srgbClr val="8FA880"/>
      </a:accent3>
      <a:accent4>
        <a:srgbClr val="76AD78"/>
      </a:accent4>
      <a:accent5>
        <a:srgbClr val="81AB94"/>
      </a:accent5>
      <a:accent6>
        <a:srgbClr val="74AAA2"/>
      </a:accent6>
      <a:hlink>
        <a:srgbClr val="6978AE"/>
      </a:hlink>
      <a:folHlink>
        <a:srgbClr val="7F7F7F"/>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docMetadata/LabelInfo.xml><?xml version="1.0" encoding="utf-8"?>
<clbl:labelList xmlns:clbl="http://schemas.microsoft.com/office/2020/mipLabelMetadata">
  <clbl:label id="{0bfa236d-8472-42aa-9a40-ab46036c5596}" enabled="1" method="Privileged" siteId="{e0793d39-0939-496d-b129-198edd916feb}" contentBits="0" removed="0"/>
</clbl:labelList>
</file>

<file path=docProps/app.xml><?xml version="1.0" encoding="utf-8"?>
<Properties xmlns="http://schemas.openxmlformats.org/officeDocument/2006/extended-properties" xmlns:vt="http://schemas.openxmlformats.org/officeDocument/2006/docPropsVTypes">
  <TotalTime>1284</TotalTime>
  <Words>1458</Words>
  <Application>Microsoft Office PowerPoint</Application>
  <PresentationFormat>Widescreen</PresentationFormat>
  <Paragraphs>228</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CosineVTI</vt:lpstr>
      <vt:lpstr>ETL and SQL Fundamentals</vt:lpstr>
      <vt:lpstr>What is ETL?</vt:lpstr>
      <vt:lpstr>Unix</vt:lpstr>
      <vt:lpstr>Basic Commands:</vt:lpstr>
      <vt:lpstr>What is   SQL (Structured    Query Language) ?</vt:lpstr>
      <vt:lpstr>What is   Database ?</vt:lpstr>
      <vt:lpstr>SQL Statements</vt:lpstr>
      <vt:lpstr>Data Definition Language(DDL) Statement</vt:lpstr>
      <vt:lpstr>Data Manipulation Language(DML) Statement</vt:lpstr>
      <vt:lpstr>Data Control Language(DCL) Statement</vt:lpstr>
      <vt:lpstr>Transaction Control Language(DCL) Statement</vt:lpstr>
      <vt:lpstr>PowerPoint Presentation</vt:lpstr>
      <vt:lpstr>SQL DATA TYPES</vt:lpstr>
      <vt:lpstr>Structure of an SQL Statement</vt:lpstr>
      <vt:lpstr>PowerPoint Presentation</vt:lpstr>
      <vt:lpstr>PowerPoint Presentation</vt:lpstr>
      <vt:lpstr>Knowledge Check True or False</vt:lpstr>
      <vt:lpstr>Any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Fundamentals</dc:title>
  <dc:creator>Pradip Tikhe, Kalyani</dc:creator>
  <cp:lastModifiedBy>Mutalikdesai, Suma</cp:lastModifiedBy>
  <cp:revision>30</cp:revision>
  <dcterms:created xsi:type="dcterms:W3CDTF">2022-12-28T21:21:54Z</dcterms:created>
  <dcterms:modified xsi:type="dcterms:W3CDTF">2026-10-06T09:53:45Z</dcterms:modified>
</cp:coreProperties>
</file>