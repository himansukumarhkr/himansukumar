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1" r:id="rId6"/>
    <p:sldId id="261" r:id="rId7"/>
    <p:sldId id="263" r:id="rId8"/>
    <p:sldId id="264" r:id="rId9"/>
    <p:sldId id="267" r:id="rId10"/>
    <p:sldId id="266" r:id="rId11"/>
    <p:sldId id="268" r:id="rId12"/>
    <p:sldId id="269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737"/>
    <a:srgbClr val="2089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Q1: Resiliency </a:t>
            </a:r>
            <a:r>
              <a:rPr lang="en-US"/>
              <a:t>is the ability to stay available </a:t>
            </a:r>
            <a:r>
              <a:t>and </a:t>
            </a:r>
            <a:r>
              <a:rPr lang="en-US"/>
              <a:t>recover correctly when a component fails </a:t>
            </a:r>
            <a:r>
              <a:t>(slide </a:t>
            </a:r>
            <a:r>
              <a:rPr lang="en-US"/>
              <a:t>3</a:t>
            </a:r>
            <a:r>
              <a:t>).</a:t>
            </a:r>
          </a:p>
          <a:p>
            <a:r>
              <a:t>Q2: </a:t>
            </a:r>
            <a:r>
              <a:rPr lang="en-US"/>
              <a:t>Fault tolerance - operations continue when a component fails </a:t>
            </a:r>
            <a:r>
              <a:t>(slide </a:t>
            </a:r>
            <a:r>
              <a:rPr lang="en-US"/>
              <a:t>3</a:t>
            </a:r>
            <a:r>
              <a:t>).</a:t>
            </a:r>
          </a:p>
          <a:p>
            <a:r>
              <a:t>Q3: </a:t>
            </a:r>
            <a:r>
              <a:rPr lang="en-US"/>
              <a:t>Failover </a:t>
            </a:r>
            <a:r>
              <a:t>and </a:t>
            </a:r>
            <a:r>
              <a:rPr lang="en-US"/>
              <a:t>recovery - processing shifts to </a:t>
            </a:r>
            <a:r>
              <a:t>a </a:t>
            </a:r>
            <a:r>
              <a:rPr lang="en-US"/>
              <a:t>healthy component </a:t>
            </a:r>
            <a:r>
              <a:t>(slide </a:t>
            </a:r>
            <a:r>
              <a:rPr lang="en-US"/>
              <a:t>3</a:t>
            </a:r>
            <a:r>
              <a:t>).</a:t>
            </a:r>
          </a:p>
          <a:p>
            <a:r>
              <a:t>Q4: </a:t>
            </a:r>
            <a:r>
              <a:rPr lang="en-US"/>
              <a:t>Split brain </a:t>
            </a:r>
            <a:r>
              <a:t>- </a:t>
            </a:r>
            <a:r>
              <a:rPr lang="en-US"/>
              <a:t>conflicting </a:t>
            </a:r>
            <a:r>
              <a:t>or duplicate </a:t>
            </a:r>
            <a:r>
              <a:rPr lang="en-US"/>
              <a:t>updates; prevented by the observer allowing only one active owner </a:t>
            </a:r>
            <a:r>
              <a:t>(</a:t>
            </a:r>
            <a:r>
              <a:rPr lang="en-US"/>
              <a:t>slides 3 and 10</a:t>
            </a:r>
            <a: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answer and link it back to the slide where it was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6556248"/>
            <a:ext cx="11567160" cy="0"/>
          </a:xfrm>
          <a:prstGeom prst="line">
            <a:avLst/>
          </a:prstGeom>
          <a:noFill/>
          <a:ln w="762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Label"/>
          <p:cNvSpPr txBox="1"/>
          <p:nvPr/>
        </p:nvSpPr>
        <p:spPr>
          <a:xfrm>
            <a:off x="7315200" y="297180"/>
            <a:ext cx="4416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900" b="1" spc="60">
                <a:solidFill>
                  <a:srgbClr val="445664"/>
                </a:solidFill>
                <a:latin typeface="Aptos"/>
              </a:rPr>
              <a:t>RESILIENCY TESTING | PAYMENT APPLICATIONS</a:t>
            </a:r>
          </a:p>
        </p:txBody>
      </p:sp>
      <p:sp>
        <p:nvSpPr>
          <p:cNvPr id="5" name="Text 3"/>
          <p:cNvSpPr/>
          <p:nvPr/>
        </p:nvSpPr>
        <p:spPr>
          <a:xfrm>
            <a:off x="329184" y="659282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45664"/>
                </a:solidFill>
              </a:rPr>
              <a:t>Illustrative resilience-testing guidance. Validate application-specific procedures against the approved internal standard.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7315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7315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18399"/>
            <a:ext cx="12191695" cy="6858000"/>
          </a:xfrm>
          <a:prstGeom prst="rect">
            <a:avLst/>
          </a:prstGeom>
          <a:solidFill>
            <a:srgbClr val="083B4C"/>
          </a:solidFill>
          <a:ln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42816" cy="6858000"/>
          </a:xfrm>
          <a:prstGeom prst="rect">
            <a:avLst/>
          </a:prstGeom>
          <a:solidFill>
            <a:srgbClr val="134F61"/>
          </a:solidFill>
          <a:ln>
            <a:solidFill>
              <a:srgbClr val="13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2179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RESILIENCY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649224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D3EEF3"/>
                </a:solidFill>
                <a:latin typeface="Aptos"/>
              </a:rPr>
              <a:t>Validating service continuity, data integrity and controlled recovery across the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52928"/>
            <a:ext cx="6400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ptos"/>
              </a:rPr>
              <a:t>Application  •  Messaging  •  Database  •  Gateway  •  Data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80760"/>
            <a:ext cx="47548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ED2DB"/>
                </a:solidFill>
                <a:latin typeface="Aptos"/>
              </a:rPr>
              <a:t>Cross-technology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9728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24160" y="9144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0" y="22860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0" y="27432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3749039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0" y="466344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155680" y="54864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7D909-8C40-7BB5-F56C-11D2EF7F6778}"/>
              </a:ext>
            </a:extLst>
          </p:cNvPr>
          <p:cNvSpPr txBox="1"/>
          <p:nvPr/>
        </p:nvSpPr>
        <p:spPr>
          <a:xfrm>
            <a:off x="3543384" y="3424317"/>
            <a:ext cx="209392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</a:rPr>
              <a:t>Amit Tiwari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Session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5920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445664"/>
                </a:solidFill>
                <a:latin typeface="Aptos"/>
              </a:rPr>
              <a:t>Topics covered in the resiliency testing learning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840920"/>
              </p:ext>
            </p:extLst>
          </p:nvPr>
        </p:nvGraphicFramePr>
        <p:xfrm>
          <a:off x="658368" y="1115568"/>
          <a:ext cx="108813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S. No.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Session coverage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01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Resiliency and its fundamentals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02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Resiliency testing versus performance testing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03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Application criticality and standards in Barclays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04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Application flow and types of failovers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05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Application server failover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06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Database server failover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07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Database synchronization and role of observer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6144768"/>
            <a:ext cx="10881360" cy="310896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128040"/>
            <a:ext cx="1056132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dirty="0">
                <a:solidFill>
                  <a:srgbClr val="208955"/>
                </a:solidFill>
                <a:latin typeface="Aptos"/>
              </a:rPr>
              <a:t>Outcome: Understand what to test, where to inject failure, and what evidence demonstrates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What resiliency means in a payment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5919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 dirty="0">
                <a:solidFill>
                  <a:srgbClr val="445664"/>
                </a:solidFill>
                <a:latin typeface="Aptos"/>
              </a:rPr>
              <a:t>Resiliency is the ability to stay available and recover correctly when a component fails</a:t>
            </a:r>
            <a:endParaRPr sz="1400" b="0" dirty="0">
              <a:solidFill>
                <a:srgbClr val="445664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298448"/>
            <a:ext cx="23774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dirty="0">
                <a:solidFill>
                  <a:srgbClr val="008B8B"/>
                </a:solidFill>
                <a:latin typeface="Aptos"/>
              </a:rPr>
              <a:t>Fault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47088"/>
            <a:ext cx="2377440" cy="160043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400" b="0" dirty="0">
                <a:solidFill>
                  <a:srgbClr val="1F313D"/>
                </a:solidFill>
                <a:latin typeface="Aptos"/>
              </a:rPr>
              <a:t>Operations continue when a component fails.
</a:t>
            </a:r>
            <a:r>
              <a:rPr lang="en-US" sz="1400" b="1" dirty="0">
                <a:solidFill>
                  <a:srgbClr val="1F313D"/>
                </a:solidFill>
                <a:latin typeface="Aptos"/>
              </a:rPr>
              <a:t>Example: </a:t>
            </a:r>
            <a:r>
              <a:rPr lang="en-US" sz="1400" b="0" dirty="0">
                <a:solidFill>
                  <a:srgbClr val="1F313D"/>
                </a:solidFill>
                <a:latin typeface="Aptos"/>
              </a:rPr>
              <a:t>One server or pod crashes, while remaining instances continue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298448"/>
            <a:ext cx="23774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dirty="0">
                <a:solidFill>
                  <a:srgbClr val="20709E"/>
                </a:solidFill>
                <a:latin typeface="Aptos"/>
              </a:rPr>
              <a:t>Failover and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847088"/>
            <a:ext cx="2440930" cy="13849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400" b="0" dirty="0">
                <a:solidFill>
                  <a:srgbClr val="1F313D"/>
                </a:solidFill>
                <a:latin typeface="Aptos"/>
              </a:rPr>
              <a:t>Traffic or processing shifts to a healthy component when the primary component fails.
</a:t>
            </a:r>
            <a:r>
              <a:rPr lang="en-US" sz="1400" b="1" dirty="0">
                <a:solidFill>
                  <a:srgbClr val="1F313D"/>
                </a:solidFill>
                <a:latin typeface="Aptos"/>
              </a:rPr>
              <a:t>Example:</a:t>
            </a:r>
            <a:r>
              <a:rPr lang="en-US" sz="1400" b="0" dirty="0">
                <a:solidFill>
                  <a:srgbClr val="1F313D"/>
                </a:solidFill>
                <a:latin typeface="Aptos"/>
              </a:rPr>
              <a:t> DC1 fails and DC 2 continues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dirty="0">
                <a:solidFill>
                  <a:srgbClr val="208955"/>
                </a:solidFill>
                <a:latin typeface="Aptos"/>
              </a:rPr>
              <a:t>Data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2377440" cy="246221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400" b="0" dirty="0">
                <a:solidFill>
                  <a:srgbClr val="1F313D"/>
                </a:solidFill>
                <a:latin typeface="Aptos"/>
              </a:rPr>
              <a:t>Recovery must not cause lost payments, duplicate debits or inconsistent ledger entries.
</a:t>
            </a:r>
            <a:r>
              <a:rPr lang="en-US" sz="1400" b="1" dirty="0">
                <a:solidFill>
                  <a:srgbClr val="1F313D"/>
                </a:solidFill>
                <a:latin typeface="Aptos"/>
              </a:rPr>
              <a:t>Example:</a:t>
            </a:r>
            <a:r>
              <a:rPr lang="en-US" sz="1400" b="0" dirty="0">
                <a:solidFill>
                  <a:srgbClr val="1F313D"/>
                </a:solidFill>
                <a:latin typeface="Aptos"/>
              </a:rPr>
              <a:t> Customer transfers $1000 from Account A to Account B, before the credit to Account B completes, active data base node fails, other available instance picks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298448"/>
            <a:ext cx="23774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dirty="0">
                <a:solidFill>
                  <a:srgbClr val="C48219"/>
                </a:solidFill>
                <a:latin typeface="Aptos"/>
              </a:rPr>
              <a:t>Split-brain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847088"/>
            <a:ext cx="2377440" cy="203132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400" b="0" dirty="0">
                <a:solidFill>
                  <a:srgbClr val="1F313D"/>
                </a:solidFill>
                <a:latin typeface="Aptos"/>
              </a:rPr>
              <a:t>Isolated sites must not independently process conflicting updates when only one site should have write authority.
</a:t>
            </a:r>
            <a:r>
              <a:rPr lang="en-US" sz="1400" b="1" dirty="0">
                <a:solidFill>
                  <a:srgbClr val="1F313D"/>
                </a:solidFill>
                <a:latin typeface="Aptos"/>
              </a:rPr>
              <a:t>Example:</a:t>
            </a:r>
            <a:r>
              <a:rPr lang="en-US" sz="1400" b="0" dirty="0">
                <a:solidFill>
                  <a:srgbClr val="1F313D"/>
                </a:solidFill>
                <a:latin typeface="Aptos"/>
              </a:rPr>
              <a:t> Both sites attempt the same payment</a:t>
            </a:r>
            <a:r>
              <a:rPr lang="en-US" sz="1400" dirty="0">
                <a:solidFill>
                  <a:srgbClr val="1F313D"/>
                </a:solidFill>
                <a:latin typeface="Aptos"/>
              </a:rPr>
              <a:t> resulting in duplicate processing</a:t>
            </a:r>
            <a:r>
              <a:rPr lang="en-US" sz="1400" b="0" dirty="0">
                <a:solidFill>
                  <a:srgbClr val="1F313D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01184"/>
            <a:ext cx="11311128" cy="1078992"/>
          </a:xfrm>
          <a:prstGeom prst="roundRect">
            <a:avLst/>
          </a:prstGeom>
          <a:solidFill>
            <a:srgbClr val="E2EDF2"/>
          </a:solidFill>
          <a:ln w="17780"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389" y="5202484"/>
            <a:ext cx="10386635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dirty="0">
                <a:solidFill>
                  <a:srgbClr val="083B4C"/>
                </a:solidFill>
                <a:latin typeface="Aptos"/>
              </a:rPr>
              <a:t>Resilience is proven only when the end-to-end transaction journey, data integrity, monitoring and recovery remain effective throughout failure and restoration.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0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dirty="0">
                <a:solidFill>
                  <a:srgbClr val="083B4C"/>
                </a:solidFill>
                <a:latin typeface="Aptos"/>
              </a:rPr>
              <a:t>Resiliency testing vs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5919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 dirty="0">
                <a:latin typeface="Aptos"/>
              </a:rPr>
              <a:t>Key focus area for Performance &amp; Resiliency Testing </a:t>
            </a:r>
            <a:endParaRPr sz="1400" b="0" dirty="0"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247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805" y="1051667"/>
            <a:ext cx="1088136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1F313D"/>
                </a:solidFill>
                <a:latin typeface="Aptos"/>
              </a:rPr>
              <a:t>Resiliency testing validates continuity and recovery during controlled failure. Performance testing measures behavior under workload.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22912"/>
              </p:ext>
            </p:extLst>
          </p:nvPr>
        </p:nvGraphicFramePr>
        <p:xfrm>
          <a:off x="457200" y="1609344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Dimension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/>
                        <a:t>Resiliency testing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Performance testing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Primary question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What happens when a component fails?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How does the system behave under workload?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Trigger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Controlled fault, failover and recovery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Load, stress, spike, endurance or volume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Success focus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Continuity, correctness, detection and recovery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Throughput, latency, resource usage and stability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Typical evidence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Failover timestamps, routing, alerts and reconciliation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TPS, response time, utilization and errors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Relationship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Uses representative load while failure is introduced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Provides workload and capacity baseline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257800"/>
            <a:ext cx="5504688" cy="960120"/>
          </a:xfrm>
          <a:prstGeom prst="roundRect">
            <a:avLst/>
          </a:prstGeom>
          <a:solidFill>
            <a:srgbClr val="E8F3F8"/>
          </a:solidFill>
          <a:ln w="1524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323368"/>
            <a:ext cx="150876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dirty="0">
                <a:solidFill>
                  <a:srgbClr val="20709E"/>
                </a:solidFill>
                <a:latin typeface="Aptos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58546"/>
            <a:ext cx="507492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1F313D"/>
                </a:solidFill>
                <a:latin typeface="Aptos"/>
              </a:rPr>
              <a:t>Can the application handle </a:t>
            </a:r>
            <a:r>
              <a:rPr lang="en-US" sz="1400" dirty="0">
                <a:solidFill>
                  <a:srgbClr val="1F313D"/>
                </a:solidFill>
                <a:latin typeface="Aptos"/>
              </a:rPr>
              <a:t>100</a:t>
            </a:r>
            <a:r>
              <a:rPr sz="1400" b="0" dirty="0">
                <a:solidFill>
                  <a:srgbClr val="1F313D"/>
                </a:solidFill>
                <a:latin typeface="Aptos"/>
              </a:rPr>
              <a:t> TPS within the required response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5257800"/>
            <a:ext cx="5504688" cy="96012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5323368"/>
            <a:ext cx="137160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dirty="0">
                <a:solidFill>
                  <a:srgbClr val="208955"/>
                </a:solidFill>
                <a:latin typeface="Aptos"/>
              </a:rPr>
              <a:t>RESILIENCY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5553974"/>
            <a:ext cx="507492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1F313D"/>
                </a:solidFill>
                <a:latin typeface="Aptos"/>
              </a:rPr>
              <a:t>If a database node fails at </a:t>
            </a:r>
            <a:r>
              <a:rPr lang="en-US" sz="1400" dirty="0">
                <a:solidFill>
                  <a:srgbClr val="1F313D"/>
                </a:solidFill>
                <a:latin typeface="Aptos"/>
              </a:rPr>
              <a:t>100</a:t>
            </a:r>
            <a:r>
              <a:rPr sz="1400" b="0" dirty="0">
                <a:solidFill>
                  <a:srgbClr val="1F313D"/>
                </a:solidFill>
                <a:latin typeface="Aptos"/>
              </a:rPr>
              <a:t> TPS, can processing recover without lost or duplicate payments?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48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RES Cat 0 and RES Cat 1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6009"/>
            <a:ext cx="1115568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dirty="0">
                <a:solidFill>
                  <a:srgbClr val="445664"/>
                </a:solidFill>
                <a:latin typeface="Aptos"/>
              </a:rPr>
              <a:t>Service criticality drives resiliency scope, evidence and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321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 dirty="0">
                <a:solidFill>
                  <a:srgbClr val="C03737"/>
                </a:solidFill>
                <a:latin typeface="Aptos"/>
              </a:rPr>
              <a:t>RES Cat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2776" y="1089785"/>
            <a:ext cx="1901952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400" b="1" dirty="0">
                <a:solidFill>
                  <a:srgbClr val="C03737"/>
                </a:solidFill>
                <a:latin typeface="Aptos"/>
              </a:rPr>
              <a:t>HIGHEST</a:t>
            </a:r>
            <a:r>
              <a:rPr sz="950" b="1" dirty="0">
                <a:solidFill>
                  <a:srgbClr val="C03737"/>
                </a:solidFill>
                <a:latin typeface="Aptos"/>
              </a:rPr>
              <a:t> </a:t>
            </a:r>
            <a:r>
              <a:rPr sz="1400" b="1" dirty="0">
                <a:solidFill>
                  <a:srgbClr val="C03737"/>
                </a:solidFill>
                <a:latin typeface="Aptos"/>
              </a:rPr>
              <a:t>CRITICALITY</a:t>
            </a:r>
            <a:endParaRPr lang="en-US" sz="1400" b="1" dirty="0">
              <a:solidFill>
                <a:srgbClr val="C037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74112"/>
            <a:ext cx="5166360" cy="93564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dirty="0">
                <a:solidFill>
                  <a:srgbClr val="1F313D"/>
                </a:solidFill>
                <a:latin typeface="Aptos"/>
              </a:rPr>
              <a:t>Confirm mandatory scenarios, outage tolerance, recovery expectations, evidence and governance from the approved internal standard. Classification applies to the business service, not an individual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005840"/>
            <a:ext cx="55321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11556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 dirty="0">
                <a:solidFill>
                  <a:srgbClr val="C48219"/>
                </a:solidFill>
                <a:latin typeface="Aptos"/>
              </a:rPr>
              <a:t>RES Cat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5208" y="1089785"/>
            <a:ext cx="1901952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400" b="1" dirty="0">
                <a:solidFill>
                  <a:srgbClr val="C48219"/>
                </a:solidFill>
                <a:latin typeface="Aptos"/>
              </a:rPr>
              <a:t>CRITICAL</a:t>
            </a:r>
            <a:r>
              <a:rPr sz="950" b="1" dirty="0">
                <a:solidFill>
                  <a:srgbClr val="C48219"/>
                </a:solidFill>
                <a:latin typeface="Aptos"/>
              </a:rPr>
              <a:t> </a:t>
            </a:r>
            <a:r>
              <a:rPr sz="1400" b="1" dirty="0">
                <a:solidFill>
                  <a:srgbClr val="C48219"/>
                </a:solidFill>
                <a:latin typeface="Aptos"/>
              </a:rPr>
              <a:t>SERVICE</a:t>
            </a:r>
            <a:endParaRPr lang="en-US" sz="1400" b="1" dirty="0">
              <a:solidFill>
                <a:srgbClr val="C4821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4224" y="1381834"/>
            <a:ext cx="5166360" cy="72019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dirty="0">
                <a:solidFill>
                  <a:srgbClr val="1F313D"/>
                </a:solidFill>
                <a:latin typeface="Aptos"/>
              </a:rPr>
              <a:t>Confirm required scenarios, recovery behavior, tolerances, evidence and sign-off from the approved internal standard. Do not infer classification from server count or architecture alone.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88902"/>
              </p:ext>
            </p:extLst>
          </p:nvPr>
        </p:nvGraphicFramePr>
        <p:xfrm>
          <a:off x="457200" y="2377440"/>
          <a:ext cx="11274552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T="18288" marB="18288" anchor="ctr"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 Cat 0</a:t>
                      </a:r>
                    </a:p>
                  </a:txBody>
                  <a:tcPr marT="18288" marB="18288" anchor="ctr"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 Cat 1</a:t>
                      </a:r>
                    </a:p>
                  </a:txBody>
                  <a:tcPr marT="18288" marB="18288" anchor="ctr"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Business criticality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sz="1400"/>
                        <a:t>Highest</a:t>
                      </a:r>
                    </a:p>
                  </a:txBody>
                  <a:tcPr marT="18288" marB="18288" anchor="ctr"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48219"/>
                          </a:solidFill>
                          <a:latin typeface="Aptos"/>
                        </a:defRPr>
                      </a:pPr>
                      <a:r>
                        <a:rPr sz="1400"/>
                        <a:t>Very High</a:t>
                      </a:r>
                    </a:p>
                  </a:txBody>
                  <a:tcPr marT="18288" marB="18288" anchor="ctr">
                    <a:solidFill>
                      <a:srgbClr val="FA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Failover / recovery time</a:t>
                      </a:r>
                    </a:p>
                  </a:txBody>
                  <a:tcPr marT="18288" marB="18288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sz="1400"/>
                        <a:t>≤ 5 mins</a:t>
                      </a:r>
                    </a:p>
                  </a:txBody>
                  <a:tcPr marT="18288" marB="18288" anchor="ctr"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48219"/>
                          </a:solidFill>
                          <a:latin typeface="Aptos"/>
                        </a:defRPr>
                      </a:pPr>
                      <a:r>
                        <a:rPr sz="1400"/>
                        <a:t>≤ 4 hrs</a:t>
                      </a:r>
                    </a:p>
                  </a:txBody>
                  <a:tcPr marT="18288" marB="18288" anchor="ctr">
                    <a:solidFill>
                      <a:srgbClr val="FA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Maximum data loss 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sz="1400"/>
                        <a:t>≤ 5 mins</a:t>
                      </a:r>
                    </a:p>
                  </a:txBody>
                  <a:tcPr marT="18288" marB="18288" anchor="ctr"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48219"/>
                          </a:solidFill>
                          <a:latin typeface="Aptos"/>
                        </a:defRPr>
                      </a:pPr>
                      <a:r>
                        <a:rPr sz="1400"/>
                        <a:t>≤ 15 mins</a:t>
                      </a:r>
                    </a:p>
                  </a:txBody>
                  <a:tcPr marT="18288" marB="18288" anchor="ctr">
                    <a:solidFill>
                      <a:srgbClr val="FA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Dual-site operation</a:t>
                      </a:r>
                    </a:p>
                  </a:txBody>
                  <a:tcPr marT="18288" marB="18288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sz="1400" dirty="0"/>
                        <a:t>Required</a:t>
                      </a:r>
                    </a:p>
                  </a:txBody>
                  <a:tcPr marT="18288" marB="18288" anchor="ctr"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C48219"/>
                          </a:solidFill>
                          <a:latin typeface="Aptos"/>
                        </a:defRPr>
                      </a:pPr>
                      <a:r>
                        <a:rPr sz="1400" dirty="0"/>
                        <a:t>Required</a:t>
                      </a:r>
                    </a:p>
                  </a:txBody>
                  <a:tcPr marT="18288" marB="18288" anchor="ctr">
                    <a:solidFill>
                      <a:srgbClr val="FA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5004554"/>
            <a:ext cx="32849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83B4C"/>
                </a:solidFill>
                <a:latin typeface="Aptos"/>
              </a:rPr>
              <a:t>KEY DRIVERS FOR RESILIENCY TESTING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5024653"/>
            <a:ext cx="25855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83B4C"/>
                </a:solidFill>
                <a:latin typeface="Aptos"/>
              </a:rPr>
              <a:t>TYPES OF RESILIENCY EXECUTIONS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" y="5532120"/>
            <a:ext cx="2542032" cy="3474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Infra changes like
Oracle Upgrade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112" y="5532120"/>
            <a:ext cx="2542032" cy="3474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Queue Manager
config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" y="5971031"/>
            <a:ext cx="2542032" cy="3474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Major application
upgrades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5971031"/>
            <a:ext cx="2542032" cy="3474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Gateway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5532120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Application
Failover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5532120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Server
Failover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47504" y="5532120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DB
Failover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5971031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MQ
Failover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5971031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Kafka
Failover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47504" y="5971031"/>
            <a:ext cx="1609344" cy="34747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313D"/>
                </a:solidFill>
                <a:latin typeface="Aptos"/>
              </a:rPr>
              <a:t>Gateway
Failover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321"/>
            <a:ext cx="11155680" cy="43088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dirty="0">
                <a:solidFill>
                  <a:srgbClr val="083B4C"/>
                </a:solidFill>
                <a:latin typeface="Aptos"/>
              </a:rPr>
              <a:t>Application flow and failover coverage</a:t>
            </a:r>
            <a:r>
              <a:rPr lang="en-US" sz="2200" b="1" dirty="0">
                <a:solidFill>
                  <a:srgbClr val="083B4C"/>
                </a:solidFill>
                <a:latin typeface="Aptos"/>
              </a:rPr>
              <a:t> – RES CAT 0</a:t>
            </a:r>
            <a:endParaRPr sz="2200" b="1" dirty="0">
              <a:solidFill>
                <a:srgbClr val="083B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95920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dirty="0">
                <a:solidFill>
                  <a:srgbClr val="445664"/>
                </a:solidFill>
                <a:latin typeface="Aptos"/>
              </a:rPr>
              <a:t>E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nd-to-end flow with active-active Oracle database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78992"/>
            <a:ext cx="2084831" cy="2963845"/>
          </a:xfrm>
          <a:prstGeom prst="roundRect">
            <a:avLst/>
          </a:prstGeom>
          <a:solidFill>
            <a:srgbClr val="E8F5ED"/>
          </a:solidFill>
          <a:ln w="16510">
            <a:solidFill>
              <a:srgbClr val="2089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205407"/>
            <a:ext cx="1901951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08955"/>
                </a:solidFill>
                <a:latin typeface="Aptos"/>
              </a:rPr>
              <a:t>PAYMENT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078992"/>
            <a:ext cx="2971800" cy="5210159"/>
          </a:xfrm>
          <a:prstGeom prst="roundRect">
            <a:avLst/>
          </a:prstGeom>
          <a:solidFill>
            <a:srgbClr val="FAF3E2"/>
          </a:solidFill>
          <a:ln w="16510">
            <a:solidFill>
              <a:srgbClr val="C4821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78608" y="1205407"/>
            <a:ext cx="2788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C48219"/>
                </a:solidFill>
                <a:latin typeface="Aptos"/>
              </a:rPr>
              <a:t>APPLICATION SECURE ZONE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9552" y="1078992"/>
            <a:ext cx="2907792" cy="3663539"/>
          </a:xfrm>
          <a:prstGeom prst="roundRect">
            <a:avLst/>
          </a:prstGeom>
          <a:solidFill>
            <a:srgbClr val="E5F3F4"/>
          </a:solidFill>
          <a:ln w="16510">
            <a:solidFill>
              <a:srgbClr val="008B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50992" y="1205407"/>
            <a:ext cx="272491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08B8B"/>
                </a:solidFill>
                <a:latin typeface="Aptos"/>
              </a:rPr>
              <a:t>SWIFT SECURE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67928" y="1078992"/>
            <a:ext cx="3273552" cy="3547411"/>
          </a:xfrm>
          <a:prstGeom prst="roundRect">
            <a:avLst/>
          </a:prstGeom>
          <a:solidFill>
            <a:srgbClr val="EBEFF7"/>
          </a:solidFill>
          <a:ln w="16510">
            <a:solidFill>
              <a:srgbClr val="2070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7" y="1205407"/>
            <a:ext cx="30906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0709E"/>
                </a:solidFill>
                <a:latin typeface="Aptos"/>
              </a:rPr>
              <a:t>MV-SIPN SECURITY ZONE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009758"/>
            <a:ext cx="1645920" cy="110194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" y="2095347"/>
            <a:ext cx="1499616" cy="93076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08955"/>
                </a:solidFill>
                <a:latin typeface="Aptos"/>
              </a:rPr>
              <a:t>Instant Payments
Processor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1763694"/>
            <a:ext cx="2395728" cy="151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4" y="2107787"/>
            <a:ext cx="2249424" cy="83099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C48219"/>
                </a:solidFill>
                <a:latin typeface="Aptos"/>
              </a:rPr>
              <a:t>SEPA INSTANT MESSAGING INTERFACE</a:t>
            </a:r>
            <a:r>
              <a:rPr sz="1200" b="1" dirty="0">
                <a:solidFill>
                  <a:srgbClr val="C48219"/>
                </a:solidFill>
                <a:latin typeface="Aptos"/>
              </a:rPr>
              <a:t>
</a:t>
            </a:r>
            <a:r>
              <a:rPr lang="en-US" sz="1200" b="1" dirty="0">
                <a:solidFill>
                  <a:srgbClr val="C48219"/>
                </a:solidFill>
                <a:latin typeface="Aptos"/>
              </a:rPr>
              <a:t>MPO Server- Application Process </a:t>
            </a:r>
            <a:endParaRPr sz="1200" b="1" dirty="0">
              <a:solidFill>
                <a:srgbClr val="C4821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2160" y="1956267"/>
            <a:ext cx="2286000" cy="12303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5312" y="2041855"/>
            <a:ext cx="2139696" cy="10591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08B8B"/>
                </a:solidFill>
                <a:latin typeface="Aptos"/>
              </a:rPr>
              <a:t>Instant Payments Gateway
Connector (SWIFT AGI)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041855"/>
            <a:ext cx="1517904" cy="104845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2127443"/>
            <a:ext cx="1371600" cy="8772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0709E"/>
                </a:solidFill>
                <a:latin typeface="Aptos"/>
              </a:rPr>
              <a:t>SWIFT VPN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25328" y="1913473"/>
            <a:ext cx="914400" cy="4814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2021601"/>
            <a:ext cx="768096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0709E"/>
                </a:solidFill>
                <a:latin typeface="Aptos"/>
              </a:rPr>
              <a:t>BT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25328" y="2683764"/>
            <a:ext cx="914400" cy="4814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0" y="2791891"/>
            <a:ext cx="768096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0709E"/>
                </a:solidFill>
                <a:latin typeface="Aptos"/>
              </a:rPr>
              <a:t>Orange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2165939"/>
            <a:ext cx="502920" cy="201168"/>
          </a:xfrm>
          <a:prstGeom prst="rect">
            <a:avLst/>
          </a:prstGeom>
          <a:solidFill>
            <a:srgbClr val="FAF3E2"/>
          </a:solidFill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08955"/>
                </a:solidFill>
                <a:latin typeface="Aptos"/>
              </a:rPr>
              <a:t>Kafka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2187336"/>
            <a:ext cx="384048" cy="201168"/>
          </a:xfrm>
          <a:prstGeom prst="rect">
            <a:avLst/>
          </a:prstGeom>
          <a:solidFill>
            <a:srgbClr val="E5F3F4"/>
          </a:solidFill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83B4C"/>
                </a:solidFill>
                <a:latin typeface="Aptos"/>
              </a:rPr>
              <a:t>MQ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0405872" y="2138141"/>
            <a:ext cx="219456" cy="310255"/>
          </a:xfrm>
          <a:prstGeom prst="line">
            <a:avLst/>
          </a:prstGeom>
          <a:ln w="25400">
            <a:solidFill>
              <a:srgbClr val="207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05872" y="2705160"/>
            <a:ext cx="219456" cy="213969"/>
          </a:xfrm>
          <a:prstGeom prst="line">
            <a:avLst/>
          </a:prstGeom>
          <a:ln w="25400">
            <a:solidFill>
              <a:srgbClr val="207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378440" y="3646627"/>
            <a:ext cx="1261872" cy="66330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69880" y="3764310"/>
            <a:ext cx="1078992" cy="40654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083B4C"/>
                </a:solidFill>
                <a:latin typeface="Aptos"/>
              </a:rPr>
              <a:t>SWIFT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082528" y="3165195"/>
            <a:ext cx="1" cy="481431"/>
          </a:xfrm>
          <a:prstGeom prst="line">
            <a:avLst/>
          </a:prstGeom>
          <a:ln w="25400">
            <a:solidFill>
              <a:srgbClr val="207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355081" y="3635928"/>
            <a:ext cx="1453886" cy="8584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3783284"/>
            <a:ext cx="77724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008B8B"/>
                </a:solidFill>
              </a:rPr>
              <a:t>70ms SLA</a:t>
            </a:r>
            <a:endParaRPr sz="1100" b="1" dirty="0">
              <a:solidFill>
                <a:srgbClr val="008B8B"/>
              </a:solidFill>
              <a:latin typeface="Aptos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6995160" y="3186592"/>
            <a:ext cx="1" cy="449336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779776" y="4235043"/>
            <a:ext cx="2377440" cy="13373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26080" y="4395886"/>
            <a:ext cx="2084831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C48219"/>
                </a:solidFill>
                <a:latin typeface="Aptos"/>
              </a:rPr>
              <a:t>Active-Active Oracle 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99232" y="4898349"/>
            <a:ext cx="804672" cy="460034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54096" y="5002590"/>
            <a:ext cx="69494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08955"/>
                </a:solidFill>
                <a:latin typeface="Aptos"/>
              </a:rPr>
              <a:t>GL DB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33087" y="4898349"/>
            <a:ext cx="804672" cy="460034"/>
          </a:xfrm>
          <a:prstGeom prst="roundRect">
            <a:avLst/>
          </a:prstGeom>
          <a:solidFill>
            <a:srgbClr val="EDEFF9"/>
          </a:solidFill>
          <a:ln w="1270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7952" y="5002590"/>
            <a:ext cx="69494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0709E"/>
                </a:solidFill>
                <a:latin typeface="Aptos"/>
              </a:rPr>
              <a:t>SLO 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90406" y="5729826"/>
            <a:ext cx="2606040" cy="4174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08B8B"/>
                </a:solidFill>
                <a:latin typeface="Aptos"/>
              </a:rPr>
              <a:t>24*7 Available 20ms SLA</a:t>
            </a:r>
            <a:endParaRPr sz="1100" b="1" dirty="0">
              <a:solidFill>
                <a:srgbClr val="008B8B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75F7B0-2B18-70F8-A41B-CBA27939D615}"/>
              </a:ext>
            </a:extLst>
          </p:cNvPr>
          <p:cNvSpPr txBox="1"/>
          <p:nvPr/>
        </p:nvSpPr>
        <p:spPr>
          <a:xfrm>
            <a:off x="2953512" y="2938784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48219"/>
                </a:solidFill>
                <a:latin typeface="Aptos"/>
              </a:rPr>
              <a:t>       GL1 GL2           SL1 SL2 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CF228D0-8690-2722-848B-7398BE708CC3}"/>
              </a:ext>
            </a:extLst>
          </p:cNvPr>
          <p:cNvCxnSpPr/>
          <p:nvPr/>
        </p:nvCxnSpPr>
        <p:spPr>
          <a:xfrm>
            <a:off x="3441940" y="3282878"/>
            <a:ext cx="0" cy="16154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B89BF60-15B6-A5EF-4B94-AA14E25D6C36}"/>
              </a:ext>
            </a:extLst>
          </p:cNvPr>
          <p:cNvCxnSpPr/>
          <p:nvPr/>
        </p:nvCxnSpPr>
        <p:spPr>
          <a:xfrm>
            <a:off x="4485736" y="3282878"/>
            <a:ext cx="0" cy="16154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A29A1-DBC5-4E6F-1087-E2B9A1934E3F}"/>
              </a:ext>
            </a:extLst>
          </p:cNvPr>
          <p:cNvCxnSpPr/>
          <p:nvPr/>
        </p:nvCxnSpPr>
        <p:spPr>
          <a:xfrm>
            <a:off x="2176272" y="2388504"/>
            <a:ext cx="566928" cy="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8A411AF-48DD-6B10-ED28-BC246908BB43}"/>
              </a:ext>
            </a:extLst>
          </p:cNvPr>
          <p:cNvCxnSpPr/>
          <p:nvPr/>
        </p:nvCxnSpPr>
        <p:spPr>
          <a:xfrm>
            <a:off x="5166360" y="244839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B2571AF-CFE2-2776-B70B-938C61D9210F}"/>
              </a:ext>
            </a:extLst>
          </p:cNvPr>
          <p:cNvCxnSpPr/>
          <p:nvPr/>
        </p:nvCxnSpPr>
        <p:spPr>
          <a:xfrm>
            <a:off x="8138160" y="2448396"/>
            <a:ext cx="749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0EE37F9-CDE1-E9E7-C857-07E5E53A0671}"/>
              </a:ext>
            </a:extLst>
          </p:cNvPr>
          <p:cNvCxnSpPr>
            <a:cxnSpLocks/>
          </p:cNvCxnSpPr>
          <p:nvPr/>
        </p:nvCxnSpPr>
        <p:spPr>
          <a:xfrm flipH="1">
            <a:off x="8138160" y="2791891"/>
            <a:ext cx="749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3C1E1B0-28E0-A3A3-C2B2-65F061A09E0D}"/>
              </a:ext>
            </a:extLst>
          </p:cNvPr>
          <p:cNvCxnSpPr/>
          <p:nvPr/>
        </p:nvCxnSpPr>
        <p:spPr>
          <a:xfrm flipH="1">
            <a:off x="5166360" y="2791891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98E99B-9022-9894-F88A-8F5D435E9EC6}"/>
              </a:ext>
            </a:extLst>
          </p:cNvPr>
          <p:cNvCxnSpPr>
            <a:cxnSpLocks/>
          </p:cNvCxnSpPr>
          <p:nvPr/>
        </p:nvCxnSpPr>
        <p:spPr>
          <a:xfrm flipH="1">
            <a:off x="2176272" y="2791891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08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Application server failover | Execution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5920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445664"/>
                </a:solidFill>
                <a:latin typeface="Aptos"/>
              </a:rPr>
              <a:t>Controlled server shutdown and recovery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005840"/>
            <a:ext cx="8972507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069848"/>
            <a:ext cx="109270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dirty="0">
                <a:solidFill>
                  <a:srgbClr val="083B4C"/>
                </a:solidFill>
                <a:latin typeface="Aptos"/>
              </a:rPr>
              <a:t>• Database ownership remains unchanged during application-server failover.
• Unix team brings servers down and validates automatic restart when each server is restored.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964252"/>
              </p:ext>
            </p:extLst>
          </p:nvPr>
        </p:nvGraphicFramePr>
        <p:xfrm>
          <a:off x="438912" y="1828800"/>
          <a:ext cx="897250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6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Server</a:t>
                      </a:r>
                      <a:r>
                        <a:rPr dirty="0"/>
                        <a:t> GL1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Server</a:t>
                      </a:r>
                      <a:r>
                        <a:rPr dirty="0"/>
                        <a:t> GL2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Server </a:t>
                      </a:r>
                      <a:r>
                        <a:rPr dirty="0"/>
                        <a:t>SL1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Server</a:t>
                      </a:r>
                      <a:r>
                        <a:rPr dirty="0"/>
                        <a:t> SL2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 criteria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dirty="0"/>
                        <a:t>T – Load Test </a:t>
                      </a:r>
                      <a:endParaRPr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GL1, GL2, SL1 and SL2.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dirty="0"/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, </a:t>
                      </a:r>
                      <a:r>
                        <a:rPr lang="en-US" sz="1400" dirty="0"/>
                        <a:t>S</a:t>
                      </a:r>
                      <a:r>
                        <a:rPr sz="1400" dirty="0"/>
                        <a:t>L</a:t>
                      </a:r>
                      <a:r>
                        <a:rPr lang="en-US" sz="1400" dirty="0"/>
                        <a:t>1</a:t>
                      </a:r>
                      <a:r>
                        <a:rPr sz="1400" dirty="0"/>
                        <a:t> and SL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 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+ 15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dirty="0"/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dirty="0"/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Messages processed by SL1 and SL2.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+ 25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C03737"/>
                          </a:solidFill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only by </a:t>
                      </a:r>
                      <a:r>
                        <a:rPr lang="en-US" sz="1400" dirty="0"/>
                        <a:t>S</a:t>
                      </a:r>
                      <a:r>
                        <a:rPr sz="1400" dirty="0"/>
                        <a:t>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+ 35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dirty="0"/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GL1 and SL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 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+ 45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C03737"/>
                          </a:solidFill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only by </a:t>
                      </a:r>
                      <a:r>
                        <a:rPr lang="en-US" sz="1400" dirty="0"/>
                        <a:t>G</a:t>
                      </a:r>
                      <a:r>
                        <a:rPr sz="1400" dirty="0"/>
                        <a:t>L1.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+ 55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dirty="0">
                          <a:solidFill>
                            <a:srgbClr val="C03737"/>
                          </a:solidFill>
                        </a:rPr>
                        <a:t>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GL1 and </a:t>
                      </a:r>
                      <a:r>
                        <a:rPr lang="en-US" sz="1400" dirty="0"/>
                        <a:t>G</a:t>
                      </a:r>
                      <a:r>
                        <a:rPr sz="1400" dirty="0"/>
                        <a:t>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 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+ 65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737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208955"/>
                          </a:solidFill>
                        </a:rPr>
                        <a:t>UP</a:t>
                      </a:r>
                      <a:endParaRPr dirty="0">
                        <a:solidFill>
                          <a:srgbClr val="208955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dirty="0"/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C03737"/>
                          </a:solidFill>
                        </a:rPr>
                        <a:t>DOWN</a:t>
                      </a:r>
                      <a:endParaRPr dirty="0">
                        <a:solidFill>
                          <a:srgbClr val="C03737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GL1, </a:t>
                      </a:r>
                      <a:r>
                        <a:rPr lang="en-US" sz="1400" dirty="0"/>
                        <a:t>G</a:t>
                      </a:r>
                      <a:r>
                        <a:rPr sz="1400" dirty="0"/>
                        <a:t>L</a:t>
                      </a:r>
                      <a:r>
                        <a:rPr lang="en-US" sz="1400" dirty="0"/>
                        <a:t>2</a:t>
                      </a:r>
                      <a:r>
                        <a:rPr sz="1400" dirty="0"/>
                        <a:t> and SL</a:t>
                      </a:r>
                      <a:r>
                        <a:rPr lang="en-US" sz="1400" dirty="0"/>
                        <a:t>1</a:t>
                      </a:r>
                      <a:r>
                        <a:rPr sz="1400" dirty="0"/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dirty="0"/>
                        <a:t>T + 75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08955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Messages processed by GL1, GL2, SL1 and SL2.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3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1155" y="182321"/>
            <a:ext cx="11386005" cy="43088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2200" b="1" dirty="0">
                <a:solidFill>
                  <a:srgbClr val="083B4C"/>
                </a:solidFill>
                <a:latin typeface="Aptos"/>
              </a:rPr>
              <a:t>Database</a:t>
            </a:r>
            <a:r>
              <a:rPr sz="2200" b="1" dirty="0">
                <a:solidFill>
                  <a:srgbClr val="083B4C"/>
                </a:solidFill>
                <a:latin typeface="Aptos"/>
              </a:rPr>
              <a:t> failover | Execution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155" y="674924"/>
            <a:ext cx="11477445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dirty="0">
                <a:solidFill>
                  <a:srgbClr val="445664"/>
                </a:solidFill>
                <a:latin typeface="Aptos"/>
              </a:rPr>
              <a:t>Primary instances are stopped one at a time. When both primary instances in one cluster are unavailable, the writable role moves to the healthy node in the other cluster.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962381"/>
              </p:ext>
            </p:extLst>
          </p:nvPr>
        </p:nvGraphicFramePr>
        <p:xfrm>
          <a:off x="120770" y="1353312"/>
          <a:ext cx="8154551" cy="4965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3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75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Time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DB GL1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DB GL2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SL1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SL2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Success criteria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53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</a:t>
                      </a:r>
                      <a:r>
                        <a:rPr lang="en-US" sz="1400" dirty="0"/>
                        <a:t>- Load Test 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All four servers process load; primary database is active on the GL cluster.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53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T+10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Primary moves to GL2 within the same site; processing resumes when GL becomes available.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53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T+30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Primary switches to the SL cluster; GL nodes become read only and load continues.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53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T+50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Primary moves to SL2 within the same site; all servers resume processing.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753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T+60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Primary switches to the GL cluster; SL nodes become read only and load continues.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94192" y="1353312"/>
            <a:ext cx="33375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83B4C"/>
                </a:solidFill>
                <a:latin typeface="Aptos"/>
              </a:rPr>
              <a:t>Database service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783080"/>
            <a:ext cx="3337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0496" y="1856231"/>
            <a:ext cx="3035808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08955"/>
                </a:solidFill>
                <a:latin typeface="Aptos"/>
              </a:rPr>
              <a:t>Read / Write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2119175"/>
            <a:ext cx="3035808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dirty="0">
                <a:solidFill>
                  <a:srgbClr val="1F313D"/>
                </a:solidFill>
                <a:latin typeface="Aptos"/>
              </a:rPr>
              <a:t>Commits or changes data. Writes route only to the approved writable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2862072"/>
            <a:ext cx="3337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2935224"/>
            <a:ext cx="3035808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0709E"/>
                </a:solidFill>
                <a:latin typeface="Aptos"/>
              </a:rPr>
              <a:t>Read-only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3198167"/>
            <a:ext cx="3035808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dirty="0">
                <a:solidFill>
                  <a:srgbClr val="1F313D"/>
                </a:solidFill>
                <a:latin typeface="Aptos"/>
              </a:rPr>
              <a:t>Runs queries that do not change data; routing follows the approved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3941063"/>
            <a:ext cx="3337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4014215"/>
            <a:ext cx="3035808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C48219"/>
                </a:solidFill>
                <a:latin typeface="Aptos"/>
              </a:rPr>
              <a:t>Singleton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4270248"/>
            <a:ext cx="303580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dirty="0">
                <a:solidFill>
                  <a:srgbClr val="1F313D"/>
                </a:solidFill>
                <a:latin typeface="Aptos"/>
              </a:rPr>
              <a:t>One active owner or writer at a time; standby does not run concurrently.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5020056"/>
            <a:ext cx="3337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0496" y="5093208"/>
            <a:ext cx="3035808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Database synchronisation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5349240"/>
            <a:ext cx="303580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dirty="0">
                <a:solidFill>
                  <a:srgbClr val="1F313D"/>
                </a:solidFill>
                <a:latin typeface="Aptos"/>
              </a:rPr>
              <a:t>Moves and applies changes so standby remains aligned within approved lag.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3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8023" y="182321"/>
            <a:ext cx="11429137" cy="43088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2200" b="1" dirty="0">
                <a:solidFill>
                  <a:srgbClr val="083B4C"/>
                </a:solidFill>
                <a:latin typeface="Aptos"/>
              </a:rPr>
              <a:t>D</a:t>
            </a:r>
            <a:r>
              <a:rPr sz="2200" b="1" dirty="0">
                <a:solidFill>
                  <a:srgbClr val="083B4C"/>
                </a:solidFill>
                <a:latin typeface="Aptos"/>
              </a:rPr>
              <a:t>atabase failover | Execution steps</a:t>
            </a:r>
            <a:r>
              <a:rPr lang="en-US" sz="2200" b="1" dirty="0">
                <a:solidFill>
                  <a:srgbClr val="083B4C"/>
                </a:solidFill>
                <a:latin typeface="Aptos"/>
              </a:rPr>
              <a:t> – Active - Active</a:t>
            </a:r>
            <a:endParaRPr sz="2200" b="1" dirty="0">
              <a:solidFill>
                <a:srgbClr val="083B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314" y="586775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 dirty="0">
                <a:solidFill>
                  <a:srgbClr val="445664"/>
                </a:solidFill>
                <a:latin typeface="Aptos"/>
              </a:rPr>
              <a:t>Active-active across two data centre’s: one primary database on GLO and one on SLO</a:t>
            </a:r>
            <a:endParaRPr sz="1400" b="0" dirty="0">
              <a:solidFill>
                <a:srgbClr val="445664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963" y="817382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 dirty="0">
                <a:solidFill>
                  <a:srgbClr val="445664"/>
                </a:solidFill>
                <a:latin typeface="Aptos"/>
              </a:rPr>
              <a:t>Nodes 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are stopped one at a time. </a:t>
            </a:r>
            <a:r>
              <a:rPr lang="en-US" sz="1400" b="0" dirty="0">
                <a:solidFill>
                  <a:srgbClr val="445664"/>
                </a:solidFill>
                <a:latin typeface="Aptos"/>
              </a:rPr>
              <a:t>Each DC keeps its own 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primary</a:t>
            </a:r>
            <a:r>
              <a:rPr lang="en-US" sz="1400" b="0" dirty="0">
                <a:solidFill>
                  <a:srgbClr val="445664"/>
                </a:solidFill>
                <a:latin typeface="Aptos"/>
              </a:rPr>
              <a:t>; if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 one </a:t>
            </a:r>
            <a:r>
              <a:rPr lang="en-US" sz="1400" b="0" dirty="0">
                <a:solidFill>
                  <a:srgbClr val="445664"/>
                </a:solidFill>
                <a:latin typeface="Aptos"/>
              </a:rPr>
              <a:t>DC is fully down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, the other </a:t>
            </a:r>
            <a:r>
              <a:rPr lang="en-US" sz="1400" b="0" dirty="0">
                <a:solidFill>
                  <a:srgbClr val="445664"/>
                </a:solidFill>
                <a:latin typeface="Aptos"/>
              </a:rPr>
              <a:t>DC continues processing until it is restored</a:t>
            </a:r>
            <a:r>
              <a:rPr sz="1400" b="0" dirty="0">
                <a:solidFill>
                  <a:srgbClr val="445664"/>
                </a:solidFill>
                <a:latin typeface="Aptos"/>
              </a:rPr>
              <a:t>.</a:t>
            </a:r>
            <a:r>
              <a:rPr lang="en-US" sz="1400" b="0" dirty="0">
                <a:solidFill>
                  <a:srgbClr val="445664"/>
                </a:solidFill>
                <a:latin typeface="Aptos"/>
              </a:rPr>
              <a:t> No DB synch between cross site.</a:t>
            </a:r>
            <a:endParaRPr sz="1400" b="0" dirty="0">
              <a:solidFill>
                <a:srgbClr val="445664"/>
              </a:solidFill>
              <a:latin typeface="Apto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9283"/>
              </p:ext>
            </p:extLst>
          </p:nvPr>
        </p:nvGraphicFramePr>
        <p:xfrm>
          <a:off x="138023" y="1353312"/>
          <a:ext cx="10688127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2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Time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GL1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GL2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SL1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 SL2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 criteria</a:t>
                      </a:r>
                    </a:p>
                  </a:txBody>
                  <a:tcPr marL="73152" marR="73152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sz="1400" dirty="0"/>
                        <a:t>T</a:t>
                      </a:r>
                      <a:r>
                        <a:rPr lang="en-US" sz="1400" dirty="0"/>
                        <a:t>- Load Test starts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Both DCs active: GL1 is primary on GLO and SL1 is primary on SLO; all four servers process load.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T+10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Abort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GL1 stopped; GL2 becomes primary on GLO within the same site; SLO continues primary on SL1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0374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T+30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Abort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Abort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GLO cluster unavailable; SLO continues processing on SL1 with no lost or duplicate payments.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36416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T+50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Abort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GLO restored with GL1 as primary; SL1 stopped and SL2 becomes primary on SLO.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4859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T+60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Abort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Abort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SLO cluster unavailable; GLO continues processing on GL1 as primary with no lost or duplicate payments.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492726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T+70 min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Read Write</a:t>
                      </a:r>
                      <a:endParaRPr sz="14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/>
                        <a:t>Read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313D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All nodes restored; both DCs active again with GL1 and SL1 as primary, matching the start state.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985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3B4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70000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rmAutofit fontScale="92500" lnSpcReduction="10000"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83B4C"/>
                </a:solidFill>
                <a:latin typeface="Aptos"/>
              </a:rPr>
              <a:t>Database failover | Role of the observer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603504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4A5A66"/>
                </a:solidFill>
                <a:latin typeface="Aptos"/>
              </a:rPr>
              <a:t>The observer checks that the databases are in sync. It does not process payments and does not store data.</a:t>
            </a:r>
          </a:p>
        </p:txBody>
      </p:sp>
      <p:sp>
        <p:nvSpPr>
          <p:cNvPr id="5" name="Observer"/>
          <p:cNvSpPr/>
          <p:nvPr/>
        </p:nvSpPr>
        <p:spPr>
          <a:xfrm>
            <a:off x="2160000" y="1100000"/>
            <a:ext cx="3200000" cy="640000"/>
          </a:xfrm>
          <a:prstGeom prst="roundRect">
            <a:avLst>
              <a:gd name="adj" fmla="val 10000"/>
            </a:avLst>
          </a:prstGeom>
          <a:solidFill>
            <a:srgbClr val="083B4C"/>
          </a:solidFill>
          <a:ln w="12700">
            <a:solidFill>
              <a:srgbClr val="083B4C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Observer / Cluster manager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D7E3EA"/>
                </a:solidFill>
                <a:latin typeface="Aptos"/>
              </a:rPr>
              <a:t>Watches health and DB sync</a:t>
            </a:r>
          </a:p>
        </p:txBody>
      </p:sp>
      <p:cxnSp>
        <p:nvCxnSpPr>
          <p:cNvPr id="6" name="Obs Down"/>
          <p:cNvCxnSpPr/>
          <p:nvPr/>
        </p:nvCxnSpPr>
        <p:spPr>
          <a:xfrm>
            <a:off x="3760000" y="1740000"/>
            <a:ext cx="0" cy="310000"/>
          </a:xfrm>
          <a:prstGeom prst="line">
            <a:avLst/>
          </a:prstGeom>
          <a:ln w="19050">
            <a:solidFill>
              <a:srgbClr val="083B4C"/>
            </a:solidFill>
            <a:prstDash val="dash"/>
          </a:ln>
        </p:spPr>
      </p:cxnSp>
      <p:cxnSp>
        <p:nvCxnSpPr>
          <p:cNvPr id="7" name="Obs Bar"/>
          <p:cNvCxnSpPr/>
          <p:nvPr/>
        </p:nvCxnSpPr>
        <p:spPr>
          <a:xfrm>
            <a:off x="1957200" y="2050000"/>
            <a:ext cx="3602800" cy="0"/>
          </a:xfrm>
          <a:prstGeom prst="line">
            <a:avLst/>
          </a:prstGeom>
          <a:ln w="19050">
            <a:solidFill>
              <a:srgbClr val="083B4C"/>
            </a:solidFill>
            <a:prstDash val="dash"/>
          </a:ln>
        </p:spPr>
      </p:cxnSp>
      <p:cxnSp>
        <p:nvCxnSpPr>
          <p:cNvPr id="8" name="Obs SL"/>
          <p:cNvCxnSpPr/>
          <p:nvPr/>
        </p:nvCxnSpPr>
        <p:spPr>
          <a:xfrm>
            <a:off x="1957200" y="2050000"/>
            <a:ext cx="0" cy="250000"/>
          </a:xfrm>
          <a:prstGeom prst="line">
            <a:avLst/>
          </a:prstGeom>
          <a:ln w="19050">
            <a:solidFill>
              <a:srgbClr val="083B4C"/>
            </a:solidFill>
            <a:prstDash val="dash"/>
          </a:ln>
        </p:spPr>
      </p:cxnSp>
      <p:cxnSp>
        <p:nvCxnSpPr>
          <p:cNvPr id="9" name="Obs GL"/>
          <p:cNvCxnSpPr/>
          <p:nvPr/>
        </p:nvCxnSpPr>
        <p:spPr>
          <a:xfrm>
            <a:off x="5560000" y="2050000"/>
            <a:ext cx="0" cy="250000"/>
          </a:xfrm>
          <a:prstGeom prst="line">
            <a:avLst/>
          </a:prstGeom>
          <a:ln w="19050">
            <a:solidFill>
              <a:srgbClr val="083B4C"/>
            </a:solidFill>
            <a:prstDash val="dash"/>
          </a:ln>
        </p:spPr>
      </p:cxnSp>
      <p:sp>
        <p:nvSpPr>
          <p:cNvPr id="10" name="Slough Zone"/>
          <p:cNvSpPr/>
          <p:nvPr/>
        </p:nvSpPr>
        <p:spPr>
          <a:xfrm>
            <a:off x="457200" y="2300000"/>
            <a:ext cx="3000000" cy="2900000"/>
          </a:xfrm>
          <a:prstGeom prst="roundRect">
            <a:avLst>
              <a:gd name="adj" fmla="val 10000"/>
            </a:avLst>
          </a:prstGeom>
          <a:solidFill>
            <a:srgbClr val="F5F9FC"/>
          </a:solidFill>
          <a:ln w="15875">
            <a:solidFill>
              <a:srgbClr val="2F6E9E"/>
            </a:solidFill>
            <a:prstDash val="dash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Slough Label"/>
          <p:cNvSpPr/>
          <p:nvPr/>
        </p:nvSpPr>
        <p:spPr>
          <a:xfrm>
            <a:off x="548640" y="2380000"/>
            <a:ext cx="281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F6E9E"/>
                </a:solidFill>
                <a:latin typeface="Aptos"/>
              </a:rPr>
              <a:t>SLOUGH SITE</a:t>
            </a:r>
          </a:p>
        </p:txBody>
      </p:sp>
      <p:sp>
        <p:nvSpPr>
          <p:cNvPr id="12" name="Slough App SL1"/>
          <p:cNvSpPr/>
          <p:nvPr/>
        </p:nvSpPr>
        <p:spPr>
          <a:xfrm>
            <a:off x="640200" y="2850000"/>
            <a:ext cx="1250000" cy="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F6E9E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83B4C"/>
                </a:solidFill>
                <a:latin typeface="Aptos"/>
              </a:rPr>
              <a:t>App SL1</a:t>
            </a:r>
          </a:p>
        </p:txBody>
      </p:sp>
      <p:sp>
        <p:nvSpPr>
          <p:cNvPr id="13" name="Slough App SL2"/>
          <p:cNvSpPr/>
          <p:nvPr/>
        </p:nvSpPr>
        <p:spPr>
          <a:xfrm>
            <a:off x="2020200" y="2850000"/>
            <a:ext cx="1250000" cy="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F6E9E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83B4C"/>
                </a:solidFill>
                <a:latin typeface="Aptos"/>
              </a:rPr>
              <a:t>App SL2</a:t>
            </a:r>
          </a:p>
        </p:txBody>
      </p:sp>
      <p:sp>
        <p:nvSpPr>
          <p:cNvPr id="14" name="Slough DB"/>
          <p:cNvSpPr/>
          <p:nvPr/>
        </p:nvSpPr>
        <p:spPr>
          <a:xfrm>
            <a:off x="757200" y="3850000"/>
            <a:ext cx="2400000" cy="10000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9050">
            <a:solidFill>
              <a:srgbClr val="2F6E9E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83B4C"/>
                </a:solidFill>
                <a:latin typeface="Aptos"/>
              </a:rPr>
              <a:t>Database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2F6E9E"/>
                </a:solidFill>
                <a:latin typeface="Aptos"/>
              </a:rPr>
              <a:t>Standby</a:t>
            </a:r>
          </a:p>
        </p:txBody>
      </p:sp>
      <p:sp>
        <p:nvSpPr>
          <p:cNvPr id="15" name="Gloucester Zone"/>
          <p:cNvSpPr/>
          <p:nvPr/>
        </p:nvSpPr>
        <p:spPr>
          <a:xfrm>
            <a:off x="4060000" y="2300000"/>
            <a:ext cx="3000000" cy="2900000"/>
          </a:xfrm>
          <a:prstGeom prst="roundRect">
            <a:avLst>
              <a:gd name="adj" fmla="val 10000"/>
            </a:avLst>
          </a:prstGeom>
          <a:solidFill>
            <a:srgbClr val="F5F9FC"/>
          </a:solidFill>
          <a:ln w="15875">
            <a:solidFill>
              <a:srgbClr val="2E8B57"/>
            </a:solidFill>
            <a:prstDash val="dash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loucester Label"/>
          <p:cNvSpPr/>
          <p:nvPr/>
        </p:nvSpPr>
        <p:spPr>
          <a:xfrm>
            <a:off x="4151440" y="2380000"/>
            <a:ext cx="281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2E8B57"/>
                </a:solidFill>
                <a:latin typeface="Aptos"/>
              </a:rPr>
              <a:t>GLOUCESTER SITE</a:t>
            </a:r>
          </a:p>
        </p:txBody>
      </p:sp>
      <p:sp>
        <p:nvSpPr>
          <p:cNvPr id="17" name="Gloucester App GL1"/>
          <p:cNvSpPr/>
          <p:nvPr/>
        </p:nvSpPr>
        <p:spPr>
          <a:xfrm>
            <a:off x="4243000" y="2850000"/>
            <a:ext cx="1250000" cy="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83B4C"/>
                </a:solidFill>
                <a:latin typeface="Aptos"/>
              </a:rPr>
              <a:t>App GL1</a:t>
            </a:r>
          </a:p>
        </p:txBody>
      </p:sp>
      <p:sp>
        <p:nvSpPr>
          <p:cNvPr id="18" name="Gloucester App GL2"/>
          <p:cNvSpPr/>
          <p:nvPr/>
        </p:nvSpPr>
        <p:spPr>
          <a:xfrm>
            <a:off x="5623000" y="2850000"/>
            <a:ext cx="1250000" cy="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83B4C"/>
                </a:solidFill>
                <a:latin typeface="Aptos"/>
              </a:rPr>
              <a:t>App GL2</a:t>
            </a:r>
          </a:p>
        </p:txBody>
      </p:sp>
      <p:sp>
        <p:nvSpPr>
          <p:cNvPr id="19" name="Gloucester DB"/>
          <p:cNvSpPr/>
          <p:nvPr/>
        </p:nvSpPr>
        <p:spPr>
          <a:xfrm>
            <a:off x="4360000" y="3850000"/>
            <a:ext cx="2400000" cy="10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9050">
            <a:solidFill>
              <a:srgbClr val="2E8B57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83B4C"/>
                </a:solidFill>
                <a:latin typeface="Aptos"/>
              </a:rPr>
              <a:t>Database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2E8B57"/>
                </a:solidFill>
                <a:latin typeface="Aptos"/>
              </a:rPr>
              <a:t>Active</a:t>
            </a:r>
          </a:p>
        </p:txBody>
      </p:sp>
      <p:cxnSp>
        <p:nvCxnSpPr>
          <p:cNvPr id="20" name="Sync Arrow"/>
          <p:cNvCxnSpPr/>
          <p:nvPr/>
        </p:nvCxnSpPr>
        <p:spPr>
          <a:xfrm>
            <a:off x="2757200" y="4350000"/>
            <a:ext cx="1602800" cy="0"/>
          </a:xfrm>
          <a:prstGeom prst="line">
            <a:avLst/>
          </a:prstGeom>
          <a:ln w="28575">
            <a:solidFill>
              <a:srgbClr val="0F8B8D"/>
            </a:solidFill>
            <a:headEnd type="triangle" w="med" len="med"/>
            <a:tailEnd type="triangle" w="med" len="med"/>
          </a:ln>
        </p:spPr>
      </p:cxnSp>
      <p:sp>
        <p:nvSpPr>
          <p:cNvPr id="21" name="Sync Label"/>
          <p:cNvSpPr/>
          <p:nvPr/>
        </p:nvSpPr>
        <p:spPr>
          <a:xfrm>
            <a:off x="3508600" y="3990000"/>
            <a:ext cx="500000" cy="2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8B8D"/>
                </a:solidFill>
                <a:latin typeface="Aptos"/>
              </a:rPr>
              <a:t>Sync</a:t>
            </a:r>
          </a:p>
        </p:txBody>
      </p:sp>
      <p:sp>
        <p:nvSpPr>
          <p:cNvPr id="22" name="Roles Header"/>
          <p:cNvSpPr/>
          <p:nvPr/>
        </p:nvSpPr>
        <p:spPr>
          <a:xfrm>
            <a:off x="7400000" y="1100000"/>
            <a:ext cx="43348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rmAutofit lnSpcReduction="10000"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83B4C"/>
                </a:solidFill>
                <a:latin typeface="Aptos"/>
              </a:rPr>
              <a:t>What the observer does</a:t>
            </a:r>
          </a:p>
        </p:txBody>
      </p:sp>
      <p:sp>
        <p:nvSpPr>
          <p:cNvPr id="23" name="Card Watch health"/>
          <p:cNvSpPr/>
          <p:nvPr/>
        </p:nvSpPr>
        <p:spPr>
          <a:xfrm>
            <a:off x="7400000" y="1480000"/>
            <a:ext cx="4334800" cy="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8B8D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F8B8D"/>
                </a:solidFill>
                <a:latin typeface="Aptos"/>
              </a:rPr>
              <a:t>Watch health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4A5A66"/>
                </a:solidFill>
                <a:latin typeface="Aptos"/>
              </a:rPr>
              <a:t>Monitors both sites and checks the databases are in sync</a:t>
            </a:r>
          </a:p>
        </p:txBody>
      </p:sp>
      <p:sp>
        <p:nvSpPr>
          <p:cNvPr id="24" name="Card Detect failure"/>
          <p:cNvSpPr/>
          <p:nvPr/>
        </p:nvSpPr>
        <p:spPr>
          <a:xfrm>
            <a:off x="7400000" y="2260000"/>
            <a:ext cx="4334800" cy="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F6E9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F6E9E"/>
                </a:solidFill>
                <a:latin typeface="Aptos"/>
              </a:rPr>
              <a:t>Detect failure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4A5A66"/>
                </a:solidFill>
                <a:latin typeface="Aptos"/>
              </a:rPr>
              <a:t>Spots when the active database or site becomes unavailable</a:t>
            </a:r>
          </a:p>
        </p:txBody>
      </p:sp>
      <p:sp>
        <p:nvSpPr>
          <p:cNvPr id="26" name="Card One active owner"/>
          <p:cNvSpPr/>
          <p:nvPr/>
        </p:nvSpPr>
        <p:spPr>
          <a:xfrm>
            <a:off x="7400000" y="3140000"/>
            <a:ext cx="4334800" cy="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E8B57"/>
                </a:solidFill>
                <a:latin typeface="Aptos"/>
              </a:rPr>
              <a:t>One active owner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4A5A66"/>
                </a:solidFill>
                <a:latin typeface="Aptos"/>
              </a:rPr>
              <a:t>Only one active database / application owner at a time</a:t>
            </a:r>
          </a:p>
        </p:txBody>
      </p:sp>
      <p:sp>
        <p:nvSpPr>
          <p:cNvPr id="27" name="Does Not"/>
          <p:cNvSpPr/>
          <p:nvPr/>
        </p:nvSpPr>
        <p:spPr>
          <a:xfrm>
            <a:off x="7400000" y="4050000"/>
            <a:ext cx="4334800" cy="60000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5875">
            <a:solidFill>
              <a:srgbClr val="C0392B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392B"/>
                </a:solidFill>
                <a:latin typeface="Aptos"/>
              </a:rPr>
              <a:t>What it does NOT do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4A5A66"/>
                </a:solidFill>
                <a:latin typeface="Aptos"/>
              </a:rPr>
              <a:t>Process payments  •  Store data</a:t>
            </a:r>
          </a:p>
        </p:txBody>
      </p:sp>
      <p:sp>
        <p:nvSpPr>
          <p:cNvPr id="28" name="Outcome Banner"/>
          <p:cNvSpPr/>
          <p:nvPr/>
        </p:nvSpPr>
        <p:spPr>
          <a:xfrm>
            <a:off x="457200" y="5397695"/>
            <a:ext cx="11277600" cy="398553"/>
          </a:xfrm>
          <a:prstGeom prst="roundRect">
            <a:avLst>
              <a:gd name="adj" fmla="val 10000"/>
            </a:avLst>
          </a:prstGeom>
          <a:solidFill>
            <a:srgbClr val="E3EEF3"/>
          </a:solidFill>
          <a:ln w="15875">
            <a:solidFill>
              <a:srgbClr val="083B4C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83B4C"/>
                </a:solidFill>
                <a:latin typeface="Aptos"/>
              </a:rPr>
              <a:t>Enables DB failover and master takeover</a:t>
            </a:r>
            <a:r>
              <a:rPr lang="en-US" sz="1400" b="0" dirty="0">
                <a:solidFill>
                  <a:srgbClr val="083B4C"/>
                </a:solidFill>
                <a:latin typeface="Aptos"/>
              </a:rPr>
              <a:t> </a:t>
            </a:r>
          </a:p>
        </p:txBody>
      </p:sp>
      <p:sp>
        <p:nvSpPr>
          <p:cNvPr id="96" name="TextBox 5"/>
          <p:cNvSpPr txBox="1"/>
          <p:nvPr/>
        </p:nvSpPr>
        <p:spPr>
          <a:xfrm>
            <a:off x="11155680" y="6539966"/>
            <a:ext cx="22860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800" b="0">
                <a:solidFill>
                  <a:srgbClr val="445664"/>
                </a:solidFill>
                <a:latin typeface="Aptos"/>
              </a:rPr>
              <a:t>10</a:t>
            </a:r>
            <a:endParaRPr sz="800" b="0">
              <a:solidFill>
                <a:srgbClr val="445664"/>
              </a:solidFill>
              <a:latin typeface="Aptos"/>
            </a:endParaRPr>
          </a:p>
        </p:txBody>
      </p:sp>
      <p:sp>
        <p:nvSpPr>
          <p:cNvPr id="97" name="Footer Divider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Quick quiz | Test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1308"/>
            <a:ext cx="11155680" cy="276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200" b="0">
                <a:solidFill>
                  <a:srgbClr val="445664"/>
                </a:solidFill>
                <a:latin typeface="Aptos"/>
              </a:rPr>
              <a:t>Four easy questions on resiliency basics — answers on the next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008B8B"/>
                </a:solidFill>
                <a:latin typeface="Aptos"/>
              </a:rPr>
              <a:t>Question 1</a:t>
            </a:r>
            <a:endParaRPr sz="1500" b="1">
              <a:solidFill>
                <a:srgbClr val="008B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3584" y="1892807"/>
            <a:ext cx="2377440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500" dirty="0">
                <a:solidFill>
                  <a:srgbClr val="1F313D"/>
                </a:solidFill>
              </a:rPr>
              <a:t>One server crashes, but the other available servers keep processing payments.</a:t>
            </a:r>
          </a:p>
          <a:p>
            <a:endParaRPr lang="en-US" sz="1500" dirty="0">
              <a:solidFill>
                <a:srgbClr val="1F313D"/>
              </a:solidFill>
            </a:endParaRPr>
          </a:p>
          <a:p>
            <a:r>
              <a:rPr lang="en-US" sz="1500" dirty="0">
                <a:solidFill>
                  <a:srgbClr val="1F313D"/>
                </a:solidFill>
              </a:rPr>
              <a:t>Which resiliency concept is this?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20709E"/>
                </a:solidFill>
                <a:latin typeface="Aptos"/>
              </a:rPr>
              <a:t>Question 2</a:t>
            </a:r>
            <a:endParaRPr sz="1500" b="1">
              <a:solidFill>
                <a:srgbClr val="20709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1296" y="1847088"/>
            <a:ext cx="2377440" cy="1246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0" dirty="0">
                <a:solidFill>
                  <a:srgbClr val="1F313D"/>
                </a:solidFill>
                <a:latin typeface="Aptos"/>
              </a:rPr>
              <a:t>What is the restoration time of Res Cat 0 applications.</a:t>
            </a:r>
            <a:br>
              <a:rPr lang="en-US" sz="1500" b="0" dirty="0">
                <a:solidFill>
                  <a:srgbClr val="1F313D"/>
                </a:solidFill>
                <a:latin typeface="Aptos"/>
              </a:rPr>
            </a:br>
            <a:br>
              <a:rPr lang="en-US" sz="1500" b="0" dirty="0">
                <a:solidFill>
                  <a:srgbClr val="1F313D"/>
                </a:solidFill>
                <a:latin typeface="Aptos"/>
              </a:rPr>
            </a:br>
            <a:endParaRPr lang="en-US" sz="1500" b="0" dirty="0">
              <a:solidFill>
                <a:srgbClr val="1F313D"/>
              </a:solidFill>
              <a:latin typeface="Aptos"/>
            </a:endParaRPr>
          </a:p>
          <a:p>
            <a:pPr algn="l"/>
            <a:endParaRPr lang="en-US" sz="1500" b="0" dirty="0">
              <a:solidFill>
                <a:srgbClr val="1F313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72784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208955"/>
                </a:solidFill>
                <a:latin typeface="Aptos"/>
              </a:rPr>
              <a:t>Question 3</a:t>
            </a:r>
            <a:endParaRPr sz="1500" b="1">
              <a:solidFill>
                <a:srgbClr val="208955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237744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0" dirty="0">
                <a:solidFill>
                  <a:srgbClr val="1F313D"/>
                </a:solidFill>
                <a:latin typeface="Aptos"/>
              </a:rPr>
              <a:t>What is the pre-req required before attempting a cross-site DB failover in Active – Passive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C48219"/>
                </a:solidFill>
                <a:latin typeface="Aptos"/>
              </a:rPr>
              <a:t>Question 4</a:t>
            </a:r>
            <a:endParaRPr sz="1500" b="1">
              <a:solidFill>
                <a:srgbClr val="C482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0" y="1847088"/>
            <a:ext cx="237744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0" dirty="0">
                <a:solidFill>
                  <a:srgbClr val="1F313D"/>
                </a:solidFill>
                <a:latin typeface="Aptos"/>
              </a:rPr>
              <a:t>What situation can arise if Observer loses connection due to Network glitch/issues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892040"/>
            <a:ext cx="10680192" cy="1078992"/>
          </a:xfrm>
          <a:prstGeom prst="roundRect">
            <a:avLst/>
          </a:prstGeom>
          <a:solidFill>
            <a:srgbClr val="E2EDF2"/>
          </a:solidFill>
          <a:ln w="17780"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269953"/>
            <a:ext cx="101498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US" sz="1500" b="1">
                <a:solidFill>
                  <a:srgbClr val="083B4C"/>
                </a:solidFill>
                <a:latin typeface="Aptos"/>
              </a:rPr>
              <a:t>Take a moment to think — </a:t>
            </a:r>
            <a:r>
              <a:rPr sz="1500" b="1">
                <a:solidFill>
                  <a:srgbClr val="083B4C"/>
                </a:solidFill>
                <a:latin typeface="Aptos"/>
              </a:rPr>
              <a:t>answers </a:t>
            </a:r>
            <a:r>
              <a:rPr lang="en-US" sz="1500" b="1">
                <a:solidFill>
                  <a:srgbClr val="083B4C"/>
                </a:solidFill>
                <a:latin typeface="Aptos"/>
              </a:rPr>
              <a:t>are on the next slide</a:t>
            </a:r>
            <a:r>
              <a:rPr sz="1500" b="1">
                <a:solidFill>
                  <a:srgbClr val="083B4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1556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83B4C"/>
                </a:solidFill>
                <a:latin typeface="Aptos"/>
              </a:rPr>
              <a:t>Quick quiz |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5919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 dirty="0">
                <a:solidFill>
                  <a:srgbClr val="445664"/>
                </a:solidFill>
                <a:latin typeface="Aptos"/>
              </a:rPr>
              <a:t>How did you do? Each answer links back to the concept covered earlier in the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0881360" cy="9144"/>
          </a:xfrm>
          <a:prstGeom prst="rect">
            <a:avLst/>
          </a:prstGeom>
          <a:solidFill>
            <a:srgbClr val="AA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74536"/>
            <a:ext cx="2286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445664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008B8B"/>
                </a:solidFill>
                <a:latin typeface="Aptos"/>
              </a:rPr>
              <a:t>Question 1</a:t>
            </a:r>
            <a:endParaRPr sz="1500" b="1">
              <a:solidFill>
                <a:srgbClr val="008B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3504" y="1847088"/>
            <a:ext cx="2377440" cy="1246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500" b="1" dirty="0">
                <a:solidFill>
                  <a:srgbClr val="1F313D"/>
                </a:solidFill>
              </a:rPr>
              <a:t>Fault tolerance — </a:t>
            </a:r>
            <a:r>
              <a:rPr lang="en-US" sz="1500" dirty="0">
                <a:solidFill>
                  <a:srgbClr val="1F313D"/>
                </a:solidFill>
              </a:rPr>
              <a:t>operations continue when a component fails.</a:t>
            </a:r>
          </a:p>
          <a:p>
            <a:endParaRPr lang="en-US" sz="1500" dirty="0">
              <a:solidFill>
                <a:srgbClr val="1F313D"/>
              </a:solidFill>
            </a:endParaRPr>
          </a:p>
          <a:p>
            <a:r>
              <a:rPr lang="en-US" sz="1500" dirty="0">
                <a:solidFill>
                  <a:srgbClr val="1F313D"/>
                </a:solidFill>
              </a:rPr>
              <a:t>Covered on slide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7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>
                <a:solidFill>
                  <a:srgbClr val="20709E"/>
                </a:solidFill>
                <a:latin typeface="Aptos"/>
              </a:rPr>
              <a:t>Question 2</a:t>
            </a:r>
            <a:endParaRPr sz="1500" b="1">
              <a:solidFill>
                <a:srgbClr val="20709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1296" y="1847088"/>
            <a:ext cx="2377440" cy="1708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500" b="1" dirty="0">
                <a:solidFill>
                  <a:srgbClr val="1F313D"/>
                </a:solidFill>
              </a:rPr>
              <a:t>&lt;=5 mins </a:t>
            </a:r>
            <a:br>
              <a:rPr lang="en-US" sz="1500" b="1" dirty="0">
                <a:solidFill>
                  <a:srgbClr val="1F313D"/>
                </a:solidFill>
              </a:rPr>
            </a:br>
            <a:r>
              <a:rPr lang="en-US" sz="1500" b="1" dirty="0">
                <a:solidFill>
                  <a:srgbClr val="1F313D"/>
                </a:solidFill>
              </a:rPr>
              <a:t>Res CAT ) Applications </a:t>
            </a:r>
            <a:r>
              <a:rPr lang="en-US" sz="1500" dirty="0">
                <a:solidFill>
                  <a:srgbClr val="1F313D"/>
                </a:solidFill>
              </a:rPr>
              <a:t>are the most critical applications which has huge impact if not restored within the given time.</a:t>
            </a:r>
          </a:p>
          <a:p>
            <a:r>
              <a:rPr lang="en-US" sz="1500" dirty="0">
                <a:solidFill>
                  <a:srgbClr val="1F313D"/>
                </a:solidFill>
              </a:rPr>
              <a:t>Covered on slide 5</a:t>
            </a:r>
            <a:endParaRPr lang="en-US" sz="1500" b="0" dirty="0">
              <a:solidFill>
                <a:srgbClr val="1F313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0576" y="1143000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356321"/>
            <a:ext cx="237744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 dirty="0">
                <a:solidFill>
                  <a:srgbClr val="C48219"/>
                </a:solidFill>
                <a:latin typeface="Aptos"/>
              </a:rPr>
              <a:t>Question 4</a:t>
            </a:r>
            <a:endParaRPr sz="1500" b="1" dirty="0">
              <a:solidFill>
                <a:srgbClr val="C482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0" y="1847088"/>
            <a:ext cx="2377440" cy="1246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1" dirty="0">
                <a:solidFill>
                  <a:srgbClr val="1F313D"/>
                </a:solidFill>
                <a:latin typeface="Aptos"/>
              </a:rPr>
              <a:t>Split brain —</a:t>
            </a:r>
            <a:br>
              <a:rPr lang="en-US" sz="1500" b="1" dirty="0">
                <a:solidFill>
                  <a:srgbClr val="1F313D"/>
                </a:solidFill>
                <a:latin typeface="Aptos"/>
              </a:rPr>
            </a:br>
            <a:r>
              <a:rPr lang="en-US" sz="1500" b="0" dirty="0">
                <a:solidFill>
                  <a:srgbClr val="1F313D"/>
                </a:solidFill>
                <a:latin typeface="Aptos"/>
              </a:rPr>
              <a:t>both sites process conflicting or duplicate updates. </a:t>
            </a:r>
          </a:p>
          <a:p>
            <a:pPr algn="l"/>
            <a:r>
              <a:rPr lang="en-US" sz="1500" b="0" dirty="0">
                <a:solidFill>
                  <a:srgbClr val="1F313D"/>
                </a:solidFill>
                <a:latin typeface="Aptos"/>
              </a:rPr>
              <a:t>Covered on slides 3 and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892040"/>
            <a:ext cx="10680192" cy="1078992"/>
          </a:xfrm>
          <a:prstGeom prst="roundRect">
            <a:avLst/>
          </a:prstGeom>
          <a:solidFill>
            <a:srgbClr val="E2EDF2"/>
          </a:solidFill>
          <a:ln w="17780"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0149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83B4C"/>
                </a:solidFill>
                <a:latin typeface="Aptos"/>
              </a:rPr>
              <a:t>Resilience is proven only when payments keep flowing and recover correctly — with no lost or duplicate transactions.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4CC8BF67-9F22-E9A5-DED3-824F299BF906}"/>
              </a:ext>
            </a:extLst>
          </p:cNvPr>
          <p:cNvSpPr/>
          <p:nvPr/>
        </p:nvSpPr>
        <p:spPr>
          <a:xfrm>
            <a:off x="6272784" y="1189944"/>
            <a:ext cx="2679192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8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141CDB-F4C9-E2F2-5E08-B6EF0E44E6EF}"/>
              </a:ext>
            </a:extLst>
          </p:cNvPr>
          <p:cNvSpPr txBox="1"/>
          <p:nvPr/>
        </p:nvSpPr>
        <p:spPr>
          <a:xfrm>
            <a:off x="6423660" y="1847088"/>
            <a:ext cx="2377440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1" dirty="0">
                <a:solidFill>
                  <a:srgbClr val="1F313D"/>
                </a:solidFill>
                <a:latin typeface="Aptos"/>
              </a:rPr>
              <a:t>DB Synchronization—</a:t>
            </a:r>
          </a:p>
          <a:p>
            <a:pPr algn="l"/>
            <a:r>
              <a:rPr lang="en-US" sz="1500" dirty="0">
                <a:solidFill>
                  <a:srgbClr val="1F313D"/>
                </a:solidFill>
                <a:latin typeface="Aptos"/>
              </a:rPr>
              <a:t>To ensure that the target site’s database has the latest committed data and can safely take over without causing data loss</a:t>
            </a:r>
            <a:endParaRPr lang="en-US" sz="1500" b="0" dirty="0">
              <a:solidFill>
                <a:srgbClr val="1F313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3DED4-5FEC-5E1E-3F80-0A8B3938F550}"/>
              </a:ext>
            </a:extLst>
          </p:cNvPr>
          <p:cNvSpPr txBox="1"/>
          <p:nvPr/>
        </p:nvSpPr>
        <p:spPr>
          <a:xfrm>
            <a:off x="6793992" y="1481095"/>
            <a:ext cx="1452861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500" b="1" dirty="0">
                <a:solidFill>
                  <a:srgbClr val="C48219"/>
                </a:solidFill>
                <a:latin typeface="Aptos"/>
              </a:rPr>
              <a:t>Question 3</a:t>
            </a:r>
            <a:endParaRPr sz="1500" b="1" dirty="0">
              <a:solidFill>
                <a:srgbClr val="C4821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4C"/>
          </a:solidFill>
          <a:ln>
            <a:solidFill>
              <a:srgbClr val="08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42816" cy="6858000"/>
          </a:xfrm>
          <a:prstGeom prst="rect">
            <a:avLst/>
          </a:prstGeom>
          <a:solidFill>
            <a:srgbClr val="134F61"/>
          </a:solidFill>
          <a:ln>
            <a:solidFill>
              <a:srgbClr val="134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2179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KEY TAKEAWAYS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649224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dirty="0">
                <a:solidFill>
                  <a:srgbClr val="D3EEF3"/>
                </a:solidFill>
                <a:latin typeface="Aptos"/>
              </a:rPr>
              <a:t>Resilience is proven only when transactions, data integrity, monitoring and recovery hold through failure and restoration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52928"/>
            <a:ext cx="6400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Know what to test  •  Where to inject failure  •  What evidence proves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80760"/>
            <a:ext cx="47548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ED2DB"/>
                </a:solidFill>
                <a:latin typeface="Aptos"/>
              </a:rPr>
              <a:t>Resiliency testing | Payment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09728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24160" y="9144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0" y="22860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0" y="27432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3749039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0" y="466344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155680" y="5486400"/>
            <a:ext cx="438912" cy="438912"/>
          </a:xfrm>
          <a:prstGeom prst="roundRect">
            <a:avLst/>
          </a:prstGeom>
          <a:solidFill>
            <a:srgbClr val="237083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1895</Words>
  <Application>Microsoft Office PowerPoint</Application>
  <PresentationFormat>Widescreen</PresentationFormat>
  <Paragraphs>353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Barclays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Resiliency Testing</dc:title>
  <dc:subject>Resiliency Testing</dc:subject>
  <dc:creator>Tiwari, Amit E.</dc:creator>
  <cp:lastModifiedBy>Mutalikdesai, Suma</cp:lastModifiedBy>
  <cp:revision>18</cp:revision>
  <dcterms:created xsi:type="dcterms:W3CDTF">2026-10-14T18:56:37Z</dcterms:created>
  <dcterms:modified xsi:type="dcterms:W3CDTF">2026-10-16T03:59:16Z</dcterms:modified>
</cp:coreProperties>
</file>