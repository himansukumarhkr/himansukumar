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sldIdLst>
    <p:sldId id="2561" r:id="rId2"/>
    <p:sldId id="2562" r:id="rId3"/>
    <p:sldId id="2563" r:id="rId4"/>
    <p:sldId id="2564" r:id="rId5"/>
    <p:sldId id="2565" r:id="rId6"/>
    <p:sldId id="2588" r:id="rId7"/>
    <p:sldId id="2566" r:id="rId8"/>
    <p:sldId id="2567" r:id="rId9"/>
    <p:sldId id="2568" r:id="rId10"/>
    <p:sldId id="2570" r:id="rId11"/>
    <p:sldId id="2589" r:id="rId12"/>
    <p:sldId id="2571" r:id="rId13"/>
    <p:sldId id="2572" r:id="rId14"/>
    <p:sldId id="2573" r:id="rId15"/>
    <p:sldId id="2574" r:id="rId16"/>
    <p:sldId id="2590" r:id="rId17"/>
    <p:sldId id="2575" r:id="rId18"/>
    <p:sldId id="2576" r:id="rId19"/>
    <p:sldId id="2578" r:id="rId20"/>
    <p:sldId id="2579" r:id="rId21"/>
    <p:sldId id="2580" r:id="rId22"/>
    <p:sldId id="2581" r:id="rId23"/>
    <p:sldId id="2582" r:id="rId24"/>
    <p:sldId id="2591" r:id="rId25"/>
    <p:sldId id="2583" r:id="rId26"/>
    <p:sldId id="2584" r:id="rId27"/>
    <p:sldId id="2592" r:id="rId28"/>
    <p:sldId id="259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rformance Testing: Overview and Lifecycle" id="{3389F7A0-0819-4E98-91FE-804B57CE5C7B}">
          <p14:sldIdLst>
            <p14:sldId id="2561"/>
            <p14:sldId id="2562"/>
          </p14:sldIdLst>
        </p14:section>
        <p14:section name="Introduction to Performance Testing" id="{54D45079-351A-4A55-B3EC-6384C15EB6D3}">
          <p14:sldIdLst>
            <p14:sldId id="2563"/>
            <p14:sldId id="2564"/>
            <p14:sldId id="2565"/>
            <p14:sldId id="2588"/>
            <p14:sldId id="2566"/>
          </p14:sldIdLst>
        </p14:section>
        <p14:section name="Planning and Preparation" id="{802C6A39-8516-499E-AA8E-C8179DB8E77C}">
          <p14:sldIdLst>
            <p14:sldId id="2567"/>
            <p14:sldId id="2568"/>
            <p14:sldId id="2570"/>
            <p14:sldId id="2589"/>
          </p14:sldIdLst>
        </p14:section>
        <p14:section name="Designing Test Cases" id="{69C77635-8246-4A78-B0A6-18D3A4E3736E}">
          <p14:sldIdLst>
            <p14:sldId id="2571"/>
            <p14:sldId id="2572"/>
            <p14:sldId id="2573"/>
            <p14:sldId id="2574"/>
            <p14:sldId id="2590"/>
          </p14:sldIdLst>
        </p14:section>
        <p14:section name="Test Execution and Monitoring" id="{EDC68F9F-A518-4D86-8A51-C196FCF62297}">
          <p14:sldIdLst>
            <p14:sldId id="2575"/>
            <p14:sldId id="2576"/>
            <p14:sldId id="2578"/>
          </p14:sldIdLst>
        </p14:section>
        <p14:section name="Analyzing Results and Reporting" id="{DD465F05-85E6-4024-BD5F-91A84367430D}">
          <p14:sldIdLst>
            <p14:sldId id="2579"/>
            <p14:sldId id="2580"/>
            <p14:sldId id="2581"/>
            <p14:sldId id="2582"/>
            <p14:sldId id="2591"/>
          </p14:sldIdLst>
        </p14:section>
        <p14:section name="Continuous Improvement and Maintenance" id="{ECA9951D-F078-45FA-9541-B64C14EA825F}">
          <p14:sldIdLst>
            <p14:sldId id="2583"/>
            <p14:sldId id="2584"/>
            <p14:sldId id="2592"/>
            <p14:sldId id="25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CF10B-9A40-47F3-92C5-BAF06E0C4C55}" v="10" dt="2026-10-12T09:56:47.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47" autoAdjust="0"/>
  </p:normalViewPr>
  <p:slideViewPr>
    <p:cSldViewPr snapToGrid="0">
      <p:cViewPr varScale="1">
        <p:scale>
          <a:sx n="69" d="100"/>
          <a:sy n="69" d="100"/>
        </p:scale>
        <p:origin x="5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isti, Yamini" userId="6cded0fe-312e-47c8-807b-089a1961ca0c" providerId="ADAL" clId="{B018782E-E5AA-424C-98D5-D9DDA60BD23E}"/>
    <pc:docChg chg="modSld">
      <pc:chgData name="Khisti, Yamini" userId="6cded0fe-312e-47c8-807b-089a1961ca0c" providerId="ADAL" clId="{B018782E-E5AA-424C-98D5-D9DDA60BD23E}" dt="2026-10-12T09:56:47.433" v="9" actId="20577"/>
      <pc:docMkLst>
        <pc:docMk/>
      </pc:docMkLst>
      <pc:sldChg chg="modSp">
        <pc:chgData name="Khisti, Yamini" userId="6cded0fe-312e-47c8-807b-089a1961ca0c" providerId="ADAL" clId="{B018782E-E5AA-424C-98D5-D9DDA60BD23E}" dt="2026-10-12T09:56:47.433" v="9" actId="20577"/>
        <pc:sldMkLst>
          <pc:docMk/>
          <pc:sldMk cId="4227982876" sldId="2561"/>
        </pc:sldMkLst>
        <pc:spChg chg="mod">
          <ac:chgData name="Khisti, Yamini" userId="6cded0fe-312e-47c8-807b-089a1961ca0c" providerId="ADAL" clId="{B018782E-E5AA-424C-98D5-D9DDA60BD23E}" dt="2026-10-12T09:56:47.433" v="9" actId="20577"/>
          <ac:spMkLst>
            <pc:docMk/>
            <pc:sldMk cId="4227982876" sldId="2561"/>
            <ac:spMk id="5" creationId="{949D2B6B-0D5B-DE6B-855C-4810A1B6AB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26B7E7-15BC-4FD0-A7A9-91635EF4B3F1}"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00C66-7FE3-40DD-B1E5-D28902D7173E}" type="slidenum">
              <a:rPr lang="en-US" smtClean="0"/>
              <a:t>‹#›</a:t>
            </a:fld>
            <a:endParaRPr lang="en-US"/>
          </a:p>
        </p:txBody>
      </p:sp>
    </p:spTree>
    <p:extLst>
      <p:ext uri="{BB962C8B-B14F-4D97-AF65-F5344CB8AC3E}">
        <p14:creationId xmlns:p14="http://schemas.microsoft.com/office/powerpoint/2010/main" val="94777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Performance testing is a crucial aspect of software development that ensures applications can handle expected loads. This presentation will cover the lifecycle of performance testing from definition to continuous improvement.
</a:t>
            </a:r>
          </a:p>
        </p:txBody>
      </p:sp>
      <p:sp>
        <p:nvSpPr>
          <p:cNvPr id="4" name="Slide Number Placeholder 3"/>
          <p:cNvSpPr>
            <a:spLocks noGrp="1"/>
          </p:cNvSpPr>
          <p:nvPr>
            <p:ph type="sldNum" sz="quarter" idx="5"/>
          </p:nvPr>
        </p:nvSpPr>
        <p:spPr/>
        <p:txBody>
          <a:bodyPr/>
          <a:lstStyle/>
          <a:p>
            <a:fld id="{60641EE1-9086-465D-901E-6167A29DD888}" type="slidenum">
              <a:rPr lang="en-US" smtClean="0"/>
              <a:t>1</a:t>
            </a:fld>
            <a:endParaRPr lang="en-US"/>
          </a:p>
        </p:txBody>
      </p:sp>
    </p:spTree>
    <p:extLst>
      <p:ext uri="{BB962C8B-B14F-4D97-AF65-F5344CB8AC3E}">
        <p14:creationId xmlns:p14="http://schemas.microsoft.com/office/powerpoint/2010/main" val="3503182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begin with an introduction to performance testing, including its definition and importance. Next, we will discuss planning and preparation steps, followed by designing test cases. We will then delve into test execution and monitoring, analyzing results, and finally, continuous improvement and maintenance.</a:t>
            </a:r>
          </a:p>
        </p:txBody>
      </p:sp>
      <p:sp>
        <p:nvSpPr>
          <p:cNvPr id="4" name="Slide Number Placeholder 3"/>
          <p:cNvSpPr>
            <a:spLocks noGrp="1"/>
          </p:cNvSpPr>
          <p:nvPr>
            <p:ph type="sldNum" sz="quarter" idx="5"/>
          </p:nvPr>
        </p:nvSpPr>
        <p:spPr/>
        <p:txBody>
          <a:bodyPr/>
          <a:lstStyle/>
          <a:p>
            <a:fld id="{60641EE1-9086-465D-901E-6167A29DD888}" type="slidenum">
              <a:rPr lang="en-US" smtClean="0"/>
              <a:t>2</a:t>
            </a:fld>
            <a:endParaRPr lang="en-US"/>
          </a:p>
        </p:txBody>
      </p:sp>
    </p:spTree>
    <p:extLst>
      <p:ext uri="{BB962C8B-B14F-4D97-AF65-F5344CB8AC3E}">
        <p14:creationId xmlns:p14="http://schemas.microsoft.com/office/powerpoint/2010/main" val="1151186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testing evaluates how a system performs under various conditions. It is essential to ensure that applications meet user expectations and operate efficiently under load.</a:t>
            </a:r>
          </a:p>
        </p:txBody>
      </p:sp>
      <p:sp>
        <p:nvSpPr>
          <p:cNvPr id="4" name="Slide Number Placeholder 3"/>
          <p:cNvSpPr>
            <a:spLocks noGrp="1"/>
          </p:cNvSpPr>
          <p:nvPr>
            <p:ph type="sldNum" sz="quarter" idx="5"/>
          </p:nvPr>
        </p:nvSpPr>
        <p:spPr/>
        <p:txBody>
          <a:bodyPr/>
          <a:lstStyle/>
          <a:p>
            <a:fld id="{60641EE1-9086-465D-901E-6167A29DD888}" type="slidenum">
              <a:rPr lang="en-US" smtClean="0"/>
              <a:t>3</a:t>
            </a:fld>
            <a:endParaRPr lang="en-US"/>
          </a:p>
        </p:txBody>
      </p:sp>
    </p:spTree>
    <p:extLst>
      <p:ext uri="{BB962C8B-B14F-4D97-AF65-F5344CB8AC3E}">
        <p14:creationId xmlns:p14="http://schemas.microsoft.com/office/powerpoint/2010/main" val="2585427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Performance testing is the process of assessing the speed, scalability, and reliability of a system. Its importance lies in identifying potential bottlenecks before deployment, ensuring user satisfaction, and maintaining application performance.</a:t>
            </a:r>
          </a:p>
        </p:txBody>
      </p:sp>
      <p:sp>
        <p:nvSpPr>
          <p:cNvPr id="4" name="Slide Number Placeholder 3"/>
          <p:cNvSpPr>
            <a:spLocks noGrp="1"/>
          </p:cNvSpPr>
          <p:nvPr>
            <p:ph type="sldNum" sz="quarter" idx="5"/>
          </p:nvPr>
        </p:nvSpPr>
        <p:spPr/>
        <p:txBody>
          <a:bodyPr/>
          <a:lstStyle/>
          <a:p>
            <a:fld id="{60641EE1-9086-465D-901E-6167A29DD888}" type="slidenum">
              <a:rPr lang="en-US" smtClean="0"/>
              <a:t>4</a:t>
            </a:fld>
            <a:endParaRPr lang="en-US"/>
          </a:p>
        </p:txBody>
      </p:sp>
    </p:spTree>
    <p:extLst>
      <p:ext uri="{BB962C8B-B14F-4D97-AF65-F5344CB8AC3E}">
        <p14:creationId xmlns:p14="http://schemas.microsoft.com/office/powerpoint/2010/main" val="2105072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several types of performance testing, including load testing, stress testing, endurance testing, and spike testing. Each type focuses on different aspects of performance and helps in understanding the system's capabilities.</a:t>
            </a:r>
          </a:p>
        </p:txBody>
      </p:sp>
      <p:sp>
        <p:nvSpPr>
          <p:cNvPr id="4" name="Slide Number Placeholder 3"/>
          <p:cNvSpPr>
            <a:spLocks noGrp="1"/>
          </p:cNvSpPr>
          <p:nvPr>
            <p:ph type="sldNum" sz="quarter" idx="5"/>
          </p:nvPr>
        </p:nvSpPr>
        <p:spPr/>
        <p:txBody>
          <a:bodyPr/>
          <a:lstStyle/>
          <a:p>
            <a:fld id="{60641EE1-9086-465D-901E-6167A29DD888}" type="slidenum">
              <a:rPr lang="en-US" smtClean="0"/>
              <a:t>5</a:t>
            </a:fld>
            <a:endParaRPr lang="en-US"/>
          </a:p>
        </p:txBody>
      </p:sp>
    </p:spTree>
    <p:extLst>
      <p:ext uri="{BB962C8B-B14F-4D97-AF65-F5344CB8AC3E}">
        <p14:creationId xmlns:p14="http://schemas.microsoft.com/office/powerpoint/2010/main" val="2219153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7F03-5521-99EA-3C65-E9CD576D4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75A03-3D2F-C5C9-2022-BD8C436FE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6E0FC6-1CD1-33DA-9AAA-EBACE87533FE}"/>
              </a:ext>
            </a:extLst>
          </p:cNvPr>
          <p:cNvSpPr>
            <a:spLocks noGrp="1"/>
          </p:cNvSpPr>
          <p:nvPr>
            <p:ph type="body" idx="1"/>
          </p:nvPr>
        </p:nvSpPr>
        <p:spPr/>
        <p:txBody>
          <a:bodyPr/>
          <a:lstStyle/>
          <a:p>
            <a:r>
              <a:rPr lang="en-US"/>
              <a:t>There are several types of performance testing, including load testing, stress testing, endurance testing, and spike testing. Each type focuses on different aspects of performance and helps in understanding the system's capabilities.</a:t>
            </a:r>
          </a:p>
        </p:txBody>
      </p:sp>
      <p:sp>
        <p:nvSpPr>
          <p:cNvPr id="4" name="Slide Number Placeholder 3">
            <a:extLst>
              <a:ext uri="{FF2B5EF4-FFF2-40B4-BE49-F238E27FC236}">
                <a16:creationId xmlns:a16="http://schemas.microsoft.com/office/drawing/2014/main" id="{34771F1A-C7BE-9087-3204-E34030F19731}"/>
              </a:ext>
            </a:extLst>
          </p:cNvPr>
          <p:cNvSpPr>
            <a:spLocks noGrp="1"/>
          </p:cNvSpPr>
          <p:nvPr>
            <p:ph type="sldNum" sz="quarter" idx="5"/>
          </p:nvPr>
        </p:nvSpPr>
        <p:spPr/>
        <p:txBody>
          <a:bodyPr/>
          <a:lstStyle/>
          <a:p>
            <a:fld id="{60641EE1-9086-465D-901E-6167A29DD888}" type="slidenum">
              <a:rPr lang="en-US" smtClean="0"/>
              <a:t>6</a:t>
            </a:fld>
            <a:endParaRPr lang="en-US"/>
          </a:p>
        </p:txBody>
      </p:sp>
    </p:spTree>
    <p:extLst>
      <p:ext uri="{BB962C8B-B14F-4D97-AF65-F5344CB8AC3E}">
        <p14:creationId xmlns:p14="http://schemas.microsoft.com/office/powerpoint/2010/main" val="3508317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performance metrics include response time, throughput, resource utilization, and error rates. These metrics help to quantify the performance and identify areas for improvement.</a:t>
            </a:r>
          </a:p>
        </p:txBody>
      </p:sp>
      <p:sp>
        <p:nvSpPr>
          <p:cNvPr id="4" name="Slide Number Placeholder 3"/>
          <p:cNvSpPr>
            <a:spLocks noGrp="1"/>
          </p:cNvSpPr>
          <p:nvPr>
            <p:ph type="sldNum" sz="quarter" idx="5"/>
          </p:nvPr>
        </p:nvSpPr>
        <p:spPr/>
        <p:txBody>
          <a:bodyPr/>
          <a:lstStyle/>
          <a:p>
            <a:fld id="{60641EE1-9086-465D-901E-6167A29DD888}" type="slidenum">
              <a:rPr lang="en-US" smtClean="0"/>
              <a:t>7</a:t>
            </a:fld>
            <a:endParaRPr lang="en-US"/>
          </a:p>
        </p:txBody>
      </p:sp>
    </p:spTree>
    <p:extLst>
      <p:ext uri="{BB962C8B-B14F-4D97-AF65-F5344CB8AC3E}">
        <p14:creationId xmlns:p14="http://schemas.microsoft.com/office/powerpoint/2010/main" val="4233684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641EE1-9086-465D-901E-6167A29DD888}" type="slidenum">
              <a:rPr lang="en-US" smtClean="0"/>
              <a:t>8</a:t>
            </a:fld>
            <a:endParaRPr lang="en-US"/>
          </a:p>
        </p:txBody>
      </p:sp>
    </p:spTree>
    <p:extLst>
      <p:ext uri="{BB962C8B-B14F-4D97-AF65-F5344CB8AC3E}">
        <p14:creationId xmlns:p14="http://schemas.microsoft.com/office/powerpoint/2010/main" val="1965891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Defining clear objectives and scope helps to align the testing process with business requirements. This step ensures that the focus remains on critical aspects of system performance.</a:t>
            </a:r>
          </a:p>
        </p:txBody>
      </p:sp>
      <p:sp>
        <p:nvSpPr>
          <p:cNvPr id="4" name="Slide Number Placeholder 3"/>
          <p:cNvSpPr>
            <a:spLocks noGrp="1"/>
          </p:cNvSpPr>
          <p:nvPr>
            <p:ph type="sldNum" sz="quarter" idx="5"/>
          </p:nvPr>
        </p:nvSpPr>
        <p:spPr/>
        <p:txBody>
          <a:bodyPr/>
          <a:lstStyle/>
          <a:p>
            <a:fld id="{60641EE1-9086-465D-901E-6167A29DD888}" type="slidenum">
              <a:rPr lang="en-US" smtClean="0"/>
              <a:t>9</a:t>
            </a:fld>
            <a:endParaRPr lang="en-US"/>
          </a:p>
        </p:txBody>
      </p:sp>
    </p:spTree>
    <p:extLst>
      <p:ext uri="{BB962C8B-B14F-4D97-AF65-F5344CB8AC3E}">
        <p14:creationId xmlns:p14="http://schemas.microsoft.com/office/powerpoint/2010/main" val="709437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Choosing the right tools and test environments is essential for effective performance testing. This includes selecting software tools that can simulate loads and accurately measure performance metrics.</a:t>
            </a:r>
          </a:p>
        </p:txBody>
      </p:sp>
      <p:sp>
        <p:nvSpPr>
          <p:cNvPr id="4" name="Slide Number Placeholder 3"/>
          <p:cNvSpPr>
            <a:spLocks noGrp="1"/>
          </p:cNvSpPr>
          <p:nvPr>
            <p:ph type="sldNum" sz="quarter" idx="5"/>
          </p:nvPr>
        </p:nvSpPr>
        <p:spPr/>
        <p:txBody>
          <a:bodyPr/>
          <a:lstStyle/>
          <a:p>
            <a:fld id="{60641EE1-9086-465D-901E-6167A29DD888}" type="slidenum">
              <a:rPr lang="en-US" smtClean="0"/>
              <a:t>10</a:t>
            </a:fld>
            <a:endParaRPr lang="en-US"/>
          </a:p>
        </p:txBody>
      </p:sp>
    </p:spTree>
    <p:extLst>
      <p:ext uri="{BB962C8B-B14F-4D97-AF65-F5344CB8AC3E}">
        <p14:creationId xmlns:p14="http://schemas.microsoft.com/office/powerpoint/2010/main" val="605372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55804-8CD0-ECD0-22E3-8D08FD690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26496-F9B9-F8B1-0646-59EE5322F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97B7F-95AB-FE25-CAAC-98F37D97FF90}"/>
              </a:ext>
            </a:extLst>
          </p:cNvPr>
          <p:cNvSpPr>
            <a:spLocks noGrp="1"/>
          </p:cNvSpPr>
          <p:nvPr>
            <p:ph type="body" idx="1"/>
          </p:nvPr>
        </p:nvSpPr>
        <p:spPr/>
        <p:txBody>
          <a:bodyPr/>
          <a:lstStyle/>
          <a:p>
            <a:r>
              <a:rPr lang="en-US"/>
              <a:t>There are several types of performance testing, including load testing, stress testing, endurance testing, and spike testing. Each type focuses on different aspects of performance and helps in understanding the system's capabilities.</a:t>
            </a:r>
          </a:p>
        </p:txBody>
      </p:sp>
      <p:sp>
        <p:nvSpPr>
          <p:cNvPr id="4" name="Slide Number Placeholder 3">
            <a:extLst>
              <a:ext uri="{FF2B5EF4-FFF2-40B4-BE49-F238E27FC236}">
                <a16:creationId xmlns:a16="http://schemas.microsoft.com/office/drawing/2014/main" id="{C7B77D10-31E0-623B-678E-F9F6A6D36FCA}"/>
              </a:ext>
            </a:extLst>
          </p:cNvPr>
          <p:cNvSpPr>
            <a:spLocks noGrp="1"/>
          </p:cNvSpPr>
          <p:nvPr>
            <p:ph type="sldNum" sz="quarter" idx="5"/>
          </p:nvPr>
        </p:nvSpPr>
        <p:spPr/>
        <p:txBody>
          <a:bodyPr/>
          <a:lstStyle/>
          <a:p>
            <a:fld id="{60641EE1-9086-465D-901E-6167A29DD888}" type="slidenum">
              <a:rPr lang="en-US" smtClean="0"/>
              <a:t>11</a:t>
            </a:fld>
            <a:endParaRPr lang="en-US"/>
          </a:p>
        </p:txBody>
      </p:sp>
    </p:spTree>
    <p:extLst>
      <p:ext uri="{BB962C8B-B14F-4D97-AF65-F5344CB8AC3E}">
        <p14:creationId xmlns:p14="http://schemas.microsoft.com/office/powerpoint/2010/main" val="4169918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641EE1-9086-465D-901E-6167A29DD888}" type="slidenum">
              <a:rPr lang="en-US" smtClean="0"/>
              <a:t>12</a:t>
            </a:fld>
            <a:endParaRPr lang="en-US"/>
          </a:p>
        </p:txBody>
      </p:sp>
    </p:spTree>
    <p:extLst>
      <p:ext uri="{BB962C8B-B14F-4D97-AF65-F5344CB8AC3E}">
        <p14:creationId xmlns:p14="http://schemas.microsoft.com/office/powerpoint/2010/main" val="324193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 scenarios should be designed to mimic various user interactions and workloads. This helps in understanding how the system performs under different conditions and loads.</a:t>
            </a:r>
          </a:p>
        </p:txBody>
      </p:sp>
      <p:sp>
        <p:nvSpPr>
          <p:cNvPr id="4" name="Slide Number Placeholder 3"/>
          <p:cNvSpPr>
            <a:spLocks noGrp="1"/>
          </p:cNvSpPr>
          <p:nvPr>
            <p:ph type="sldNum" sz="quarter" idx="5"/>
          </p:nvPr>
        </p:nvSpPr>
        <p:spPr/>
        <p:txBody>
          <a:bodyPr/>
          <a:lstStyle/>
          <a:p>
            <a:fld id="{60641EE1-9086-465D-901E-6167A29DD888}" type="slidenum">
              <a:rPr lang="en-US" smtClean="0"/>
              <a:t>13</a:t>
            </a:fld>
            <a:endParaRPr lang="en-US"/>
          </a:p>
        </p:txBody>
      </p:sp>
    </p:spTree>
    <p:extLst>
      <p:ext uri="{BB962C8B-B14F-4D97-AF65-F5344CB8AC3E}">
        <p14:creationId xmlns:p14="http://schemas.microsoft.com/office/powerpoint/2010/main" val="3407371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Identifying the necessary test data is crucial for executing meaningful tests. This includes ensuring that data is representative of actual user data and can support performance evaluations.</a:t>
            </a:r>
          </a:p>
        </p:txBody>
      </p:sp>
      <p:sp>
        <p:nvSpPr>
          <p:cNvPr id="4" name="Slide Number Placeholder 3"/>
          <p:cNvSpPr>
            <a:spLocks noGrp="1"/>
          </p:cNvSpPr>
          <p:nvPr>
            <p:ph type="sldNum" sz="quarter" idx="5"/>
          </p:nvPr>
        </p:nvSpPr>
        <p:spPr/>
        <p:txBody>
          <a:bodyPr/>
          <a:lstStyle/>
          <a:p>
            <a:fld id="{60641EE1-9086-465D-901E-6167A29DD888}" type="slidenum">
              <a:rPr lang="en-US" smtClean="0"/>
              <a:t>14</a:t>
            </a:fld>
            <a:endParaRPr lang="en-US"/>
          </a:p>
        </p:txBody>
      </p:sp>
    </p:spTree>
    <p:extLst>
      <p:ext uri="{BB962C8B-B14F-4D97-AF65-F5344CB8AC3E}">
        <p14:creationId xmlns:p14="http://schemas.microsoft.com/office/powerpoint/2010/main" val="529792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Defining test scripts for automation can significantly enhance efficiency. Automated tests can be executed repeatedly to ensure consistent performance evaluation.</a:t>
            </a:r>
          </a:p>
        </p:txBody>
      </p:sp>
      <p:sp>
        <p:nvSpPr>
          <p:cNvPr id="4" name="Slide Number Placeholder 3"/>
          <p:cNvSpPr>
            <a:spLocks noGrp="1"/>
          </p:cNvSpPr>
          <p:nvPr>
            <p:ph type="sldNum" sz="quarter" idx="5"/>
          </p:nvPr>
        </p:nvSpPr>
        <p:spPr/>
        <p:txBody>
          <a:bodyPr/>
          <a:lstStyle/>
          <a:p>
            <a:fld id="{60641EE1-9086-465D-901E-6167A29DD888}" type="slidenum">
              <a:rPr lang="en-US" smtClean="0"/>
              <a:t>15</a:t>
            </a:fld>
            <a:endParaRPr lang="en-US"/>
          </a:p>
        </p:txBody>
      </p:sp>
    </p:spTree>
    <p:extLst>
      <p:ext uri="{BB962C8B-B14F-4D97-AF65-F5344CB8AC3E}">
        <p14:creationId xmlns:p14="http://schemas.microsoft.com/office/powerpoint/2010/main" val="939906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3A4CD-15E6-62DA-34EF-818F01925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0B058-F991-F055-E0DB-5E9F7BF57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52D73-E2EF-86AD-51F1-4012D78E810B}"/>
              </a:ext>
            </a:extLst>
          </p:cNvPr>
          <p:cNvSpPr>
            <a:spLocks noGrp="1"/>
          </p:cNvSpPr>
          <p:nvPr>
            <p:ph type="body" idx="1"/>
          </p:nvPr>
        </p:nvSpPr>
        <p:spPr/>
        <p:txBody>
          <a:bodyPr/>
          <a:lstStyle/>
          <a:p>
            <a:r>
              <a:rPr lang="en-US" dirty="0"/>
              <a:t>There are several types of performance testing, including load testing, stress testing, endurance testing, and spike testing. Each type focuses on different aspects of performance and helps in understanding the system's capabilities.</a:t>
            </a:r>
          </a:p>
        </p:txBody>
      </p:sp>
      <p:sp>
        <p:nvSpPr>
          <p:cNvPr id="4" name="Slide Number Placeholder 3">
            <a:extLst>
              <a:ext uri="{FF2B5EF4-FFF2-40B4-BE49-F238E27FC236}">
                <a16:creationId xmlns:a16="http://schemas.microsoft.com/office/drawing/2014/main" id="{19B66030-F811-4C0C-8C43-58B4D5D0B65D}"/>
              </a:ext>
            </a:extLst>
          </p:cNvPr>
          <p:cNvSpPr>
            <a:spLocks noGrp="1"/>
          </p:cNvSpPr>
          <p:nvPr>
            <p:ph type="sldNum" sz="quarter" idx="5"/>
          </p:nvPr>
        </p:nvSpPr>
        <p:spPr/>
        <p:txBody>
          <a:bodyPr/>
          <a:lstStyle/>
          <a:p>
            <a:fld id="{60641EE1-9086-465D-901E-6167A29DD888}" type="slidenum">
              <a:rPr lang="en-US" smtClean="0"/>
              <a:t>16</a:t>
            </a:fld>
            <a:endParaRPr lang="en-US"/>
          </a:p>
        </p:txBody>
      </p:sp>
    </p:spTree>
    <p:extLst>
      <p:ext uri="{BB962C8B-B14F-4D97-AF65-F5344CB8AC3E}">
        <p14:creationId xmlns:p14="http://schemas.microsoft.com/office/powerpoint/2010/main" val="2344700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641EE1-9086-465D-901E-6167A29DD888}" type="slidenum">
              <a:rPr lang="en-US" smtClean="0"/>
              <a:t>17</a:t>
            </a:fld>
            <a:endParaRPr lang="en-US"/>
          </a:p>
        </p:txBody>
      </p:sp>
    </p:spTree>
    <p:extLst>
      <p:ext uri="{BB962C8B-B14F-4D97-AF65-F5344CB8AC3E}">
        <p14:creationId xmlns:p14="http://schemas.microsoft.com/office/powerpoint/2010/main" val="3237471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Tests should be executed according to the defined scenarios, and relevant data must be collected for later analysis. This helps in gaining insights into system performance.</a:t>
            </a:r>
          </a:p>
        </p:txBody>
      </p:sp>
      <p:sp>
        <p:nvSpPr>
          <p:cNvPr id="4" name="Slide Number Placeholder 3"/>
          <p:cNvSpPr>
            <a:spLocks noGrp="1"/>
          </p:cNvSpPr>
          <p:nvPr>
            <p:ph type="sldNum" sz="quarter" idx="5"/>
          </p:nvPr>
        </p:nvSpPr>
        <p:spPr/>
        <p:txBody>
          <a:bodyPr/>
          <a:lstStyle/>
          <a:p>
            <a:fld id="{60641EE1-9086-465D-901E-6167A29DD888}" type="slidenum">
              <a:rPr lang="en-US" smtClean="0"/>
              <a:t>18</a:t>
            </a:fld>
            <a:endParaRPr lang="en-US"/>
          </a:p>
        </p:txBody>
      </p:sp>
    </p:spTree>
    <p:extLst>
      <p:ext uri="{BB962C8B-B14F-4D97-AF65-F5344CB8AC3E}">
        <p14:creationId xmlns:p14="http://schemas.microsoft.com/office/powerpoint/2010/main" val="2657252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Identifying and addressing performance issues during testing is critical. Implementing corrective actions can improve system performance and ensure a better user experience.</a:t>
            </a:r>
          </a:p>
        </p:txBody>
      </p:sp>
      <p:sp>
        <p:nvSpPr>
          <p:cNvPr id="4" name="Slide Number Placeholder 3"/>
          <p:cNvSpPr>
            <a:spLocks noGrp="1"/>
          </p:cNvSpPr>
          <p:nvPr>
            <p:ph type="sldNum" sz="quarter" idx="5"/>
          </p:nvPr>
        </p:nvSpPr>
        <p:spPr/>
        <p:txBody>
          <a:bodyPr/>
          <a:lstStyle/>
          <a:p>
            <a:fld id="{60641EE1-9086-465D-901E-6167A29DD888}" type="slidenum">
              <a:rPr lang="en-US" smtClean="0"/>
              <a:t>19</a:t>
            </a:fld>
            <a:endParaRPr lang="en-US"/>
          </a:p>
        </p:txBody>
      </p:sp>
    </p:spTree>
    <p:extLst>
      <p:ext uri="{BB962C8B-B14F-4D97-AF65-F5344CB8AC3E}">
        <p14:creationId xmlns:p14="http://schemas.microsoft.com/office/powerpoint/2010/main" val="247363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641EE1-9086-465D-901E-6167A29DD888}" type="slidenum">
              <a:rPr lang="en-US" smtClean="0"/>
              <a:t>20</a:t>
            </a:fld>
            <a:endParaRPr lang="en-US"/>
          </a:p>
        </p:txBody>
      </p:sp>
    </p:spTree>
    <p:extLst>
      <p:ext uri="{BB962C8B-B14F-4D97-AF65-F5344CB8AC3E}">
        <p14:creationId xmlns:p14="http://schemas.microsoft.com/office/powerpoint/2010/main" val="3409919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Interpreting performance data requires an understanding of key metrics and trends. Analyzing this data helps identify performance strengths and weaknesses.</a:t>
            </a:r>
          </a:p>
        </p:txBody>
      </p:sp>
      <p:sp>
        <p:nvSpPr>
          <p:cNvPr id="4" name="Slide Number Placeholder 3"/>
          <p:cNvSpPr>
            <a:spLocks noGrp="1"/>
          </p:cNvSpPr>
          <p:nvPr>
            <p:ph type="sldNum" sz="quarter" idx="5"/>
          </p:nvPr>
        </p:nvSpPr>
        <p:spPr/>
        <p:txBody>
          <a:bodyPr/>
          <a:lstStyle/>
          <a:p>
            <a:fld id="{60641EE1-9086-465D-901E-6167A29DD888}" type="slidenum">
              <a:rPr lang="en-US" smtClean="0"/>
              <a:t>21</a:t>
            </a:fld>
            <a:endParaRPr lang="en-US"/>
          </a:p>
        </p:txBody>
      </p:sp>
    </p:spTree>
    <p:extLst>
      <p:ext uri="{BB962C8B-B14F-4D97-AF65-F5344CB8AC3E}">
        <p14:creationId xmlns:p14="http://schemas.microsoft.com/office/powerpoint/2010/main" val="32101353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analysis, areas for improvement can be pinpointed. This step is essential for enhancing application performance and ensuring it meets user expectations.</a:t>
            </a:r>
          </a:p>
        </p:txBody>
      </p:sp>
      <p:sp>
        <p:nvSpPr>
          <p:cNvPr id="4" name="Slide Number Placeholder 3"/>
          <p:cNvSpPr>
            <a:spLocks noGrp="1"/>
          </p:cNvSpPr>
          <p:nvPr>
            <p:ph type="sldNum" sz="quarter" idx="5"/>
          </p:nvPr>
        </p:nvSpPr>
        <p:spPr/>
        <p:txBody>
          <a:bodyPr/>
          <a:lstStyle/>
          <a:p>
            <a:fld id="{60641EE1-9086-465D-901E-6167A29DD888}" type="slidenum">
              <a:rPr lang="en-US" smtClean="0"/>
              <a:t>22</a:t>
            </a:fld>
            <a:endParaRPr lang="en-US"/>
          </a:p>
        </p:txBody>
      </p:sp>
    </p:spTree>
    <p:extLst>
      <p:ext uri="{BB962C8B-B14F-4D97-AF65-F5344CB8AC3E}">
        <p14:creationId xmlns:p14="http://schemas.microsoft.com/office/powerpoint/2010/main" val="41446545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Creating detailed reports that summarize testing results and findings is essential for communication with stakeholders. These reports should highlight key issues and recommendations.</a:t>
            </a:r>
          </a:p>
        </p:txBody>
      </p:sp>
      <p:sp>
        <p:nvSpPr>
          <p:cNvPr id="4" name="Slide Number Placeholder 3"/>
          <p:cNvSpPr>
            <a:spLocks noGrp="1"/>
          </p:cNvSpPr>
          <p:nvPr>
            <p:ph type="sldNum" sz="quarter" idx="5"/>
          </p:nvPr>
        </p:nvSpPr>
        <p:spPr/>
        <p:txBody>
          <a:bodyPr/>
          <a:lstStyle/>
          <a:p>
            <a:fld id="{60641EE1-9086-465D-901E-6167A29DD888}" type="slidenum">
              <a:rPr lang="en-US" smtClean="0"/>
              <a:t>23</a:t>
            </a:fld>
            <a:endParaRPr lang="en-US"/>
          </a:p>
        </p:txBody>
      </p:sp>
    </p:spTree>
    <p:extLst>
      <p:ext uri="{BB962C8B-B14F-4D97-AF65-F5344CB8AC3E}">
        <p14:creationId xmlns:p14="http://schemas.microsoft.com/office/powerpoint/2010/main" val="3645871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B083B-44FF-7508-5CA7-591773E7F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FE8692-0F81-0F6E-BCF6-3E9D17A73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517844-68B4-07AC-4F2E-9659A993B419}"/>
              </a:ext>
            </a:extLst>
          </p:cNvPr>
          <p:cNvSpPr>
            <a:spLocks noGrp="1"/>
          </p:cNvSpPr>
          <p:nvPr>
            <p:ph type="body" idx="1"/>
          </p:nvPr>
        </p:nvSpPr>
        <p:spPr/>
        <p:txBody>
          <a:bodyPr/>
          <a:lstStyle/>
          <a:p>
            <a:r>
              <a:rPr lang="en-US" dirty="0"/>
              <a:t>There are several types of performance testing, including load testing, stress testing, endurance testing, and spike testing. Each type focuses on different aspects of performance and helps in understanding the system's capabilities.</a:t>
            </a:r>
          </a:p>
        </p:txBody>
      </p:sp>
      <p:sp>
        <p:nvSpPr>
          <p:cNvPr id="4" name="Slide Number Placeholder 3">
            <a:extLst>
              <a:ext uri="{FF2B5EF4-FFF2-40B4-BE49-F238E27FC236}">
                <a16:creationId xmlns:a16="http://schemas.microsoft.com/office/drawing/2014/main" id="{2FB27B5A-03BB-CA7C-7D29-C27C65053DDD}"/>
              </a:ext>
            </a:extLst>
          </p:cNvPr>
          <p:cNvSpPr>
            <a:spLocks noGrp="1"/>
          </p:cNvSpPr>
          <p:nvPr>
            <p:ph type="sldNum" sz="quarter" idx="5"/>
          </p:nvPr>
        </p:nvSpPr>
        <p:spPr/>
        <p:txBody>
          <a:bodyPr/>
          <a:lstStyle/>
          <a:p>
            <a:fld id="{60641EE1-9086-465D-901E-6167A29DD888}" type="slidenum">
              <a:rPr lang="en-US" smtClean="0"/>
              <a:t>24</a:t>
            </a:fld>
            <a:endParaRPr lang="en-US"/>
          </a:p>
        </p:txBody>
      </p:sp>
    </p:spTree>
    <p:extLst>
      <p:ext uri="{BB962C8B-B14F-4D97-AF65-F5344CB8AC3E}">
        <p14:creationId xmlns:p14="http://schemas.microsoft.com/office/powerpoint/2010/main" val="23776896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641EE1-9086-465D-901E-6167A29DD888}" type="slidenum">
              <a:rPr lang="en-US" smtClean="0"/>
              <a:t>25</a:t>
            </a:fld>
            <a:endParaRPr lang="en-US"/>
          </a:p>
        </p:txBody>
      </p:sp>
    </p:spTree>
    <p:extLst>
      <p:ext uri="{BB962C8B-B14F-4D97-AF65-F5344CB8AC3E}">
        <p14:creationId xmlns:p14="http://schemas.microsoft.com/office/powerpoint/2010/main" val="3832382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test findings, implementing performance improvements is critical. These enhancements can significantly elevate the user experience and application efficiency.</a:t>
            </a:r>
          </a:p>
        </p:txBody>
      </p:sp>
      <p:sp>
        <p:nvSpPr>
          <p:cNvPr id="4" name="Slide Number Placeholder 3"/>
          <p:cNvSpPr>
            <a:spLocks noGrp="1"/>
          </p:cNvSpPr>
          <p:nvPr>
            <p:ph type="sldNum" sz="quarter" idx="5"/>
          </p:nvPr>
        </p:nvSpPr>
        <p:spPr/>
        <p:txBody>
          <a:bodyPr/>
          <a:lstStyle/>
          <a:p>
            <a:fld id="{60641EE1-9086-465D-901E-6167A29DD888}" type="slidenum">
              <a:rPr lang="en-US" smtClean="0"/>
              <a:t>26</a:t>
            </a:fld>
            <a:endParaRPr lang="en-US"/>
          </a:p>
        </p:txBody>
      </p:sp>
    </p:spTree>
    <p:extLst>
      <p:ext uri="{BB962C8B-B14F-4D97-AF65-F5344CB8AC3E}">
        <p14:creationId xmlns:p14="http://schemas.microsoft.com/office/powerpoint/2010/main" val="33393224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discusses various performance testing tools beneficial for scripting and monitoring. Scripting tools help automate the creation of performance test scripts, making it easier to execute tests. Monitoring tools provide real-time insights into system performance, allowing for immediate detection of issues. Selecting the correct tools significantly influences the testing process's overall efficiency.</a:t>
            </a:r>
          </a:p>
        </p:txBody>
      </p:sp>
      <p:sp>
        <p:nvSpPr>
          <p:cNvPr id="4" name="Slide Number Placeholder 3"/>
          <p:cNvSpPr>
            <a:spLocks noGrp="1"/>
          </p:cNvSpPr>
          <p:nvPr>
            <p:ph type="sldNum" sz="quarter" idx="5"/>
          </p:nvPr>
        </p:nvSpPr>
        <p:spPr/>
        <p:txBody>
          <a:bodyPr/>
          <a:lstStyle/>
          <a:p>
            <a:fld id="{93B00C66-7FE3-40DD-B1E5-D28902D7173E}" type="slidenum">
              <a:rPr lang="en-US" smtClean="0"/>
              <a:t>27</a:t>
            </a:fld>
            <a:endParaRPr lang="en-US"/>
          </a:p>
        </p:txBody>
      </p:sp>
    </p:spTree>
    <p:extLst>
      <p:ext uri="{BB962C8B-B14F-4D97-AF65-F5344CB8AC3E}">
        <p14:creationId xmlns:p14="http://schemas.microsoft.com/office/powerpoint/2010/main" val="636154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30FBC-9B64-A691-CF41-9CE3E2DE0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E7515-BD44-1953-85AE-82D7F765C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5CF9F-BFEE-5C5F-CBA2-DE7CFC233D07}"/>
              </a:ext>
            </a:extLst>
          </p:cNvPr>
          <p:cNvSpPr>
            <a:spLocks noGrp="1"/>
          </p:cNvSpPr>
          <p:nvPr>
            <p:ph type="body" idx="1"/>
          </p:nvPr>
        </p:nvSpPr>
        <p:spPr/>
        <p:txBody>
          <a:bodyPr/>
          <a:lstStyle/>
          <a:p>
            <a:r>
              <a:rPr lang="en-US"/>
              <a:t>In conclusion, performance testing is a vital part of software development that ensures systems are efficient, scalable, and reliable. By following a structured lifecycle, organizations can enhance user satisfaction and maintain high performance.</a:t>
            </a:r>
          </a:p>
        </p:txBody>
      </p:sp>
      <p:sp>
        <p:nvSpPr>
          <p:cNvPr id="4" name="Slide Number Placeholder 3">
            <a:extLst>
              <a:ext uri="{FF2B5EF4-FFF2-40B4-BE49-F238E27FC236}">
                <a16:creationId xmlns:a16="http://schemas.microsoft.com/office/drawing/2014/main" id="{1820660F-372B-31B9-D2B1-A4420C311AD3}"/>
              </a:ext>
            </a:extLst>
          </p:cNvPr>
          <p:cNvSpPr>
            <a:spLocks noGrp="1"/>
          </p:cNvSpPr>
          <p:nvPr>
            <p:ph type="sldNum" sz="quarter" idx="5"/>
          </p:nvPr>
        </p:nvSpPr>
        <p:spPr/>
        <p:txBody>
          <a:bodyPr/>
          <a:lstStyle/>
          <a:p>
            <a:fld id="{60641EE1-9086-465D-901E-6167A29DD888}" type="slidenum">
              <a:rPr lang="en-US" smtClean="0"/>
              <a:t>28</a:t>
            </a:fld>
            <a:endParaRPr lang="en-US"/>
          </a:p>
        </p:txBody>
      </p:sp>
    </p:spTree>
    <p:extLst>
      <p:ext uri="{BB962C8B-B14F-4D97-AF65-F5344CB8AC3E}">
        <p14:creationId xmlns:p14="http://schemas.microsoft.com/office/powerpoint/2010/main" val="3372645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10/12/2026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62216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10/12/2026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84974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10/12/2026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2764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10/12/2026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97119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10/12/2026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1966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10/12/2026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3050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10/12/2026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3958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10/12/2026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45518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10/12/2026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479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10/12/2026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35708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10/12/2026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81341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A38F49-B3E2-4BF0-BEC7-C30D34ABBB8D}" type="datetime1">
              <a:rPr lang="en-US" smtClean="0"/>
              <a:t>10/12/2026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4511682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F7AE-5F75-9354-4E86-BD6E42D0724F}"/>
              </a:ext>
            </a:extLst>
          </p:cNvPr>
          <p:cNvSpPr>
            <a:spLocks noGrp="1"/>
          </p:cNvSpPr>
          <p:nvPr>
            <p:ph type="ctrTitle"/>
          </p:nvPr>
        </p:nvSpPr>
        <p:spPr>
          <a:xfrm>
            <a:off x="7537528" y="1032764"/>
            <a:ext cx="4308672" cy="3224045"/>
          </a:xfrm>
        </p:spPr>
        <p:txBody>
          <a:bodyPr anchor="b">
            <a:normAutofit fontScale="90000"/>
          </a:bodyPr>
          <a:lstStyle/>
          <a:p>
            <a:pPr>
              <a:lnSpc>
                <a:spcPct val="90000"/>
              </a:lnSpc>
            </a:pPr>
            <a:r>
              <a:rPr lang="en-US" dirty="0"/>
              <a:t>Performance Testing: Overview and Lifecycle</a:t>
            </a:r>
          </a:p>
        </p:txBody>
      </p:sp>
      <p:sp>
        <p:nvSpPr>
          <p:cNvPr id="3" name="Subtitle 2">
            <a:extLst>
              <a:ext uri="{FF2B5EF4-FFF2-40B4-BE49-F238E27FC236}">
                <a16:creationId xmlns:a16="http://schemas.microsoft.com/office/drawing/2014/main" id="{A355973F-289F-EBF9-91AF-858B389DB4A8}"/>
              </a:ext>
            </a:extLst>
          </p:cNvPr>
          <p:cNvSpPr>
            <a:spLocks noGrp="1"/>
          </p:cNvSpPr>
          <p:nvPr>
            <p:ph type="subTitle" idx="1"/>
          </p:nvPr>
        </p:nvSpPr>
        <p:spPr>
          <a:xfrm>
            <a:off x="7537528" y="4874002"/>
            <a:ext cx="4308672" cy="1172408"/>
          </a:xfrm>
        </p:spPr>
        <p:txBody>
          <a:bodyPr anchor="t">
            <a:normAutofit/>
          </a:bodyPr>
          <a:lstStyle/>
          <a:p>
            <a:r>
              <a:rPr lang="en-US" dirty="0"/>
              <a:t>Understanding the process of software performance testing</a:t>
            </a:r>
          </a:p>
        </p:txBody>
      </p:sp>
      <p:pic>
        <p:nvPicPr>
          <p:cNvPr id="4" name="Picture 3" descr="Shot of a computer with a graph on the screen in an empty laboratory">
            <a:extLst>
              <a:ext uri="{FF2B5EF4-FFF2-40B4-BE49-F238E27FC236}">
                <a16:creationId xmlns:a16="http://schemas.microsoft.com/office/drawing/2014/main" id="{FE95F78A-7A08-4D79-9D32-15EAEF0188B2}"/>
              </a:ext>
            </a:extLst>
          </p:cNvPr>
          <p:cNvPicPr>
            <a:picLocks noChangeAspect="1"/>
          </p:cNvPicPr>
          <p:nvPr/>
        </p:nvPicPr>
        <p:blipFill>
          <a:blip r:embed="rId3"/>
          <a:srcRect l="15162" r="18641" b="2"/>
          <a:stretch/>
        </p:blipFill>
        <p:spPr>
          <a:xfrm>
            <a:off x="20" y="10"/>
            <a:ext cx="6931132" cy="6857990"/>
          </a:xfrm>
          <a:prstGeom prst="rect">
            <a:avLst/>
          </a:prstGeom>
        </p:spPr>
      </p:pic>
      <p:sp>
        <p:nvSpPr>
          <p:cNvPr id="5" name="Subtitle 2">
            <a:extLst>
              <a:ext uri="{FF2B5EF4-FFF2-40B4-BE49-F238E27FC236}">
                <a16:creationId xmlns:a16="http://schemas.microsoft.com/office/drawing/2014/main" id="{949D2B6B-0D5B-DE6B-855C-4810A1B6ABA6}"/>
              </a:ext>
            </a:extLst>
          </p:cNvPr>
          <p:cNvSpPr txBox="1">
            <a:spLocks/>
          </p:cNvSpPr>
          <p:nvPr/>
        </p:nvSpPr>
        <p:spPr>
          <a:xfrm>
            <a:off x="10107174" y="6046410"/>
            <a:ext cx="2388014" cy="432212"/>
          </a:xfrm>
          <a:prstGeom prst="rect">
            <a:avLst/>
          </a:prstGeom>
        </p:spPr>
        <p:txBody>
          <a:bodyPr vert="horz" lIns="91440" tIns="45720" rIns="91440" bIns="45720" rtlCol="0" anchor="t">
            <a:no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t>By Yamini Khisti</a:t>
            </a:r>
          </a:p>
          <a:p>
            <a:r>
              <a:rPr lang="en-US" sz="1200"/>
              <a:t>10-OCT-2026</a:t>
            </a:r>
            <a:endParaRPr lang="en-US" sz="1200" dirty="0"/>
          </a:p>
        </p:txBody>
      </p:sp>
    </p:spTree>
    <p:extLst>
      <p:ext uri="{BB962C8B-B14F-4D97-AF65-F5344CB8AC3E}">
        <p14:creationId xmlns:p14="http://schemas.microsoft.com/office/powerpoint/2010/main" val="4227982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par>
                                <p:cTn id="16" presetID="10" presetClass="entr" presetSubtype="0" fill="hold" grpId="0" nodeType="withEffect">
                                  <p:stCondLst>
                                    <p:cond delay="2000"/>
                                  </p:stCondLst>
                                  <p:iterate type="lt">
                                    <p:tmPct val="10000"/>
                                  </p:iterate>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4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2000"/>
                                  </p:stCondLst>
                                  <p:iterate type="lt">
                                    <p:tmPct val="10000"/>
                                  </p:iterate>
                                  <p:childTnLst>
                                    <p:set>
                                      <p:cBhvr>
                                        <p:cTn id="22" dur="1" fill="hold">
                                          <p:stCondLst>
                                            <p:cond delay="0"/>
                                          </p:stCondLst>
                                        </p:cTn>
                                        <p:tgtEl>
                                          <p:spTgt spid="5">
                                            <p:txEl>
                                              <p:pRg st="1" end="1"/>
                                            </p:txEl>
                                          </p:spTgt>
                                        </p:tgtEl>
                                        <p:attrNameLst>
                                          <p:attrName>style.visibility</p:attrName>
                                        </p:attrNameLst>
                                      </p:cBhvr>
                                      <p:to>
                                        <p:strVal val="visible"/>
                                      </p:to>
                                    </p:set>
                                    <p:animEffect transition="in" filter="fade">
                                      <p:cBhvr>
                                        <p:cTn id="23" dur="400"/>
                                        <p:tgtEl>
                                          <p:spTgt spid="5">
                                            <p:txEl>
                                              <p:pRg st="1" end="1"/>
                                            </p:txEl>
                                          </p:spTgt>
                                        </p:tgtEl>
                                      </p:cBhvr>
                                    </p:animEffect>
                                  </p:childTnLst>
                                </p:cTn>
                              </p:par>
                              <p:par>
                                <p:cTn id="24" presetID="42" presetClass="entr" presetSubtype="0" fill="hold" grpId="1" nodeType="withEffect">
                                  <p:stCondLst>
                                    <p:cond delay="250"/>
                                  </p:stCondLst>
                                  <p:iterate type="lt">
                                    <p:tmPct val="10000"/>
                                  </p:iterate>
                                  <p:childTnLst>
                                    <p:set>
                                      <p:cBhvr>
                                        <p:cTn id="25" dur="1" fill="hold">
                                          <p:stCondLst>
                                            <p:cond delay="0"/>
                                          </p:stCondLst>
                                        </p:cTn>
                                        <p:tgtEl>
                                          <p:spTgt spid="5"/>
                                        </p:tgtEl>
                                        <p:attrNameLst>
                                          <p:attrName>style.visibility</p:attrName>
                                        </p:attrNameLst>
                                      </p:cBhvr>
                                      <p:to>
                                        <p:strVal val="visible"/>
                                      </p:to>
                                    </p:set>
                                    <p:animEffect transition="in" filter="fade">
                                      <p:cBhvr>
                                        <p:cTn id="26" dur="250"/>
                                        <p:tgtEl>
                                          <p:spTgt spid="5"/>
                                        </p:tgtEl>
                                      </p:cBhvr>
                                    </p:animEffect>
                                    <p:anim calcmode="lin" valueType="num">
                                      <p:cBhvr>
                                        <p:cTn id="27" dur="250" fill="hold"/>
                                        <p:tgtEl>
                                          <p:spTgt spid="5"/>
                                        </p:tgtEl>
                                        <p:attrNameLst>
                                          <p:attrName>ppt_x</p:attrName>
                                        </p:attrNameLst>
                                      </p:cBhvr>
                                      <p:tavLst>
                                        <p:tav tm="0">
                                          <p:val>
                                            <p:strVal val="#ppt_x"/>
                                          </p:val>
                                        </p:tav>
                                        <p:tav tm="100000">
                                          <p:val>
                                            <p:strVal val="#ppt_x"/>
                                          </p:val>
                                        </p:tav>
                                      </p:tavLst>
                                    </p:anim>
                                    <p:anim calcmode="lin" valueType="num">
                                      <p:cBhvr>
                                        <p:cTn id="28"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5" grpId="0" build="p"/>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544CA-DBFD-B8F5-8F17-A70FC06F529E}"/>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a:t>Agenda Overview</a:t>
            </a:r>
          </a:p>
        </p:txBody>
      </p:sp>
      <p:pic>
        <p:nvPicPr>
          <p:cNvPr id="5" name="Content Placeholder 4" descr="Young people should have passion and determination to achieve goal">
            <a:extLst>
              <a:ext uri="{FF2B5EF4-FFF2-40B4-BE49-F238E27FC236}">
                <a16:creationId xmlns:a16="http://schemas.microsoft.com/office/drawing/2014/main" id="{5C3361B7-80C6-421E-B38E-A976D6084AC3}"/>
              </a:ext>
            </a:extLst>
          </p:cNvPr>
          <p:cNvPicPr>
            <a:picLocks noGrp="1" noChangeAspect="1"/>
          </p:cNvPicPr>
          <p:nvPr>
            <p:ph sz="half" idx="1"/>
          </p:nvPr>
        </p:nvPicPr>
        <p:blipFill>
          <a:blip r:embed="rId3"/>
          <a:srcRect l="9428" r="7568" b="2"/>
          <a:stretch/>
        </p:blipFill>
        <p:spPr>
          <a:xfrm>
            <a:off x="-1" y="914399"/>
            <a:ext cx="6657255" cy="5353523"/>
          </a:xfrm>
          <a:prstGeom prst="rect">
            <a:avLst/>
          </a:prstGeom>
        </p:spPr>
      </p:pic>
      <p:sp>
        <p:nvSpPr>
          <p:cNvPr id="4" name="Content Placeholder 3">
            <a:extLst>
              <a:ext uri="{FF2B5EF4-FFF2-40B4-BE49-F238E27FC236}">
                <a16:creationId xmlns:a16="http://schemas.microsoft.com/office/drawing/2014/main" id="{C3F4B959-D7DD-8F45-032F-F58BB64D8B64}"/>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fontScale="92500" lnSpcReduction="10000"/>
          </a:bodyPr>
          <a:lstStyle/>
          <a:p>
            <a:r>
              <a:rPr lang="en-US" dirty="0"/>
              <a:t>Introduction to Performance Testing</a:t>
            </a:r>
          </a:p>
          <a:p>
            <a:r>
              <a:rPr lang="en-US" dirty="0"/>
              <a:t>Planning and Preparation</a:t>
            </a:r>
          </a:p>
          <a:p>
            <a:r>
              <a:rPr lang="en-US" dirty="0"/>
              <a:t>Designing Test Cases</a:t>
            </a:r>
          </a:p>
          <a:p>
            <a:r>
              <a:rPr lang="en-US" dirty="0"/>
              <a:t>Test Execution and Monitoring</a:t>
            </a:r>
          </a:p>
          <a:p>
            <a:r>
              <a:rPr lang="en-US" dirty="0"/>
              <a:t>Analyzing Results and Reporting</a:t>
            </a:r>
          </a:p>
          <a:p>
            <a:r>
              <a:rPr lang="en-US" dirty="0"/>
              <a:t>Continuous Improvement and Maintenance</a:t>
            </a:r>
          </a:p>
        </p:txBody>
      </p:sp>
      <p:grpSp>
        <p:nvGrpSpPr>
          <p:cNvPr id="3" name="Group 2">
            <a:extLst>
              <a:ext uri="{FF2B5EF4-FFF2-40B4-BE49-F238E27FC236}">
                <a16:creationId xmlns:a16="http://schemas.microsoft.com/office/drawing/2014/main" id="{4BFF36B9-3DDA-971F-4660-1DF93F0ADD04}"/>
              </a:ext>
            </a:extLst>
          </p:cNvPr>
          <p:cNvGrpSpPr>
            <a:grpSpLocks noChangeAspect="1"/>
          </p:cNvGrpSpPr>
          <p:nvPr/>
        </p:nvGrpSpPr>
        <p:grpSpPr>
          <a:xfrm>
            <a:off x="9605029" y="6168983"/>
            <a:ext cx="2185416" cy="586592"/>
            <a:chOff x="9563100" y="1673029"/>
            <a:chExt cx="1389888" cy="373063"/>
          </a:xfrm>
        </p:grpSpPr>
        <p:pic>
          <p:nvPicPr>
            <p:cNvPr id="6" name="Picture 5">
              <a:extLst>
                <a:ext uri="{FF2B5EF4-FFF2-40B4-BE49-F238E27FC236}">
                  <a16:creationId xmlns:a16="http://schemas.microsoft.com/office/drawing/2014/main" id="{2F2373CE-4B41-8653-11D8-9F460D59C2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98A8FB58-E1E1-1584-EA93-6EE5F479ED8F}"/>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8541637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D1336-63A1-10A5-6337-A3BDD362ED96}"/>
              </a:ext>
            </a:extLst>
          </p:cNvPr>
          <p:cNvSpPr>
            <a:spLocks noGrp="1"/>
          </p:cNvSpPr>
          <p:nvPr>
            <p:ph type="ctrTitle"/>
          </p:nvPr>
        </p:nvSpPr>
        <p:spPr>
          <a:xfrm>
            <a:off x="1946564" y="1249217"/>
            <a:ext cx="8298873" cy="2258284"/>
          </a:xfrm>
        </p:spPr>
        <p:txBody>
          <a:bodyPr anchor="b">
            <a:normAutofit/>
          </a:bodyPr>
          <a:lstStyle/>
          <a:p>
            <a:pPr algn="ctr"/>
            <a:r>
              <a:rPr lang="en-US" sz="6600"/>
              <a:t>Introduction to Performance Testing</a:t>
            </a:r>
          </a:p>
        </p:txBody>
      </p:sp>
      <p:sp>
        <p:nvSpPr>
          <p:cNvPr id="3" name="Title 1">
            <a:extLst>
              <a:ext uri="{FF2B5EF4-FFF2-40B4-BE49-F238E27FC236}">
                <a16:creationId xmlns:a16="http://schemas.microsoft.com/office/drawing/2014/main" id="{8081296D-87CE-34B3-E8B4-B455D16B6FC5}"/>
              </a:ext>
            </a:extLst>
          </p:cNvPr>
          <p:cNvSpPr txBox="1">
            <a:spLocks/>
          </p:cNvSpPr>
          <p:nvPr/>
        </p:nvSpPr>
        <p:spPr>
          <a:xfrm>
            <a:off x="1946564" y="4053608"/>
            <a:ext cx="8298873" cy="2258284"/>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a:lstStyle>
          <a:p>
            <a:r>
              <a:rPr lang="en-US" sz="2400" dirty="0"/>
              <a:t>Performance testing is a type of non-functional testing which evaluates how a system performs under various conditions. It is essential to ensure that applications meet user expectations and operate efficiently under load.</a:t>
            </a:r>
          </a:p>
        </p:txBody>
      </p:sp>
      <p:grpSp>
        <p:nvGrpSpPr>
          <p:cNvPr id="4" name="Group 3">
            <a:extLst>
              <a:ext uri="{FF2B5EF4-FFF2-40B4-BE49-F238E27FC236}">
                <a16:creationId xmlns:a16="http://schemas.microsoft.com/office/drawing/2014/main" id="{BB2F6E69-7E9A-BA7F-33D1-10E9607FD8D3}"/>
              </a:ext>
            </a:extLst>
          </p:cNvPr>
          <p:cNvGrpSpPr>
            <a:grpSpLocks noChangeAspect="1"/>
          </p:cNvGrpSpPr>
          <p:nvPr/>
        </p:nvGrpSpPr>
        <p:grpSpPr>
          <a:xfrm>
            <a:off x="9729720" y="6018596"/>
            <a:ext cx="2185416" cy="586592"/>
            <a:chOff x="9563100" y="1673029"/>
            <a:chExt cx="1389888" cy="373063"/>
          </a:xfrm>
        </p:grpSpPr>
        <p:pic>
          <p:nvPicPr>
            <p:cNvPr id="13" name="Picture 12">
              <a:extLst>
                <a:ext uri="{FF2B5EF4-FFF2-40B4-BE49-F238E27FC236}">
                  <a16:creationId xmlns:a16="http://schemas.microsoft.com/office/drawing/2014/main" id="{5792D951-CE36-7167-ADB4-EE9F39BA4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5" name="Freeform 5">
              <a:extLst>
                <a:ext uri="{FF2B5EF4-FFF2-40B4-BE49-F238E27FC236}">
                  <a16:creationId xmlns:a16="http://schemas.microsoft.com/office/drawing/2014/main" id="{D9AB33BC-DA7D-4972-2128-35B699B07DBD}"/>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192885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6B1CA-3589-8D12-2A67-77A2B8270591}"/>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dirty="0"/>
              <a:t>Definition and Importance</a:t>
            </a:r>
          </a:p>
        </p:txBody>
      </p:sp>
      <p:pic>
        <p:nvPicPr>
          <p:cNvPr id="5" name="Content Placeholder 4" descr="Quality Assurance Concept with Icons and Keywords">
            <a:extLst>
              <a:ext uri="{FF2B5EF4-FFF2-40B4-BE49-F238E27FC236}">
                <a16:creationId xmlns:a16="http://schemas.microsoft.com/office/drawing/2014/main" id="{DB3A770E-0FE0-405C-89D0-FF9EFBAE5C33}"/>
              </a:ext>
            </a:extLst>
          </p:cNvPr>
          <p:cNvPicPr>
            <a:picLocks noGrp="1" noChangeAspect="1"/>
          </p:cNvPicPr>
          <p:nvPr>
            <p:ph sz="half" idx="1"/>
          </p:nvPr>
        </p:nvPicPr>
        <p:blipFill>
          <a:blip r:embed="rId3"/>
          <a:srcRect t="2620" r="-2" b="22799"/>
          <a:stretch/>
        </p:blipFill>
        <p:spPr>
          <a:xfrm>
            <a:off x="1" y="2613892"/>
            <a:ext cx="4946906" cy="3689359"/>
          </a:xfrm>
          <a:prstGeom prst="rect">
            <a:avLst/>
          </a:prstGeom>
        </p:spPr>
      </p:pic>
      <p:sp>
        <p:nvSpPr>
          <p:cNvPr id="4" name="Content Placeholder 3">
            <a:extLst>
              <a:ext uri="{FF2B5EF4-FFF2-40B4-BE49-F238E27FC236}">
                <a16:creationId xmlns:a16="http://schemas.microsoft.com/office/drawing/2014/main" id="{72C19134-02ED-3771-B51D-E273682086A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600" b="1" dirty="0"/>
              <a:t>What is Performance Testing?</a:t>
            </a:r>
          </a:p>
          <a:p>
            <a:pPr marL="0" lvl="1" indent="0">
              <a:buNone/>
            </a:pPr>
            <a:r>
              <a:rPr lang="en-US" sz="1600" dirty="0"/>
              <a:t>Performance testing evaluates the speed, scalability, and reliability of a system under various conditions and loads.</a:t>
            </a:r>
          </a:p>
          <a:p>
            <a:pPr marL="0" indent="0">
              <a:spcBef>
                <a:spcPts val="2500"/>
              </a:spcBef>
              <a:buNone/>
            </a:pPr>
            <a:r>
              <a:rPr lang="en-US" sz="1600" b="1" dirty="0"/>
              <a:t>Identifying Bottlenecks</a:t>
            </a:r>
          </a:p>
          <a:p>
            <a:pPr marL="0" lvl="1" indent="0">
              <a:buNone/>
            </a:pPr>
            <a:r>
              <a:rPr lang="en-US" sz="1600" dirty="0"/>
              <a:t>It helps in identifying potential bottlenecks before deployment, ensuring that systems function smoothly under expected load.</a:t>
            </a:r>
          </a:p>
          <a:p>
            <a:pPr marL="0" indent="0">
              <a:spcBef>
                <a:spcPts val="2500"/>
              </a:spcBef>
              <a:buNone/>
            </a:pPr>
            <a:r>
              <a:rPr lang="en-US" sz="1600" b="1" dirty="0"/>
              <a:t>Ensuring User Satisfaction</a:t>
            </a:r>
          </a:p>
          <a:p>
            <a:pPr marL="0" lvl="1" indent="0">
              <a:buNone/>
            </a:pPr>
            <a:r>
              <a:rPr lang="en-US" sz="1600" dirty="0"/>
              <a:t>Performance testing ensures user satisfaction by verifying that applications meet performance standards during peak usage times.</a:t>
            </a:r>
          </a:p>
          <a:p>
            <a:pPr marL="0" indent="0">
              <a:spcBef>
                <a:spcPts val="2500"/>
              </a:spcBef>
              <a:buNone/>
            </a:pPr>
            <a:r>
              <a:rPr lang="en-US" sz="1600" b="1" dirty="0"/>
              <a:t>Maintaining Application Performance</a:t>
            </a:r>
          </a:p>
          <a:p>
            <a:pPr marL="0" lvl="1" indent="0">
              <a:buNone/>
            </a:pPr>
            <a:r>
              <a:rPr lang="en-US" sz="1600" dirty="0"/>
              <a:t>Regular performance testing maintains application performance over time, allowing for continuous improvements and updates.</a:t>
            </a:r>
          </a:p>
        </p:txBody>
      </p:sp>
      <p:grpSp>
        <p:nvGrpSpPr>
          <p:cNvPr id="3" name="Group 2">
            <a:extLst>
              <a:ext uri="{FF2B5EF4-FFF2-40B4-BE49-F238E27FC236}">
                <a16:creationId xmlns:a16="http://schemas.microsoft.com/office/drawing/2014/main" id="{033C039A-A2F3-FD2D-117A-9B24CDC7C92A}"/>
              </a:ext>
            </a:extLst>
          </p:cNvPr>
          <p:cNvGrpSpPr>
            <a:grpSpLocks noChangeAspect="1"/>
          </p:cNvGrpSpPr>
          <p:nvPr/>
        </p:nvGrpSpPr>
        <p:grpSpPr>
          <a:xfrm>
            <a:off x="9826702" y="5979230"/>
            <a:ext cx="2185416" cy="586592"/>
            <a:chOff x="9563100" y="1673029"/>
            <a:chExt cx="1389888" cy="373063"/>
          </a:xfrm>
        </p:grpSpPr>
        <p:pic>
          <p:nvPicPr>
            <p:cNvPr id="6" name="Picture 5">
              <a:extLst>
                <a:ext uri="{FF2B5EF4-FFF2-40B4-BE49-F238E27FC236}">
                  <a16:creationId xmlns:a16="http://schemas.microsoft.com/office/drawing/2014/main" id="{673A8648-6894-8C25-07EE-D95F5F6E81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2FFFD839-B919-DE7C-91C8-EDE0BC4E827C}"/>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7001536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21A2E-F5E6-2F1D-8A5D-44D9D243D717}"/>
              </a:ext>
            </a:extLst>
          </p:cNvPr>
          <p:cNvSpPr>
            <a:spLocks noGrp="1"/>
          </p:cNvSpPr>
          <p:nvPr>
            <p:ph type="title"/>
          </p:nvPr>
        </p:nvSpPr>
        <p:spPr>
          <a:xfrm>
            <a:off x="640080" y="914401"/>
            <a:ext cx="4306824" cy="1477817"/>
          </a:xfrm>
        </p:spPr>
        <p:txBody>
          <a:bodyPr vert="horz" lIns="91440" tIns="45720" rIns="91440" bIns="45720" rtlCol="0" anchor="t">
            <a:normAutofit/>
          </a:bodyPr>
          <a:lstStyle/>
          <a:p>
            <a:pPr>
              <a:lnSpc>
                <a:spcPct val="90000"/>
              </a:lnSpc>
            </a:pPr>
            <a:r>
              <a:rPr lang="en-US" sz="3400" dirty="0"/>
              <a:t>Types of Performance Testing</a:t>
            </a:r>
          </a:p>
        </p:txBody>
      </p:sp>
      <p:pic>
        <p:nvPicPr>
          <p:cNvPr id="5" name="Content Placeholder 4" descr="Closeup of a pen on financial data.">
            <a:extLst>
              <a:ext uri="{FF2B5EF4-FFF2-40B4-BE49-F238E27FC236}">
                <a16:creationId xmlns:a16="http://schemas.microsoft.com/office/drawing/2014/main" id="{56FF03C5-17E8-4E54-97A4-64B4D28571E0}"/>
              </a:ext>
            </a:extLst>
          </p:cNvPr>
          <p:cNvPicPr>
            <a:picLocks noGrp="1" noChangeAspect="1"/>
          </p:cNvPicPr>
          <p:nvPr>
            <p:ph sz="half" idx="1"/>
          </p:nvPr>
        </p:nvPicPr>
        <p:blipFill>
          <a:blip r:embed="rId3"/>
          <a:srcRect l="10498" r="1" b="1"/>
          <a:stretch/>
        </p:blipFill>
        <p:spPr>
          <a:xfrm>
            <a:off x="1" y="2613892"/>
            <a:ext cx="4946906" cy="3689359"/>
          </a:xfrm>
          <a:prstGeom prst="rect">
            <a:avLst/>
          </a:prstGeom>
        </p:spPr>
      </p:pic>
      <p:sp>
        <p:nvSpPr>
          <p:cNvPr id="4" name="Content Placeholder 3">
            <a:extLst>
              <a:ext uri="{FF2B5EF4-FFF2-40B4-BE49-F238E27FC236}">
                <a16:creationId xmlns:a16="http://schemas.microsoft.com/office/drawing/2014/main" id="{0FDE3303-2EA9-B584-DA7B-567D6818CDE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600" b="1" dirty="0"/>
              <a:t>Load Testing</a:t>
            </a:r>
          </a:p>
          <a:p>
            <a:pPr marL="0" lvl="1" indent="0">
              <a:buNone/>
            </a:pPr>
            <a:r>
              <a:rPr lang="en-US" sz="1600" dirty="0"/>
              <a:t>Load testing measures the system's performance under expected conditions to identify any bottlenecks.</a:t>
            </a:r>
          </a:p>
          <a:p>
            <a:pPr marL="0" indent="0">
              <a:spcBef>
                <a:spcPts val="2500"/>
              </a:spcBef>
              <a:buNone/>
            </a:pPr>
            <a:r>
              <a:rPr lang="en-US" sz="1600" b="1" dirty="0"/>
              <a:t>Stress Testing</a:t>
            </a:r>
          </a:p>
          <a:p>
            <a:pPr marL="0" lvl="1" indent="0">
              <a:buNone/>
            </a:pPr>
            <a:r>
              <a:rPr lang="en-US" sz="1600" dirty="0"/>
              <a:t>Stress testing determines the system's limits by pushing it beyond normal operational capacity.</a:t>
            </a:r>
          </a:p>
          <a:p>
            <a:pPr marL="0" indent="0">
              <a:spcBef>
                <a:spcPts val="2500"/>
              </a:spcBef>
              <a:buNone/>
            </a:pPr>
            <a:r>
              <a:rPr lang="en-US" sz="1600" b="1" dirty="0"/>
              <a:t>Endurance Testing</a:t>
            </a:r>
          </a:p>
          <a:p>
            <a:pPr marL="0" lvl="1" indent="0">
              <a:buNone/>
            </a:pPr>
            <a:r>
              <a:rPr lang="en-US" sz="1600" dirty="0"/>
              <a:t>Endurance testing evaluates the system's stability over an extended period under a specific load.</a:t>
            </a:r>
          </a:p>
          <a:p>
            <a:pPr marL="0" indent="0">
              <a:spcBef>
                <a:spcPts val="2500"/>
              </a:spcBef>
              <a:buNone/>
            </a:pPr>
            <a:r>
              <a:rPr lang="en-US" sz="1600" b="1" dirty="0"/>
              <a:t>Spike Testing</a:t>
            </a:r>
          </a:p>
          <a:p>
            <a:pPr marL="0" lvl="1" indent="0">
              <a:buNone/>
            </a:pPr>
            <a:r>
              <a:rPr lang="en-US" sz="1600" dirty="0"/>
              <a:t>Spike testing assesses how the system reacts to sudden increases in load, helping to identify weaknesses.</a:t>
            </a:r>
          </a:p>
          <a:p>
            <a:pPr marL="0" indent="0">
              <a:spcBef>
                <a:spcPts val="2500"/>
              </a:spcBef>
              <a:buNone/>
            </a:pPr>
            <a:r>
              <a:rPr lang="en-US" sz="1600" b="1" dirty="0"/>
              <a:t>Scalability Testing</a:t>
            </a:r>
          </a:p>
          <a:p>
            <a:pPr marL="0" lvl="1" indent="0">
              <a:buNone/>
            </a:pPr>
            <a:r>
              <a:rPr lang="en-US" sz="1600" dirty="0"/>
              <a:t>Scalability testing is a type of performance testing that evaluates a system's ability to scale up or down in response to changes in workload or user demand. </a:t>
            </a:r>
          </a:p>
        </p:txBody>
      </p:sp>
      <p:grpSp>
        <p:nvGrpSpPr>
          <p:cNvPr id="3" name="Group 2">
            <a:extLst>
              <a:ext uri="{FF2B5EF4-FFF2-40B4-BE49-F238E27FC236}">
                <a16:creationId xmlns:a16="http://schemas.microsoft.com/office/drawing/2014/main" id="{EE2EF902-F380-5636-1FF5-BC4A58380AAB}"/>
              </a:ext>
            </a:extLst>
          </p:cNvPr>
          <p:cNvGrpSpPr>
            <a:grpSpLocks noChangeAspect="1"/>
          </p:cNvGrpSpPr>
          <p:nvPr/>
        </p:nvGrpSpPr>
        <p:grpSpPr>
          <a:xfrm>
            <a:off x="9826702" y="5979230"/>
            <a:ext cx="2185416" cy="586592"/>
            <a:chOff x="9563100" y="1673029"/>
            <a:chExt cx="1389888" cy="373063"/>
          </a:xfrm>
        </p:grpSpPr>
        <p:pic>
          <p:nvPicPr>
            <p:cNvPr id="6" name="Picture 5">
              <a:extLst>
                <a:ext uri="{FF2B5EF4-FFF2-40B4-BE49-F238E27FC236}">
                  <a16:creationId xmlns:a16="http://schemas.microsoft.com/office/drawing/2014/main" id="{050A8F21-7E2D-8BDE-C5E1-50EEA034F5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BCB8F699-788D-66B8-BA1E-75989D757CCC}"/>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687339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85819C-4E14-D654-FDA1-12E3FDBE4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51AF4-50E5-3D12-52EE-CCD59FE47EAE}"/>
              </a:ext>
            </a:extLst>
          </p:cNvPr>
          <p:cNvSpPr>
            <a:spLocks noGrp="1"/>
          </p:cNvSpPr>
          <p:nvPr>
            <p:ph type="title"/>
          </p:nvPr>
        </p:nvSpPr>
        <p:spPr>
          <a:xfrm>
            <a:off x="598516" y="595746"/>
            <a:ext cx="10014065" cy="761999"/>
          </a:xfrm>
        </p:spPr>
        <p:txBody>
          <a:bodyPr vert="horz" lIns="91440" tIns="45720" rIns="91440" bIns="45720" rtlCol="0" anchor="t">
            <a:noAutofit/>
          </a:bodyPr>
          <a:lstStyle/>
          <a:p>
            <a:pPr algn="ctr">
              <a:lnSpc>
                <a:spcPct val="90000"/>
              </a:lnSpc>
            </a:pPr>
            <a:r>
              <a:rPr lang="en-US" sz="3600" b="1" dirty="0">
                <a:solidFill>
                  <a:srgbClr val="7030A0"/>
                </a:solidFill>
              </a:rPr>
              <a:t>Quiz</a:t>
            </a:r>
          </a:p>
        </p:txBody>
      </p:sp>
      <p:sp>
        <p:nvSpPr>
          <p:cNvPr id="4" name="Content Placeholder 3">
            <a:extLst>
              <a:ext uri="{FF2B5EF4-FFF2-40B4-BE49-F238E27FC236}">
                <a16:creationId xmlns:a16="http://schemas.microsoft.com/office/drawing/2014/main" id="{9A4DB280-2A3A-EFA7-ADF6-E34A4B280A9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0976" y="1625601"/>
            <a:ext cx="11399242" cy="5288267"/>
          </a:xfrm>
        </p:spPr>
        <p:txBody>
          <a:bodyPr>
            <a:normAutofit/>
          </a:bodyPr>
          <a:lstStyle/>
          <a:p>
            <a:r>
              <a:rPr lang="en-US" sz="2400" b="1" dirty="0">
                <a:solidFill>
                  <a:srgbClr val="7030A0"/>
                </a:solidFill>
              </a:rPr>
              <a:t>What is the primary goal of performance testing?</a:t>
            </a:r>
            <a:endParaRPr lang="en-US" sz="2400" dirty="0">
              <a:solidFill>
                <a:srgbClr val="7030A0"/>
              </a:solidFill>
            </a:endParaRPr>
          </a:p>
          <a:p>
            <a:r>
              <a:rPr lang="en-US" sz="2400" dirty="0">
                <a:solidFill>
                  <a:srgbClr val="7030A0"/>
                </a:solidFill>
              </a:rPr>
              <a:t>A) To find functional defects</a:t>
            </a:r>
          </a:p>
          <a:p>
            <a:r>
              <a:rPr lang="en-US" sz="2400" dirty="0">
                <a:solidFill>
                  <a:srgbClr val="7030A0"/>
                </a:solidFill>
              </a:rPr>
              <a:t>B) To evaluate system performance under load</a:t>
            </a:r>
          </a:p>
          <a:p>
            <a:r>
              <a:rPr lang="en-US" sz="2400" dirty="0">
                <a:solidFill>
                  <a:srgbClr val="7030A0"/>
                </a:solidFill>
              </a:rPr>
              <a:t>C) To test user interface design</a:t>
            </a:r>
          </a:p>
          <a:p>
            <a:r>
              <a:rPr lang="en-US" sz="2400" dirty="0">
                <a:solidFill>
                  <a:srgbClr val="7030A0"/>
                </a:solidFill>
              </a:rPr>
              <a:t>D) To ensure security compliance</a:t>
            </a:r>
          </a:p>
          <a:p>
            <a:endParaRPr lang="en-US" sz="2400" dirty="0">
              <a:solidFill>
                <a:srgbClr val="7030A0"/>
              </a:solidFill>
            </a:endParaRPr>
          </a:p>
          <a:p>
            <a:r>
              <a:rPr lang="en-US" sz="2400" b="1" dirty="0">
                <a:solidFill>
                  <a:srgbClr val="7030A0"/>
                </a:solidFill>
              </a:rPr>
              <a:t>Which of the following is NOT a type of performance testing?</a:t>
            </a:r>
          </a:p>
          <a:p>
            <a:r>
              <a:rPr lang="en-US" sz="2400" dirty="0">
                <a:solidFill>
                  <a:srgbClr val="7030A0"/>
                </a:solidFill>
              </a:rPr>
              <a:t>A) Load Testing</a:t>
            </a:r>
          </a:p>
          <a:p>
            <a:r>
              <a:rPr lang="en-US" sz="2400" dirty="0">
                <a:solidFill>
                  <a:srgbClr val="7030A0"/>
                </a:solidFill>
              </a:rPr>
              <a:t>B) Stress Testing</a:t>
            </a:r>
          </a:p>
          <a:p>
            <a:r>
              <a:rPr lang="en-US" sz="2400" dirty="0">
                <a:solidFill>
                  <a:srgbClr val="7030A0"/>
                </a:solidFill>
              </a:rPr>
              <a:t>C) Usability Testing</a:t>
            </a:r>
          </a:p>
          <a:p>
            <a:r>
              <a:rPr lang="en-US" sz="2400" dirty="0">
                <a:solidFill>
                  <a:srgbClr val="7030A0"/>
                </a:solidFill>
              </a:rPr>
              <a:t>D) Scalability Testing</a:t>
            </a:r>
          </a:p>
          <a:p>
            <a:endParaRPr lang="en-US" sz="2400" dirty="0">
              <a:solidFill>
                <a:srgbClr val="7030A0"/>
              </a:solidFill>
            </a:endParaRPr>
          </a:p>
        </p:txBody>
      </p:sp>
      <p:grpSp>
        <p:nvGrpSpPr>
          <p:cNvPr id="7" name="Group 6">
            <a:extLst>
              <a:ext uri="{FF2B5EF4-FFF2-40B4-BE49-F238E27FC236}">
                <a16:creationId xmlns:a16="http://schemas.microsoft.com/office/drawing/2014/main" id="{3B6AE644-2085-7CAD-46CB-87D09905BFB3}"/>
              </a:ext>
            </a:extLst>
          </p:cNvPr>
          <p:cNvGrpSpPr>
            <a:grpSpLocks noChangeAspect="1"/>
          </p:cNvGrpSpPr>
          <p:nvPr/>
        </p:nvGrpSpPr>
        <p:grpSpPr>
          <a:xfrm>
            <a:off x="9826702" y="5979230"/>
            <a:ext cx="2185416" cy="586592"/>
            <a:chOff x="9563100" y="1673029"/>
            <a:chExt cx="1389888" cy="373063"/>
          </a:xfrm>
        </p:grpSpPr>
        <p:pic>
          <p:nvPicPr>
            <p:cNvPr id="8" name="Picture 7">
              <a:extLst>
                <a:ext uri="{FF2B5EF4-FFF2-40B4-BE49-F238E27FC236}">
                  <a16:creationId xmlns:a16="http://schemas.microsoft.com/office/drawing/2014/main" id="{DEB4BED8-376B-4D95-7264-80A4C4232A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9" name="Freeform 5">
              <a:extLst>
                <a:ext uri="{FF2B5EF4-FFF2-40B4-BE49-F238E27FC236}">
                  <a16:creationId xmlns:a16="http://schemas.microsoft.com/office/drawing/2014/main" id="{30BE59CD-7C61-3414-4CB0-7CE72147CBD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349895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B3541-7A5C-3F5A-505C-021BDB07873C}"/>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Key Performance Metrics</a:t>
            </a:r>
          </a:p>
        </p:txBody>
      </p:sp>
      <p:pic>
        <p:nvPicPr>
          <p:cNvPr id="5" name="Content Placeholder 4" descr="Credit score report">
            <a:extLst>
              <a:ext uri="{FF2B5EF4-FFF2-40B4-BE49-F238E27FC236}">
                <a16:creationId xmlns:a16="http://schemas.microsoft.com/office/drawing/2014/main" id="{B45FAAE7-2737-416E-99C6-0CCC0FF7D3B3}"/>
              </a:ext>
            </a:extLst>
          </p:cNvPr>
          <p:cNvPicPr>
            <a:picLocks noGrp="1" noChangeAspect="1"/>
          </p:cNvPicPr>
          <p:nvPr>
            <p:ph sz="half" idx="1"/>
          </p:nvPr>
        </p:nvPicPr>
        <p:blipFill>
          <a:blip r:embed="rId3"/>
          <a:srcRect t="19072" r="-2" b="6348"/>
          <a:stretch/>
        </p:blipFill>
        <p:spPr>
          <a:xfrm>
            <a:off x="1" y="2613892"/>
            <a:ext cx="4946906" cy="3689359"/>
          </a:xfrm>
          <a:prstGeom prst="rect">
            <a:avLst/>
          </a:prstGeom>
        </p:spPr>
      </p:pic>
      <p:sp>
        <p:nvSpPr>
          <p:cNvPr id="4" name="Content Placeholder 3">
            <a:extLst>
              <a:ext uri="{FF2B5EF4-FFF2-40B4-BE49-F238E27FC236}">
                <a16:creationId xmlns:a16="http://schemas.microsoft.com/office/drawing/2014/main" id="{DA9DCD8A-ACE1-0B3B-58AD-2434700AB16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600" b="1" dirty="0"/>
              <a:t>Response Time</a:t>
            </a:r>
          </a:p>
          <a:p>
            <a:pPr marL="0" lvl="1" indent="0">
              <a:buNone/>
            </a:pPr>
            <a:r>
              <a:rPr lang="en-US" sz="1600" dirty="0"/>
              <a:t>Response time measures how quickly a system reacts to a request, indicating user experience and system efficiency.</a:t>
            </a:r>
          </a:p>
          <a:p>
            <a:pPr marL="0" indent="0">
              <a:spcBef>
                <a:spcPts val="2500"/>
              </a:spcBef>
              <a:buNone/>
            </a:pPr>
            <a:r>
              <a:rPr lang="en-US" sz="1600" b="1" dirty="0"/>
              <a:t>Throughput</a:t>
            </a:r>
          </a:p>
          <a:p>
            <a:pPr marL="0" lvl="1" indent="0">
              <a:buNone/>
            </a:pPr>
            <a:r>
              <a:rPr lang="en-US" sz="1600" dirty="0"/>
              <a:t>Throughput quantifies the amount of work performed by a system in a given time frame, reflecting productivity levels.</a:t>
            </a:r>
          </a:p>
          <a:p>
            <a:pPr marL="0" indent="0">
              <a:spcBef>
                <a:spcPts val="2500"/>
              </a:spcBef>
              <a:buNone/>
            </a:pPr>
            <a:r>
              <a:rPr lang="en-US" sz="1600" b="1" dirty="0"/>
              <a:t>Resource Utilization</a:t>
            </a:r>
          </a:p>
          <a:p>
            <a:pPr marL="0" lvl="1" indent="0">
              <a:buNone/>
            </a:pPr>
            <a:r>
              <a:rPr lang="en-US" sz="1600" dirty="0"/>
              <a:t>Resource utilization measures how effectively system resources are being used, helping identify potential bottlenecks.</a:t>
            </a:r>
          </a:p>
          <a:p>
            <a:pPr marL="0" indent="0">
              <a:spcBef>
                <a:spcPts val="2500"/>
              </a:spcBef>
              <a:buNone/>
            </a:pPr>
            <a:r>
              <a:rPr lang="en-US" sz="1600" b="1" dirty="0"/>
              <a:t>Error Rates</a:t>
            </a:r>
          </a:p>
          <a:p>
            <a:pPr marL="0" lvl="1" indent="0">
              <a:buNone/>
            </a:pPr>
            <a:r>
              <a:rPr lang="en-US" sz="1600" dirty="0"/>
              <a:t>Error rates track the frequency of errors occurring in a system, aiding in troubleshooting and performance enhancement.</a:t>
            </a:r>
          </a:p>
        </p:txBody>
      </p:sp>
      <p:grpSp>
        <p:nvGrpSpPr>
          <p:cNvPr id="3" name="Group 2">
            <a:extLst>
              <a:ext uri="{FF2B5EF4-FFF2-40B4-BE49-F238E27FC236}">
                <a16:creationId xmlns:a16="http://schemas.microsoft.com/office/drawing/2014/main" id="{3E8C736E-9288-7BFE-CD0E-4584215B63DC}"/>
              </a:ext>
            </a:extLst>
          </p:cNvPr>
          <p:cNvGrpSpPr>
            <a:grpSpLocks noChangeAspect="1"/>
          </p:cNvGrpSpPr>
          <p:nvPr/>
        </p:nvGrpSpPr>
        <p:grpSpPr>
          <a:xfrm>
            <a:off x="9826702" y="5979230"/>
            <a:ext cx="2185416" cy="586592"/>
            <a:chOff x="9563100" y="1673029"/>
            <a:chExt cx="1389888" cy="373063"/>
          </a:xfrm>
        </p:grpSpPr>
        <p:pic>
          <p:nvPicPr>
            <p:cNvPr id="6" name="Picture 5">
              <a:extLst>
                <a:ext uri="{FF2B5EF4-FFF2-40B4-BE49-F238E27FC236}">
                  <a16:creationId xmlns:a16="http://schemas.microsoft.com/office/drawing/2014/main" id="{0755FE81-D779-5FB4-2E83-F0E805533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81159FF6-9C40-B113-4064-1E2887A8D9B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35745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7E71-6A21-DE45-BE53-83D1C0081448}"/>
              </a:ext>
            </a:extLst>
          </p:cNvPr>
          <p:cNvSpPr>
            <a:spLocks noGrp="1"/>
          </p:cNvSpPr>
          <p:nvPr>
            <p:ph type="ctrTitle"/>
          </p:nvPr>
        </p:nvSpPr>
        <p:spPr>
          <a:xfrm>
            <a:off x="-1" y="856526"/>
            <a:ext cx="11192719" cy="1766064"/>
          </a:xfrm>
        </p:spPr>
        <p:txBody>
          <a:bodyPr anchor="b">
            <a:normAutofit/>
          </a:bodyPr>
          <a:lstStyle/>
          <a:p>
            <a:r>
              <a:rPr lang="en-US" sz="6500" dirty="0"/>
              <a:t>Planning and Preparation</a:t>
            </a:r>
          </a:p>
        </p:txBody>
      </p:sp>
      <p:sp>
        <p:nvSpPr>
          <p:cNvPr id="3" name="Title 1">
            <a:extLst>
              <a:ext uri="{FF2B5EF4-FFF2-40B4-BE49-F238E27FC236}">
                <a16:creationId xmlns:a16="http://schemas.microsoft.com/office/drawing/2014/main" id="{7B7783C3-6683-68DA-71DB-66E5E688A92E}"/>
              </a:ext>
            </a:extLst>
          </p:cNvPr>
          <p:cNvSpPr txBox="1">
            <a:spLocks/>
          </p:cNvSpPr>
          <p:nvPr/>
        </p:nvSpPr>
        <p:spPr>
          <a:xfrm>
            <a:off x="1163782" y="4530435"/>
            <a:ext cx="9724136" cy="134389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t>Proper</a:t>
            </a:r>
            <a:r>
              <a:rPr lang="en-US" sz="2400" dirty="0"/>
              <a:t> </a:t>
            </a:r>
            <a:r>
              <a:rPr lang="en-US" sz="2400" b="1" dirty="0"/>
              <a:t>planning and preparation are critical for successful performance testing. This phase involves defining objectives, identifying criteria, and selecting appropriate tools.</a:t>
            </a:r>
          </a:p>
        </p:txBody>
      </p:sp>
      <p:grpSp>
        <p:nvGrpSpPr>
          <p:cNvPr id="4" name="Group 3">
            <a:extLst>
              <a:ext uri="{FF2B5EF4-FFF2-40B4-BE49-F238E27FC236}">
                <a16:creationId xmlns:a16="http://schemas.microsoft.com/office/drawing/2014/main" id="{510D6AFA-544C-1789-314B-0C9C2E3CC7AB}"/>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20DADB3B-2568-B4E2-5816-41D8FA8F47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ABEAD4A4-87DC-27CE-C4E9-51554C3EA9A1}"/>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10565624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6435B-3C90-3DA1-828A-E51AA250FC8A}"/>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3600"/>
              <a:t>Defining Objectives and Scope</a:t>
            </a:r>
          </a:p>
        </p:txBody>
      </p:sp>
      <p:pic>
        <p:nvPicPr>
          <p:cNvPr id="5" name="Content Placeholder 4" descr="Financial graphs on a dark display">
            <a:extLst>
              <a:ext uri="{FF2B5EF4-FFF2-40B4-BE49-F238E27FC236}">
                <a16:creationId xmlns:a16="http://schemas.microsoft.com/office/drawing/2014/main" id="{049DF2B5-2E29-499E-A962-75F3473BB3A8}"/>
              </a:ext>
            </a:extLst>
          </p:cNvPr>
          <p:cNvPicPr>
            <a:picLocks noGrp="1" noChangeAspect="1"/>
          </p:cNvPicPr>
          <p:nvPr>
            <p:ph sz="half" idx="1"/>
          </p:nvPr>
        </p:nvPicPr>
        <p:blipFill>
          <a:blip r:embed="rId3"/>
          <a:srcRect l="9289" r="14583"/>
          <a:stretch/>
        </p:blipFill>
        <p:spPr>
          <a:xfrm>
            <a:off x="5671128" y="914399"/>
            <a:ext cx="6520872" cy="5353521"/>
          </a:xfrm>
          <a:prstGeom prst="rect">
            <a:avLst/>
          </a:prstGeom>
        </p:spPr>
      </p:pic>
      <p:sp>
        <p:nvSpPr>
          <p:cNvPr id="4" name="Content Placeholder 3">
            <a:extLst>
              <a:ext uri="{FF2B5EF4-FFF2-40B4-BE49-F238E27FC236}">
                <a16:creationId xmlns:a16="http://schemas.microsoft.com/office/drawing/2014/main" id="{155D0F6F-E22F-228C-054B-8BD2C995F17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600" b="1" dirty="0"/>
              <a:t>Alignment with Business Requirements</a:t>
            </a:r>
          </a:p>
          <a:p>
            <a:pPr marL="0" lvl="1" indent="0">
              <a:buNone/>
            </a:pPr>
            <a:r>
              <a:rPr lang="en-US" sz="1600" dirty="0"/>
              <a:t>Establishing clear objectives ensures the testing process aligns with business needs, enhancing relevance and effectiveness.</a:t>
            </a:r>
          </a:p>
          <a:p>
            <a:pPr marL="0" indent="0">
              <a:spcBef>
                <a:spcPts val="2500"/>
              </a:spcBef>
              <a:buNone/>
            </a:pPr>
            <a:r>
              <a:rPr lang="en-US" sz="1600" b="1" dirty="0"/>
              <a:t>Focus on Critical Aspects</a:t>
            </a:r>
          </a:p>
          <a:p>
            <a:pPr marL="0" lvl="1" indent="0">
              <a:buNone/>
            </a:pPr>
            <a:r>
              <a:rPr lang="en-US" sz="1600" dirty="0"/>
              <a:t>Defining scope helps maintain focus on essential system performance aspects, critical for successful outcomes.</a:t>
            </a:r>
          </a:p>
        </p:txBody>
      </p:sp>
      <p:grpSp>
        <p:nvGrpSpPr>
          <p:cNvPr id="3" name="Group 2">
            <a:extLst>
              <a:ext uri="{FF2B5EF4-FFF2-40B4-BE49-F238E27FC236}">
                <a16:creationId xmlns:a16="http://schemas.microsoft.com/office/drawing/2014/main" id="{6012F49F-963E-F8FA-89E4-E609348D64D7}"/>
              </a:ext>
            </a:extLst>
          </p:cNvPr>
          <p:cNvGrpSpPr>
            <a:grpSpLocks noChangeAspect="1"/>
          </p:cNvGrpSpPr>
          <p:nvPr/>
        </p:nvGrpSpPr>
        <p:grpSpPr>
          <a:xfrm>
            <a:off x="9826702" y="6267920"/>
            <a:ext cx="2185416" cy="586592"/>
            <a:chOff x="9563100" y="1673029"/>
            <a:chExt cx="1389888" cy="373063"/>
          </a:xfrm>
        </p:grpSpPr>
        <p:pic>
          <p:nvPicPr>
            <p:cNvPr id="6" name="Picture 5">
              <a:extLst>
                <a:ext uri="{FF2B5EF4-FFF2-40B4-BE49-F238E27FC236}">
                  <a16:creationId xmlns:a16="http://schemas.microsoft.com/office/drawing/2014/main" id="{4D1E5D79-6EEE-66DB-01A4-5C16A6FA4F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28A5098C-269F-B77F-17EA-452B4CE96E0E}"/>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37580000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E6D24-C467-3462-327B-A69113E3EAEB}"/>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Selecting Tools and Environments</a:t>
            </a:r>
          </a:p>
        </p:txBody>
      </p:sp>
      <p:pic>
        <p:nvPicPr>
          <p:cNvPr id="5" name="Content Placeholder 4" descr="Working from home due to social distancing">
            <a:extLst>
              <a:ext uri="{FF2B5EF4-FFF2-40B4-BE49-F238E27FC236}">
                <a16:creationId xmlns:a16="http://schemas.microsoft.com/office/drawing/2014/main" id="{E1C6B771-C0F0-4665-B3A4-DFF03373661C}"/>
              </a:ext>
            </a:extLst>
          </p:cNvPr>
          <p:cNvPicPr>
            <a:picLocks noGrp="1" noChangeAspect="1"/>
          </p:cNvPicPr>
          <p:nvPr>
            <p:ph sz="half" idx="1"/>
          </p:nvPr>
        </p:nvPicPr>
        <p:blipFill>
          <a:blip r:embed="rId3"/>
          <a:srcRect l="32158" r="12836"/>
          <a:stretch/>
        </p:blipFill>
        <p:spPr>
          <a:xfrm>
            <a:off x="7776429" y="914400"/>
            <a:ext cx="4414591" cy="5357106"/>
          </a:xfrm>
          <a:prstGeom prst="rect">
            <a:avLst/>
          </a:prstGeom>
        </p:spPr>
      </p:pic>
      <p:sp>
        <p:nvSpPr>
          <p:cNvPr id="4" name="Content Placeholder 3">
            <a:extLst>
              <a:ext uri="{FF2B5EF4-FFF2-40B4-BE49-F238E27FC236}">
                <a16:creationId xmlns:a16="http://schemas.microsoft.com/office/drawing/2014/main" id="{BA931B17-5D5F-14DC-5204-4AF5BF77EDC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600" b="1" dirty="0"/>
              <a:t>Importance of Tool Selection</a:t>
            </a:r>
          </a:p>
          <a:p>
            <a:pPr marL="0" lvl="1" indent="0">
              <a:buNone/>
            </a:pPr>
            <a:r>
              <a:rPr lang="en-US" sz="1600" dirty="0"/>
              <a:t>Selecting the right tools is crucial for conducting effective performance testing, impacting overall testing outcomes.</a:t>
            </a:r>
          </a:p>
          <a:p>
            <a:pPr marL="0" indent="0">
              <a:spcBef>
                <a:spcPts val="2500"/>
              </a:spcBef>
              <a:buNone/>
            </a:pPr>
            <a:r>
              <a:rPr lang="en-US" sz="1600" b="1" dirty="0"/>
              <a:t>Simulating Loads</a:t>
            </a:r>
          </a:p>
          <a:p>
            <a:pPr marL="0" lvl="1" indent="0">
              <a:buNone/>
            </a:pPr>
            <a:r>
              <a:rPr lang="en-US" sz="1600" dirty="0"/>
              <a:t>Tools should be capable of simulating loads to help accurately assess system performance under various conditions.</a:t>
            </a:r>
          </a:p>
          <a:p>
            <a:pPr marL="0" indent="0">
              <a:spcBef>
                <a:spcPts val="2500"/>
              </a:spcBef>
              <a:buNone/>
            </a:pPr>
            <a:r>
              <a:rPr lang="en-US" sz="1600" b="1" dirty="0"/>
              <a:t>Measuring Performance Metrics</a:t>
            </a:r>
          </a:p>
          <a:p>
            <a:pPr marL="0" lvl="1" indent="0">
              <a:buNone/>
            </a:pPr>
            <a:r>
              <a:rPr lang="en-US" sz="1600" dirty="0"/>
              <a:t>Accurate measurement of performance metrics is vital for identifying bottlenecks and improving system efficiency.</a:t>
            </a:r>
          </a:p>
        </p:txBody>
      </p:sp>
      <p:grpSp>
        <p:nvGrpSpPr>
          <p:cNvPr id="3" name="Group 2">
            <a:extLst>
              <a:ext uri="{FF2B5EF4-FFF2-40B4-BE49-F238E27FC236}">
                <a16:creationId xmlns:a16="http://schemas.microsoft.com/office/drawing/2014/main" id="{613BF5A4-5D58-F5AB-B239-11455547D266}"/>
              </a:ext>
            </a:extLst>
          </p:cNvPr>
          <p:cNvGrpSpPr>
            <a:grpSpLocks noChangeAspect="1"/>
          </p:cNvGrpSpPr>
          <p:nvPr/>
        </p:nvGrpSpPr>
        <p:grpSpPr>
          <a:xfrm>
            <a:off x="9812847" y="6271408"/>
            <a:ext cx="2185416" cy="586592"/>
            <a:chOff x="9563100" y="1673029"/>
            <a:chExt cx="1389888" cy="373063"/>
          </a:xfrm>
        </p:grpSpPr>
        <p:pic>
          <p:nvPicPr>
            <p:cNvPr id="6" name="Picture 5">
              <a:extLst>
                <a:ext uri="{FF2B5EF4-FFF2-40B4-BE49-F238E27FC236}">
                  <a16:creationId xmlns:a16="http://schemas.microsoft.com/office/drawing/2014/main" id="{7C8831BC-790C-AC07-27D8-305E36890E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34D79AD9-0480-F042-F516-408665608542}"/>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744573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87ECE6-0EA8-90A3-FEC1-6C6921214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FD197-FAFE-A486-E588-E2BBD0F1B81E}"/>
              </a:ext>
            </a:extLst>
          </p:cNvPr>
          <p:cNvSpPr>
            <a:spLocks noGrp="1"/>
          </p:cNvSpPr>
          <p:nvPr>
            <p:ph type="title"/>
          </p:nvPr>
        </p:nvSpPr>
        <p:spPr>
          <a:xfrm>
            <a:off x="598516" y="595746"/>
            <a:ext cx="10014065" cy="761999"/>
          </a:xfrm>
        </p:spPr>
        <p:txBody>
          <a:bodyPr vert="horz" lIns="91440" tIns="45720" rIns="91440" bIns="45720" rtlCol="0" anchor="t">
            <a:noAutofit/>
          </a:bodyPr>
          <a:lstStyle/>
          <a:p>
            <a:pPr algn="ctr">
              <a:lnSpc>
                <a:spcPct val="90000"/>
              </a:lnSpc>
            </a:pPr>
            <a:r>
              <a:rPr lang="en-US" sz="3600" b="1" dirty="0">
                <a:solidFill>
                  <a:srgbClr val="7030A0"/>
                </a:solidFill>
              </a:rPr>
              <a:t>Quiz</a:t>
            </a:r>
          </a:p>
        </p:txBody>
      </p:sp>
      <p:sp>
        <p:nvSpPr>
          <p:cNvPr id="4" name="Content Placeholder 3">
            <a:extLst>
              <a:ext uri="{FF2B5EF4-FFF2-40B4-BE49-F238E27FC236}">
                <a16:creationId xmlns:a16="http://schemas.microsoft.com/office/drawing/2014/main" id="{64C4865D-78FE-EB51-DE29-F89FE448297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0976" y="1625601"/>
            <a:ext cx="11399242" cy="5288267"/>
          </a:xfrm>
        </p:spPr>
        <p:txBody>
          <a:bodyPr>
            <a:normAutofit/>
          </a:bodyPr>
          <a:lstStyle/>
          <a:p>
            <a:r>
              <a:rPr lang="en-US" sz="2400" b="1" dirty="0">
                <a:solidFill>
                  <a:srgbClr val="7030A0"/>
                </a:solidFill>
              </a:rPr>
              <a:t>Which metric is used to identify bottlenecks in a system?</a:t>
            </a:r>
          </a:p>
          <a:p>
            <a:r>
              <a:rPr lang="en-US" sz="2400" dirty="0">
                <a:solidFill>
                  <a:srgbClr val="7030A0"/>
                </a:solidFill>
              </a:rPr>
              <a:t>A) Error rate</a:t>
            </a:r>
          </a:p>
          <a:p>
            <a:r>
              <a:rPr lang="en-US" sz="2400" dirty="0">
                <a:solidFill>
                  <a:srgbClr val="7030A0"/>
                </a:solidFill>
              </a:rPr>
              <a:t>B) Response time</a:t>
            </a:r>
          </a:p>
          <a:p>
            <a:r>
              <a:rPr lang="en-US" sz="2400" dirty="0">
                <a:solidFill>
                  <a:srgbClr val="7030A0"/>
                </a:solidFill>
              </a:rPr>
              <a:t>C) CPU utilization</a:t>
            </a:r>
          </a:p>
          <a:p>
            <a:r>
              <a:rPr lang="en-US" sz="2400" dirty="0">
                <a:solidFill>
                  <a:srgbClr val="7030A0"/>
                </a:solidFill>
              </a:rPr>
              <a:t>D) All of the above</a:t>
            </a:r>
          </a:p>
          <a:p>
            <a:endParaRPr lang="en-US" sz="2400" dirty="0">
              <a:solidFill>
                <a:srgbClr val="7030A0"/>
              </a:solidFill>
            </a:endParaRPr>
          </a:p>
          <a:p>
            <a:r>
              <a:rPr lang="en-US" sz="2400" b="1" dirty="0">
                <a:solidFill>
                  <a:srgbClr val="7030A0"/>
                </a:solidFill>
              </a:rPr>
              <a:t>Which tool is commonly used for performance testing?</a:t>
            </a:r>
          </a:p>
          <a:p>
            <a:r>
              <a:rPr lang="en-US" sz="2400" dirty="0">
                <a:solidFill>
                  <a:srgbClr val="7030A0"/>
                </a:solidFill>
              </a:rPr>
              <a:t>A) Selenium</a:t>
            </a:r>
          </a:p>
          <a:p>
            <a:r>
              <a:rPr lang="en-US" sz="2400" dirty="0">
                <a:solidFill>
                  <a:srgbClr val="7030A0"/>
                </a:solidFill>
              </a:rPr>
              <a:t>B) JMeter</a:t>
            </a:r>
          </a:p>
          <a:p>
            <a:r>
              <a:rPr lang="en-US" sz="2400" dirty="0">
                <a:solidFill>
                  <a:srgbClr val="7030A0"/>
                </a:solidFill>
              </a:rPr>
              <a:t>C) Postman</a:t>
            </a:r>
          </a:p>
          <a:p>
            <a:r>
              <a:rPr lang="en-US" sz="2400" dirty="0">
                <a:solidFill>
                  <a:srgbClr val="7030A0"/>
                </a:solidFill>
              </a:rPr>
              <a:t>D) Figma</a:t>
            </a:r>
          </a:p>
          <a:p>
            <a:endParaRPr lang="en-US" sz="2400" dirty="0">
              <a:solidFill>
                <a:srgbClr val="7030A0"/>
              </a:solidFill>
            </a:endParaRPr>
          </a:p>
        </p:txBody>
      </p:sp>
      <p:grpSp>
        <p:nvGrpSpPr>
          <p:cNvPr id="3" name="Group 2">
            <a:extLst>
              <a:ext uri="{FF2B5EF4-FFF2-40B4-BE49-F238E27FC236}">
                <a16:creationId xmlns:a16="http://schemas.microsoft.com/office/drawing/2014/main" id="{F5785BA5-3EED-16C7-46CF-9CD3BE878F15}"/>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FD4BA7A6-1996-501F-65DD-CF3FEDDAF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0CC8858B-51B4-4012-68CD-4F0BE226739E}"/>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13966789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B70B-BE6E-DCBE-5424-FC4873F6CE24}"/>
              </a:ext>
            </a:extLst>
          </p:cNvPr>
          <p:cNvSpPr>
            <a:spLocks noGrp="1"/>
          </p:cNvSpPr>
          <p:nvPr>
            <p:ph type="ctrTitle"/>
          </p:nvPr>
        </p:nvSpPr>
        <p:spPr>
          <a:xfrm>
            <a:off x="974855" y="1357745"/>
            <a:ext cx="9623872" cy="803564"/>
          </a:xfrm>
        </p:spPr>
        <p:txBody>
          <a:bodyPr anchor="b">
            <a:normAutofit fontScale="90000"/>
          </a:bodyPr>
          <a:lstStyle/>
          <a:p>
            <a:r>
              <a:rPr lang="en-US" sz="6500" dirty="0"/>
              <a:t>Designing Test Cases</a:t>
            </a:r>
          </a:p>
        </p:txBody>
      </p:sp>
      <p:sp>
        <p:nvSpPr>
          <p:cNvPr id="3" name="Title 1">
            <a:extLst>
              <a:ext uri="{FF2B5EF4-FFF2-40B4-BE49-F238E27FC236}">
                <a16:creationId xmlns:a16="http://schemas.microsoft.com/office/drawing/2014/main" id="{97306769-E7B6-BAF9-FC00-2D73360AEB49}"/>
              </a:ext>
            </a:extLst>
          </p:cNvPr>
          <p:cNvSpPr txBox="1">
            <a:spLocks/>
          </p:cNvSpPr>
          <p:nvPr/>
        </p:nvSpPr>
        <p:spPr>
          <a:xfrm>
            <a:off x="974855" y="3893127"/>
            <a:ext cx="9623872" cy="160712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t>Test case design is vital for ensuring comprehensive testing of the system. It involves creating scenarios that reflect real-world usage patterns and system requirements.</a:t>
            </a:r>
          </a:p>
        </p:txBody>
      </p:sp>
      <p:grpSp>
        <p:nvGrpSpPr>
          <p:cNvPr id="4" name="Group 3">
            <a:extLst>
              <a:ext uri="{FF2B5EF4-FFF2-40B4-BE49-F238E27FC236}">
                <a16:creationId xmlns:a16="http://schemas.microsoft.com/office/drawing/2014/main" id="{AB45E79A-2583-3406-B36C-8A17866EA525}"/>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8245DCC9-E0B6-CF72-A9D7-DCBB32B519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7A10C9A0-5036-A057-868F-64ADD599FF0C}"/>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3107614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500"/>
                                  </p:stCondLst>
                                  <p:iterate type="lt">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25989-C11D-6A37-60CB-07D0C6AE4A57}"/>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en-US" dirty="0"/>
              <a:t>Creating Test Scenarios</a:t>
            </a:r>
          </a:p>
        </p:txBody>
      </p:sp>
      <p:pic>
        <p:nvPicPr>
          <p:cNvPr id="5"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B51D6B1F-4749-49D2-9F61-538B7E99F4E0}"/>
              </a:ext>
            </a:extLst>
          </p:cNvPr>
          <p:cNvPicPr>
            <a:picLocks noGrp="1" noChangeAspect="1"/>
          </p:cNvPicPr>
          <p:nvPr>
            <p:ph sz="half" idx="1"/>
          </p:nvPr>
        </p:nvPicPr>
        <p:blipFill>
          <a:blip r:embed="rId3"/>
          <a:srcRect l="25337" r="19657"/>
          <a:stretch/>
        </p:blipFill>
        <p:spPr>
          <a:xfrm>
            <a:off x="7776429" y="914400"/>
            <a:ext cx="4414591" cy="5357106"/>
          </a:xfrm>
          <a:prstGeom prst="rect">
            <a:avLst/>
          </a:prstGeom>
        </p:spPr>
      </p:pic>
      <p:sp>
        <p:nvSpPr>
          <p:cNvPr id="4" name="Content Placeholder 3">
            <a:extLst>
              <a:ext uri="{FF2B5EF4-FFF2-40B4-BE49-F238E27FC236}">
                <a16:creationId xmlns:a16="http://schemas.microsoft.com/office/drawing/2014/main" id="{7A361B83-2E51-998C-006B-94AD68B68D5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600" b="1" dirty="0"/>
              <a:t>User Interaction Simulation</a:t>
            </a:r>
          </a:p>
          <a:p>
            <a:pPr marL="0" lvl="1" indent="0">
              <a:buNone/>
            </a:pPr>
            <a:r>
              <a:rPr lang="en-US" sz="1600" dirty="0"/>
              <a:t>Creating test scenarios that closely mimic user interactions is essential for assessing system responsiveness and usability.</a:t>
            </a:r>
          </a:p>
          <a:p>
            <a:pPr marL="0" indent="0">
              <a:spcBef>
                <a:spcPts val="2500"/>
              </a:spcBef>
              <a:buNone/>
            </a:pPr>
            <a:r>
              <a:rPr lang="en-US" sz="1600" b="1" dirty="0"/>
              <a:t>Workload Variability</a:t>
            </a:r>
          </a:p>
          <a:p>
            <a:pPr marL="0" lvl="1" indent="0">
              <a:buNone/>
            </a:pPr>
            <a:r>
              <a:rPr lang="en-US" sz="1600" dirty="0"/>
              <a:t>Test scenarios should reflect a variety of workloads to evaluate how the system performs under different conditions and stress levels.</a:t>
            </a:r>
          </a:p>
          <a:p>
            <a:pPr marL="0" indent="0">
              <a:spcBef>
                <a:spcPts val="2500"/>
              </a:spcBef>
              <a:buNone/>
            </a:pPr>
            <a:r>
              <a:rPr lang="en-US" sz="1600" b="1" dirty="0"/>
              <a:t>Performance Evaluation</a:t>
            </a:r>
          </a:p>
          <a:p>
            <a:pPr marL="0" lvl="1" indent="0">
              <a:buNone/>
            </a:pPr>
            <a:r>
              <a:rPr lang="en-US" sz="1600" dirty="0"/>
              <a:t>Understanding system performance under diverse conditions is crucial for identifying potential bottlenecks and improving efficiency.</a:t>
            </a:r>
          </a:p>
        </p:txBody>
      </p:sp>
      <p:grpSp>
        <p:nvGrpSpPr>
          <p:cNvPr id="3" name="Group 2">
            <a:extLst>
              <a:ext uri="{FF2B5EF4-FFF2-40B4-BE49-F238E27FC236}">
                <a16:creationId xmlns:a16="http://schemas.microsoft.com/office/drawing/2014/main" id="{334EA9AD-4842-161F-33C8-9C0C6839DDA7}"/>
              </a:ext>
            </a:extLst>
          </p:cNvPr>
          <p:cNvGrpSpPr>
            <a:grpSpLocks noChangeAspect="1"/>
          </p:cNvGrpSpPr>
          <p:nvPr/>
        </p:nvGrpSpPr>
        <p:grpSpPr>
          <a:xfrm>
            <a:off x="9798993" y="6271408"/>
            <a:ext cx="2185416" cy="586592"/>
            <a:chOff x="9563100" y="1673029"/>
            <a:chExt cx="1389888" cy="373063"/>
          </a:xfrm>
        </p:grpSpPr>
        <p:pic>
          <p:nvPicPr>
            <p:cNvPr id="6" name="Picture 5">
              <a:extLst>
                <a:ext uri="{FF2B5EF4-FFF2-40B4-BE49-F238E27FC236}">
                  <a16:creationId xmlns:a16="http://schemas.microsoft.com/office/drawing/2014/main" id="{BC0ED932-2CE1-7AA5-A7CA-A0A20E0D37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08AD7F2B-8D8C-77B1-4C86-BF58C7233727}"/>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16123417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1DA99-A8DA-F788-E57A-074B85B3C9EA}"/>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dirty="0"/>
              <a:t>Determining Test Data Requirements</a:t>
            </a:r>
          </a:p>
        </p:txBody>
      </p:sp>
      <p:pic>
        <p:nvPicPr>
          <p:cNvPr id="5" name="Content Placeholder 4" descr="Digest those facts and figures... literal interpretation of the business lunch.">
            <a:extLst>
              <a:ext uri="{FF2B5EF4-FFF2-40B4-BE49-F238E27FC236}">
                <a16:creationId xmlns:a16="http://schemas.microsoft.com/office/drawing/2014/main" id="{DFDE3E7F-FFA6-4DAF-AF2D-90DD19A2F786}"/>
              </a:ext>
            </a:extLst>
          </p:cNvPr>
          <p:cNvPicPr>
            <a:picLocks noGrp="1" noChangeAspect="1"/>
          </p:cNvPicPr>
          <p:nvPr>
            <p:ph sz="half" idx="1"/>
          </p:nvPr>
        </p:nvPicPr>
        <p:blipFill>
          <a:blip r:embed="rId3"/>
          <a:srcRect l="25875" r="19119"/>
          <a:stretch/>
        </p:blipFill>
        <p:spPr>
          <a:xfrm>
            <a:off x="7776429" y="914400"/>
            <a:ext cx="4414591" cy="5357106"/>
          </a:xfrm>
          <a:prstGeom prst="rect">
            <a:avLst/>
          </a:prstGeom>
        </p:spPr>
      </p:pic>
      <p:sp>
        <p:nvSpPr>
          <p:cNvPr id="4" name="Content Placeholder 3">
            <a:extLst>
              <a:ext uri="{FF2B5EF4-FFF2-40B4-BE49-F238E27FC236}">
                <a16:creationId xmlns:a16="http://schemas.microsoft.com/office/drawing/2014/main" id="{7F1C93C6-F47F-7B52-989F-B8C7FDC159B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600" b="1" dirty="0"/>
              <a:t>Importance of Test Data</a:t>
            </a:r>
          </a:p>
          <a:p>
            <a:pPr marL="0" lvl="1" indent="0">
              <a:buNone/>
            </a:pPr>
            <a:r>
              <a:rPr lang="en-US" sz="1600" dirty="0"/>
              <a:t>Identifying the necessary test data is essential for executing meaningful tests that yield reliable results.</a:t>
            </a:r>
          </a:p>
          <a:p>
            <a:pPr marL="0" indent="0">
              <a:spcBef>
                <a:spcPts val="2500"/>
              </a:spcBef>
              <a:buNone/>
            </a:pPr>
            <a:r>
              <a:rPr lang="en-US" sz="1600" b="1" dirty="0"/>
              <a:t>Representative Data</a:t>
            </a:r>
          </a:p>
          <a:p>
            <a:pPr marL="0" lvl="1" indent="0">
              <a:buNone/>
            </a:pPr>
            <a:r>
              <a:rPr lang="en-US" sz="1600" dirty="0"/>
              <a:t>Test data must be representative of actual user data to ensure the validity of test outcomes and performance evaluations.</a:t>
            </a:r>
          </a:p>
          <a:p>
            <a:pPr marL="0" indent="0">
              <a:spcBef>
                <a:spcPts val="2500"/>
              </a:spcBef>
              <a:buNone/>
            </a:pPr>
            <a:r>
              <a:rPr lang="en-US" sz="1600" b="1" dirty="0"/>
              <a:t>Performance Evaluations</a:t>
            </a:r>
          </a:p>
          <a:p>
            <a:pPr marL="0" lvl="1" indent="0">
              <a:buNone/>
            </a:pPr>
            <a:r>
              <a:rPr lang="en-US" sz="1600" dirty="0"/>
              <a:t>Well-defined test data can support performance evaluations and help identify system limitations and areas for improvement.</a:t>
            </a:r>
          </a:p>
        </p:txBody>
      </p:sp>
      <p:grpSp>
        <p:nvGrpSpPr>
          <p:cNvPr id="3" name="Group 2">
            <a:extLst>
              <a:ext uri="{FF2B5EF4-FFF2-40B4-BE49-F238E27FC236}">
                <a16:creationId xmlns:a16="http://schemas.microsoft.com/office/drawing/2014/main" id="{27C17401-6C43-AB72-591E-B37B82C6811E}"/>
              </a:ext>
            </a:extLst>
          </p:cNvPr>
          <p:cNvGrpSpPr>
            <a:grpSpLocks noChangeAspect="1"/>
          </p:cNvGrpSpPr>
          <p:nvPr/>
        </p:nvGrpSpPr>
        <p:grpSpPr>
          <a:xfrm>
            <a:off x="9785139" y="6267570"/>
            <a:ext cx="2185416" cy="586592"/>
            <a:chOff x="9563100" y="1673029"/>
            <a:chExt cx="1389888" cy="373063"/>
          </a:xfrm>
        </p:grpSpPr>
        <p:pic>
          <p:nvPicPr>
            <p:cNvPr id="6" name="Picture 5">
              <a:extLst>
                <a:ext uri="{FF2B5EF4-FFF2-40B4-BE49-F238E27FC236}">
                  <a16:creationId xmlns:a16="http://schemas.microsoft.com/office/drawing/2014/main" id="{91974977-11D5-D1B3-CE8F-997D934973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127033FB-E62B-52EA-B42C-71F4FB022564}"/>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8585786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C3D27-CA15-26C6-9383-10342970A0CA}"/>
              </a:ext>
            </a:extLst>
          </p:cNvPr>
          <p:cNvSpPr>
            <a:spLocks noGrp="1"/>
          </p:cNvSpPr>
          <p:nvPr>
            <p:ph type="title"/>
          </p:nvPr>
        </p:nvSpPr>
        <p:spPr>
          <a:xfrm>
            <a:off x="640079" y="914400"/>
            <a:ext cx="4261104" cy="1097280"/>
          </a:xfrm>
        </p:spPr>
        <p:txBody>
          <a:bodyPr vert="horz" lIns="91440" tIns="45720" rIns="91440" bIns="45720" rtlCol="0" anchor="t">
            <a:normAutofit/>
          </a:bodyPr>
          <a:lstStyle/>
          <a:p>
            <a:r>
              <a:rPr lang="en-US" sz="3300"/>
              <a:t>Defining Test Scripts and Automation</a:t>
            </a:r>
          </a:p>
        </p:txBody>
      </p:sp>
      <p:pic>
        <p:nvPicPr>
          <p:cNvPr id="5" name="Content Placeholder 4" descr="3d illustration">
            <a:extLst>
              <a:ext uri="{FF2B5EF4-FFF2-40B4-BE49-F238E27FC236}">
                <a16:creationId xmlns:a16="http://schemas.microsoft.com/office/drawing/2014/main" id="{16648C31-2FFE-475E-9B68-3AF0FBB7A753}"/>
              </a:ext>
            </a:extLst>
          </p:cNvPr>
          <p:cNvPicPr>
            <a:picLocks noGrp="1" noChangeAspect="1"/>
          </p:cNvPicPr>
          <p:nvPr>
            <p:ph sz="half" idx="1"/>
          </p:nvPr>
        </p:nvPicPr>
        <p:blipFill>
          <a:blip r:embed="rId3"/>
          <a:srcRect t="4443" r="-1" b="13457"/>
          <a:stretch/>
        </p:blipFill>
        <p:spPr>
          <a:xfrm>
            <a:off x="5671128" y="914399"/>
            <a:ext cx="6520872" cy="5353521"/>
          </a:xfrm>
          <a:prstGeom prst="rect">
            <a:avLst/>
          </a:prstGeom>
        </p:spPr>
      </p:pic>
      <p:sp>
        <p:nvSpPr>
          <p:cNvPr id="4" name="Content Placeholder 3">
            <a:extLst>
              <a:ext uri="{FF2B5EF4-FFF2-40B4-BE49-F238E27FC236}">
                <a16:creationId xmlns:a16="http://schemas.microsoft.com/office/drawing/2014/main" id="{D65A0E4E-9AE5-5D97-5138-F4B6CED910A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600" b="1" dirty="0"/>
              <a:t>Enhanced Efficiency</a:t>
            </a:r>
          </a:p>
          <a:p>
            <a:pPr marL="0" lvl="1" indent="0">
              <a:buNone/>
            </a:pPr>
            <a:r>
              <a:rPr lang="en-US" sz="1600" dirty="0"/>
              <a:t>Automating test scripts significantly increases testing efficiency, allowing for quicker identification of issues.</a:t>
            </a:r>
          </a:p>
          <a:p>
            <a:pPr marL="0" indent="0">
              <a:spcBef>
                <a:spcPts val="2500"/>
              </a:spcBef>
              <a:buNone/>
            </a:pPr>
            <a:r>
              <a:rPr lang="en-US" sz="1600" b="1" dirty="0"/>
              <a:t>Consistent Performance</a:t>
            </a:r>
          </a:p>
          <a:p>
            <a:pPr marL="0" lvl="1" indent="0">
              <a:buNone/>
            </a:pPr>
            <a:r>
              <a:rPr lang="en-US" sz="1600" dirty="0"/>
              <a:t>Automated tests ensure consistent performance evaluation by executing the same tests repeatedly without variation.</a:t>
            </a:r>
          </a:p>
        </p:txBody>
      </p:sp>
      <p:grpSp>
        <p:nvGrpSpPr>
          <p:cNvPr id="3" name="Group 2">
            <a:extLst>
              <a:ext uri="{FF2B5EF4-FFF2-40B4-BE49-F238E27FC236}">
                <a16:creationId xmlns:a16="http://schemas.microsoft.com/office/drawing/2014/main" id="{F4AA07EC-655B-4CC5-85CB-CB37357F20F0}"/>
              </a:ext>
            </a:extLst>
          </p:cNvPr>
          <p:cNvGrpSpPr>
            <a:grpSpLocks noChangeAspect="1"/>
          </p:cNvGrpSpPr>
          <p:nvPr/>
        </p:nvGrpSpPr>
        <p:grpSpPr>
          <a:xfrm>
            <a:off x="9826702" y="5979230"/>
            <a:ext cx="2185416" cy="586592"/>
            <a:chOff x="9563100" y="1673029"/>
            <a:chExt cx="1389888" cy="373063"/>
          </a:xfrm>
        </p:grpSpPr>
        <p:pic>
          <p:nvPicPr>
            <p:cNvPr id="6" name="Picture 5">
              <a:extLst>
                <a:ext uri="{FF2B5EF4-FFF2-40B4-BE49-F238E27FC236}">
                  <a16:creationId xmlns:a16="http://schemas.microsoft.com/office/drawing/2014/main" id="{05C32A05-83C3-E31C-1E59-64B3BB3D0B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8036483B-E97E-6D02-41D0-E7E3944BD219}"/>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9525695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4E2F20-A11B-D7DD-F40D-FA42808C5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66171-ACCE-F6CF-D6FA-FFF71DDE09D3}"/>
              </a:ext>
            </a:extLst>
          </p:cNvPr>
          <p:cNvSpPr>
            <a:spLocks noGrp="1"/>
          </p:cNvSpPr>
          <p:nvPr>
            <p:ph type="title"/>
          </p:nvPr>
        </p:nvSpPr>
        <p:spPr>
          <a:xfrm>
            <a:off x="598516" y="595746"/>
            <a:ext cx="10014065" cy="761999"/>
          </a:xfrm>
        </p:spPr>
        <p:txBody>
          <a:bodyPr vert="horz" lIns="91440" tIns="45720" rIns="91440" bIns="45720" rtlCol="0" anchor="t">
            <a:noAutofit/>
          </a:bodyPr>
          <a:lstStyle/>
          <a:p>
            <a:pPr algn="ctr">
              <a:lnSpc>
                <a:spcPct val="90000"/>
              </a:lnSpc>
            </a:pPr>
            <a:r>
              <a:rPr lang="en-US" sz="3600" b="1" dirty="0">
                <a:solidFill>
                  <a:srgbClr val="7030A0"/>
                </a:solidFill>
              </a:rPr>
              <a:t>Quiz- Practical Questions</a:t>
            </a:r>
          </a:p>
        </p:txBody>
      </p:sp>
      <p:sp>
        <p:nvSpPr>
          <p:cNvPr id="4" name="Content Placeholder 3">
            <a:extLst>
              <a:ext uri="{FF2B5EF4-FFF2-40B4-BE49-F238E27FC236}">
                <a16:creationId xmlns:a16="http://schemas.microsoft.com/office/drawing/2014/main" id="{8F6BBA71-5D3D-7DB8-9DD3-6FE7EF29725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0976" y="1625601"/>
            <a:ext cx="11399242" cy="5288267"/>
          </a:xfrm>
        </p:spPr>
        <p:txBody>
          <a:bodyPr>
            <a:normAutofit/>
          </a:bodyPr>
          <a:lstStyle/>
          <a:p>
            <a:r>
              <a:rPr lang="en-US" sz="2400" b="1" dirty="0">
                <a:solidFill>
                  <a:srgbClr val="7030A0"/>
                </a:solidFill>
              </a:rPr>
              <a:t>What should you do if a system fails under load during testing?</a:t>
            </a:r>
          </a:p>
          <a:p>
            <a:r>
              <a:rPr lang="en-US" sz="2400" dirty="0">
                <a:solidFill>
                  <a:srgbClr val="7030A0"/>
                </a:solidFill>
              </a:rPr>
              <a:t>A) Ignore the failure and proceed</a:t>
            </a:r>
          </a:p>
          <a:p>
            <a:r>
              <a:rPr lang="en-US" sz="2400" dirty="0">
                <a:solidFill>
                  <a:srgbClr val="7030A0"/>
                </a:solidFill>
              </a:rPr>
              <a:t>B) Analyze logs and identify bottlenecks</a:t>
            </a:r>
          </a:p>
          <a:p>
            <a:r>
              <a:rPr lang="en-US" sz="2400" dirty="0">
                <a:solidFill>
                  <a:srgbClr val="7030A0"/>
                </a:solidFill>
              </a:rPr>
              <a:t>C) Reduce the number of virtual users</a:t>
            </a:r>
          </a:p>
          <a:p>
            <a:r>
              <a:rPr lang="en-US" sz="2400" dirty="0">
                <a:solidFill>
                  <a:srgbClr val="7030A0"/>
                </a:solidFill>
              </a:rPr>
              <a:t>D) Increase the system's security measures</a:t>
            </a:r>
          </a:p>
          <a:p>
            <a:endParaRPr lang="en-US" sz="2400" dirty="0">
              <a:solidFill>
                <a:srgbClr val="7030A0"/>
              </a:solidFill>
            </a:endParaRPr>
          </a:p>
          <a:p>
            <a:r>
              <a:rPr lang="en-US" sz="2400" b="1" dirty="0">
                <a:solidFill>
                  <a:srgbClr val="7030A0"/>
                </a:solidFill>
              </a:rPr>
              <a:t>Which of the following is a challenge in using production data for performance testing?</a:t>
            </a:r>
          </a:p>
          <a:p>
            <a:r>
              <a:rPr lang="en-US" sz="2400" dirty="0">
                <a:solidFill>
                  <a:srgbClr val="7030A0"/>
                </a:solidFill>
              </a:rPr>
              <a:t>A) Ensuring data security and privacy</a:t>
            </a:r>
          </a:p>
          <a:p>
            <a:r>
              <a:rPr lang="en-US" sz="2400" dirty="0">
                <a:solidFill>
                  <a:srgbClr val="7030A0"/>
                </a:solidFill>
              </a:rPr>
              <a:t>B) Generating sufficient data volume</a:t>
            </a:r>
          </a:p>
          <a:p>
            <a:r>
              <a:rPr lang="en-US" sz="2400" dirty="0">
                <a:solidFill>
                  <a:srgbClr val="7030A0"/>
                </a:solidFill>
              </a:rPr>
              <a:t>C) Masking sensitive information</a:t>
            </a:r>
          </a:p>
          <a:p>
            <a:r>
              <a:rPr lang="en-US" sz="2400" dirty="0">
                <a:solidFill>
                  <a:srgbClr val="7030A0"/>
                </a:solidFill>
              </a:rPr>
              <a:t>D) All of the above</a:t>
            </a:r>
          </a:p>
          <a:p>
            <a:endParaRPr lang="en-US" sz="2400" dirty="0">
              <a:solidFill>
                <a:srgbClr val="7030A0"/>
              </a:solidFill>
            </a:endParaRPr>
          </a:p>
        </p:txBody>
      </p:sp>
      <p:grpSp>
        <p:nvGrpSpPr>
          <p:cNvPr id="3" name="Group 2">
            <a:extLst>
              <a:ext uri="{FF2B5EF4-FFF2-40B4-BE49-F238E27FC236}">
                <a16:creationId xmlns:a16="http://schemas.microsoft.com/office/drawing/2014/main" id="{AB8ED10D-CAEC-9F20-20C9-C288E579E745}"/>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4DCB3CC7-E807-F9E4-2B23-A12A1777C9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F0094C0B-225F-32E6-848B-A0F1491B01DC}"/>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315616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27563-09EF-EB14-64BE-098C1E8ED258}"/>
              </a:ext>
            </a:extLst>
          </p:cNvPr>
          <p:cNvSpPr>
            <a:spLocks noGrp="1"/>
          </p:cNvSpPr>
          <p:nvPr>
            <p:ph type="ctrTitle"/>
          </p:nvPr>
        </p:nvSpPr>
        <p:spPr>
          <a:xfrm>
            <a:off x="1099545" y="1108364"/>
            <a:ext cx="9249799" cy="2020882"/>
          </a:xfrm>
        </p:spPr>
        <p:txBody>
          <a:bodyPr anchor="b">
            <a:normAutofit/>
          </a:bodyPr>
          <a:lstStyle/>
          <a:p>
            <a:r>
              <a:rPr lang="en-US" sz="6500" dirty="0"/>
              <a:t>Test Execution and Monitoring</a:t>
            </a:r>
          </a:p>
        </p:txBody>
      </p:sp>
      <p:sp>
        <p:nvSpPr>
          <p:cNvPr id="3" name="Title 1">
            <a:extLst>
              <a:ext uri="{FF2B5EF4-FFF2-40B4-BE49-F238E27FC236}">
                <a16:creationId xmlns:a16="http://schemas.microsoft.com/office/drawing/2014/main" id="{34321E52-3397-0582-4C83-98066AD2FF84}"/>
              </a:ext>
            </a:extLst>
          </p:cNvPr>
          <p:cNvSpPr txBox="1">
            <a:spLocks/>
          </p:cNvSpPr>
          <p:nvPr/>
        </p:nvSpPr>
        <p:spPr>
          <a:xfrm>
            <a:off x="1099545" y="4724399"/>
            <a:ext cx="9249799" cy="11757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t>Executing tests and actively monitoring system performance is the next step in the lifecycle. This phase involves collecting data for analysis and identifying any performance issues.</a:t>
            </a:r>
          </a:p>
        </p:txBody>
      </p:sp>
      <p:grpSp>
        <p:nvGrpSpPr>
          <p:cNvPr id="4" name="Group 3">
            <a:extLst>
              <a:ext uri="{FF2B5EF4-FFF2-40B4-BE49-F238E27FC236}">
                <a16:creationId xmlns:a16="http://schemas.microsoft.com/office/drawing/2014/main" id="{CD1680A1-6710-38AD-E8D6-E840BCFF1336}"/>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BC89FA4E-5376-A5FB-9084-59EAA3C340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C252E667-4452-3184-466A-F9B3C7E071C0}"/>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3330273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CA8D1-8E4F-C94B-6E0B-2177A1127933}"/>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Executing Tests and Collecting Data</a:t>
            </a:r>
          </a:p>
        </p:txBody>
      </p:sp>
      <p:pic>
        <p:nvPicPr>
          <p:cNvPr id="5" name="Content Placeholder 4" descr="http://teekid.com/istockphoto/banner/banner3.jpg">
            <a:extLst>
              <a:ext uri="{FF2B5EF4-FFF2-40B4-BE49-F238E27FC236}">
                <a16:creationId xmlns:a16="http://schemas.microsoft.com/office/drawing/2014/main" id="{20E1FAEE-FAC2-442E-B2F7-C0650FE9603F}"/>
              </a:ext>
            </a:extLst>
          </p:cNvPr>
          <p:cNvPicPr>
            <a:picLocks noGrp="1" noChangeAspect="1"/>
          </p:cNvPicPr>
          <p:nvPr>
            <p:ph sz="half" idx="1"/>
          </p:nvPr>
        </p:nvPicPr>
        <p:blipFill>
          <a:blip r:embed="rId3"/>
          <a:srcRect l="17593" r="2" b="2"/>
          <a:stretch/>
        </p:blipFill>
        <p:spPr>
          <a:xfrm>
            <a:off x="7776429" y="914400"/>
            <a:ext cx="4414591" cy="5357106"/>
          </a:xfrm>
          <a:prstGeom prst="rect">
            <a:avLst/>
          </a:prstGeom>
        </p:spPr>
      </p:pic>
      <p:sp>
        <p:nvSpPr>
          <p:cNvPr id="4" name="Content Placeholder 3">
            <a:extLst>
              <a:ext uri="{FF2B5EF4-FFF2-40B4-BE49-F238E27FC236}">
                <a16:creationId xmlns:a16="http://schemas.microsoft.com/office/drawing/2014/main" id="{BC2B2761-EA74-816C-D83B-45ABD7CCBF5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600" b="1" dirty="0"/>
              <a:t>Defined Testing Scenarios</a:t>
            </a:r>
          </a:p>
          <a:p>
            <a:pPr marL="0" lvl="1" indent="0">
              <a:buNone/>
            </a:pPr>
            <a:r>
              <a:rPr lang="en-US" sz="1600" dirty="0"/>
              <a:t>Tests must follow predefined scenarios to ensure accurate and reliable results in various conditions.</a:t>
            </a:r>
          </a:p>
          <a:p>
            <a:pPr marL="0" indent="0">
              <a:spcBef>
                <a:spcPts val="2500"/>
              </a:spcBef>
              <a:buNone/>
            </a:pPr>
            <a:r>
              <a:rPr lang="en-US" sz="1600" b="1" dirty="0"/>
              <a:t>Data Collection Process</a:t>
            </a:r>
          </a:p>
          <a:p>
            <a:pPr marL="0" lvl="1" indent="0">
              <a:buNone/>
            </a:pPr>
            <a:r>
              <a:rPr lang="en-US" sz="1600" dirty="0"/>
              <a:t>Collecting relevant data during tests is essential for thorough analysis and understanding of performance metrics.</a:t>
            </a:r>
          </a:p>
          <a:p>
            <a:pPr marL="0" indent="0">
              <a:spcBef>
                <a:spcPts val="2500"/>
              </a:spcBef>
              <a:buNone/>
            </a:pPr>
            <a:r>
              <a:rPr lang="en-US" sz="1600" b="1" dirty="0"/>
              <a:t>Performance Insights</a:t>
            </a:r>
          </a:p>
          <a:p>
            <a:pPr marL="0" lvl="1" indent="0">
              <a:buNone/>
            </a:pPr>
            <a:r>
              <a:rPr lang="en-US" sz="1600" dirty="0"/>
              <a:t>Analyzing collected data provides insights into system performance, helping to identify areas for improvement.</a:t>
            </a:r>
          </a:p>
        </p:txBody>
      </p:sp>
      <p:grpSp>
        <p:nvGrpSpPr>
          <p:cNvPr id="3" name="Group 2">
            <a:extLst>
              <a:ext uri="{FF2B5EF4-FFF2-40B4-BE49-F238E27FC236}">
                <a16:creationId xmlns:a16="http://schemas.microsoft.com/office/drawing/2014/main" id="{DDE8A863-285C-C59B-1A51-AFB12BE20D6C}"/>
              </a:ext>
            </a:extLst>
          </p:cNvPr>
          <p:cNvGrpSpPr>
            <a:grpSpLocks noChangeAspect="1"/>
          </p:cNvGrpSpPr>
          <p:nvPr/>
        </p:nvGrpSpPr>
        <p:grpSpPr>
          <a:xfrm>
            <a:off x="9798993" y="6173194"/>
            <a:ext cx="2185416" cy="586592"/>
            <a:chOff x="9563100" y="1673029"/>
            <a:chExt cx="1389888" cy="373063"/>
          </a:xfrm>
        </p:grpSpPr>
        <p:pic>
          <p:nvPicPr>
            <p:cNvPr id="6" name="Picture 5">
              <a:extLst>
                <a:ext uri="{FF2B5EF4-FFF2-40B4-BE49-F238E27FC236}">
                  <a16:creationId xmlns:a16="http://schemas.microsoft.com/office/drawing/2014/main" id="{42119F62-4944-2AF3-485E-3207F6382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F8A6D7D8-A3A0-6851-EA74-E2E67530CC7C}"/>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489620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9D14C-2D46-A97A-9271-52082624C258}"/>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Handling Performance Issues and Bottlenecks</a:t>
            </a:r>
          </a:p>
        </p:txBody>
      </p:sp>
      <p:pic>
        <p:nvPicPr>
          <p:cNvPr id="5" name="Content Placeholder 4" descr="3D illustration.">
            <a:extLst>
              <a:ext uri="{FF2B5EF4-FFF2-40B4-BE49-F238E27FC236}">
                <a16:creationId xmlns:a16="http://schemas.microsoft.com/office/drawing/2014/main" id="{42D6E84A-279C-43CC-BC45-630A15399CEB}"/>
              </a:ext>
            </a:extLst>
          </p:cNvPr>
          <p:cNvPicPr>
            <a:picLocks noGrp="1" noChangeAspect="1"/>
          </p:cNvPicPr>
          <p:nvPr>
            <p:ph sz="half" idx="1"/>
          </p:nvPr>
        </p:nvPicPr>
        <p:blipFill>
          <a:blip r:embed="rId3"/>
          <a:srcRect l="16044" r="22152"/>
          <a:stretch/>
        </p:blipFill>
        <p:spPr>
          <a:xfrm>
            <a:off x="7776429" y="914400"/>
            <a:ext cx="4414591" cy="5357106"/>
          </a:xfrm>
          <a:prstGeom prst="rect">
            <a:avLst/>
          </a:prstGeom>
        </p:spPr>
      </p:pic>
      <p:sp>
        <p:nvSpPr>
          <p:cNvPr id="4" name="Content Placeholder 3">
            <a:extLst>
              <a:ext uri="{FF2B5EF4-FFF2-40B4-BE49-F238E27FC236}">
                <a16:creationId xmlns:a16="http://schemas.microsoft.com/office/drawing/2014/main" id="{55AC45DE-86D3-4A3A-5A71-90F1363145A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600" b="1" dirty="0"/>
              <a:t>Importance of Identification</a:t>
            </a:r>
          </a:p>
          <a:p>
            <a:pPr marL="0" lvl="1" indent="0">
              <a:buNone/>
            </a:pPr>
            <a:r>
              <a:rPr lang="en-US" sz="1600" dirty="0"/>
              <a:t>Identifying performance issues early in the testing phase is essential for effective resolution and improved outcomes.</a:t>
            </a:r>
          </a:p>
          <a:p>
            <a:pPr marL="0" indent="0">
              <a:spcBef>
                <a:spcPts val="2500"/>
              </a:spcBef>
              <a:buNone/>
            </a:pPr>
            <a:r>
              <a:rPr lang="en-US" sz="1600" b="1" dirty="0"/>
              <a:t>Corrective Actions</a:t>
            </a:r>
          </a:p>
          <a:p>
            <a:pPr marL="0" lvl="1" indent="0">
              <a:buNone/>
            </a:pPr>
            <a:r>
              <a:rPr lang="en-US" sz="1600" dirty="0"/>
              <a:t>Implementing corrective actions based on identified issues can significantly enhance system performance and reliability.</a:t>
            </a:r>
          </a:p>
          <a:p>
            <a:pPr marL="0" indent="0">
              <a:spcBef>
                <a:spcPts val="2500"/>
              </a:spcBef>
              <a:buNone/>
            </a:pPr>
            <a:r>
              <a:rPr lang="en-US" sz="1600" b="1" dirty="0"/>
              <a:t>User Experience Enhancement</a:t>
            </a:r>
          </a:p>
          <a:p>
            <a:pPr marL="0" lvl="1" indent="0">
              <a:buNone/>
            </a:pPr>
            <a:r>
              <a:rPr lang="en-US" sz="1600" dirty="0"/>
              <a:t>Addressing bottlenecks leads to an improved user experience, making the application more responsive and efficient.</a:t>
            </a:r>
          </a:p>
        </p:txBody>
      </p:sp>
      <p:grpSp>
        <p:nvGrpSpPr>
          <p:cNvPr id="3" name="Group 2">
            <a:extLst>
              <a:ext uri="{FF2B5EF4-FFF2-40B4-BE49-F238E27FC236}">
                <a16:creationId xmlns:a16="http://schemas.microsoft.com/office/drawing/2014/main" id="{959BDEE2-9AF7-8985-80F4-013DCC0FE8D8}"/>
              </a:ext>
            </a:extLst>
          </p:cNvPr>
          <p:cNvGrpSpPr>
            <a:grpSpLocks noChangeAspect="1"/>
          </p:cNvGrpSpPr>
          <p:nvPr/>
        </p:nvGrpSpPr>
        <p:grpSpPr>
          <a:xfrm>
            <a:off x="9840557" y="6212152"/>
            <a:ext cx="2185416" cy="586592"/>
            <a:chOff x="9563100" y="1673029"/>
            <a:chExt cx="1389888" cy="373063"/>
          </a:xfrm>
        </p:grpSpPr>
        <p:pic>
          <p:nvPicPr>
            <p:cNvPr id="6" name="Picture 5">
              <a:extLst>
                <a:ext uri="{FF2B5EF4-FFF2-40B4-BE49-F238E27FC236}">
                  <a16:creationId xmlns:a16="http://schemas.microsoft.com/office/drawing/2014/main" id="{534ADDBF-C315-005C-204C-929AC968F7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916F073B-4A68-A7EF-B674-282CA9D98829}"/>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28618767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D6D4F-10D5-BEC3-D1C7-E4D4431E2118}"/>
              </a:ext>
            </a:extLst>
          </p:cNvPr>
          <p:cNvSpPr>
            <a:spLocks noGrp="1"/>
          </p:cNvSpPr>
          <p:nvPr>
            <p:ph type="ctrTitle"/>
          </p:nvPr>
        </p:nvSpPr>
        <p:spPr>
          <a:xfrm>
            <a:off x="1002565" y="1136073"/>
            <a:ext cx="9997944" cy="1854628"/>
          </a:xfrm>
        </p:spPr>
        <p:txBody>
          <a:bodyPr anchor="b">
            <a:normAutofit fontScale="90000"/>
          </a:bodyPr>
          <a:lstStyle/>
          <a:p>
            <a:r>
              <a:rPr lang="en-US" sz="6500" dirty="0"/>
              <a:t>Analyzing Results and Reporting</a:t>
            </a:r>
          </a:p>
        </p:txBody>
      </p:sp>
      <p:sp>
        <p:nvSpPr>
          <p:cNvPr id="3" name="Title 1">
            <a:extLst>
              <a:ext uri="{FF2B5EF4-FFF2-40B4-BE49-F238E27FC236}">
                <a16:creationId xmlns:a16="http://schemas.microsoft.com/office/drawing/2014/main" id="{A98AB2C4-1911-A854-15F9-1D06AEC3D6C4}"/>
              </a:ext>
            </a:extLst>
          </p:cNvPr>
          <p:cNvSpPr txBox="1">
            <a:spLocks/>
          </p:cNvSpPr>
          <p:nvPr/>
        </p:nvSpPr>
        <p:spPr>
          <a:xfrm>
            <a:off x="1002565" y="4225637"/>
            <a:ext cx="9997944" cy="94211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t>After test execution, analyzing results is crucial for understanding system performance. This involves interpreting data and preparing reports for stakeholders.</a:t>
            </a:r>
          </a:p>
        </p:txBody>
      </p:sp>
      <p:grpSp>
        <p:nvGrpSpPr>
          <p:cNvPr id="4" name="Group 3">
            <a:extLst>
              <a:ext uri="{FF2B5EF4-FFF2-40B4-BE49-F238E27FC236}">
                <a16:creationId xmlns:a16="http://schemas.microsoft.com/office/drawing/2014/main" id="{4B58828A-BF80-E71C-3741-2A978EBC0C14}"/>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AA602E1E-CD7C-C4D9-FDE7-B0C458C4CA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83CEB8AB-DD17-21F7-E8D3-B74B69EACF1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1266263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82EAF-7FD3-F6DD-C082-EB13BD361963}"/>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Interpreting Performance Data</a:t>
            </a:r>
          </a:p>
        </p:txBody>
      </p:sp>
      <p:pic>
        <p:nvPicPr>
          <p:cNvPr id="5" name="Content Placeholder 4" descr="Pen pointing to a graph on a screen">
            <a:extLst>
              <a:ext uri="{FF2B5EF4-FFF2-40B4-BE49-F238E27FC236}">
                <a16:creationId xmlns:a16="http://schemas.microsoft.com/office/drawing/2014/main" id="{A2A4F432-D388-4D3F-A5E6-9D6613D0AC9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22538" r="22538"/>
          <a:stretch/>
        </p:blipFill>
        <p:spPr>
          <a:xfrm>
            <a:off x="7582465" y="914400"/>
            <a:ext cx="4414591" cy="5357106"/>
          </a:xfrm>
          <a:prstGeom prst="rect">
            <a:avLst/>
          </a:prstGeom>
        </p:spPr>
      </p:pic>
      <p:sp>
        <p:nvSpPr>
          <p:cNvPr id="4" name="Content Placeholder 3">
            <a:extLst>
              <a:ext uri="{FF2B5EF4-FFF2-40B4-BE49-F238E27FC236}">
                <a16:creationId xmlns:a16="http://schemas.microsoft.com/office/drawing/2014/main" id="{0BB2B5C8-9BA6-7A62-8948-2E5ED3FDFC9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600" b="1" dirty="0"/>
              <a:t>Understanding Key Metrics</a:t>
            </a:r>
          </a:p>
          <a:p>
            <a:pPr marL="0" lvl="1" indent="0">
              <a:buNone/>
            </a:pPr>
            <a:r>
              <a:rPr lang="en-US" sz="1600" dirty="0"/>
              <a:t>A solid grasp of key metrics is essential for effective performance data analysis, allowing for informed decision-making.</a:t>
            </a:r>
          </a:p>
          <a:p>
            <a:pPr marL="0" indent="0">
              <a:spcBef>
                <a:spcPts val="2500"/>
              </a:spcBef>
              <a:buNone/>
            </a:pPr>
            <a:r>
              <a:rPr lang="en-US" sz="1600" b="1" dirty="0"/>
              <a:t>Analyzing Trends</a:t>
            </a:r>
          </a:p>
          <a:p>
            <a:pPr marL="0" lvl="1" indent="0">
              <a:buNone/>
            </a:pPr>
            <a:r>
              <a:rPr lang="en-US" sz="1600" dirty="0"/>
              <a:t>Analyzing trends in performance data reveals valuable insights that can drive strategic improvements and enhance outcomes.</a:t>
            </a:r>
          </a:p>
          <a:p>
            <a:pPr marL="0" indent="0">
              <a:spcBef>
                <a:spcPts val="2500"/>
              </a:spcBef>
              <a:buNone/>
            </a:pPr>
            <a:r>
              <a:rPr lang="en-US" sz="1600" b="1" dirty="0"/>
              <a:t>Identifying Strengths and Weaknesses</a:t>
            </a:r>
          </a:p>
          <a:p>
            <a:pPr marL="0" lvl="1" indent="0">
              <a:buNone/>
            </a:pPr>
            <a:r>
              <a:rPr lang="en-US" sz="1600" dirty="0"/>
              <a:t>Effective performance analysis identifies both strengths to leverage and weaknesses to address for continuous improvement.</a:t>
            </a:r>
          </a:p>
        </p:txBody>
      </p:sp>
      <p:grpSp>
        <p:nvGrpSpPr>
          <p:cNvPr id="3" name="Group 2">
            <a:extLst>
              <a:ext uri="{FF2B5EF4-FFF2-40B4-BE49-F238E27FC236}">
                <a16:creationId xmlns:a16="http://schemas.microsoft.com/office/drawing/2014/main" id="{28526204-A63F-4DB6-F570-C81F0704CD12}"/>
              </a:ext>
            </a:extLst>
          </p:cNvPr>
          <p:cNvGrpSpPr>
            <a:grpSpLocks noChangeAspect="1"/>
          </p:cNvGrpSpPr>
          <p:nvPr/>
        </p:nvGrpSpPr>
        <p:grpSpPr>
          <a:xfrm>
            <a:off x="9811640" y="6271408"/>
            <a:ext cx="2185416" cy="586592"/>
            <a:chOff x="9563100" y="1673029"/>
            <a:chExt cx="1389888" cy="373063"/>
          </a:xfrm>
        </p:grpSpPr>
        <p:pic>
          <p:nvPicPr>
            <p:cNvPr id="6" name="Picture 5">
              <a:extLst>
                <a:ext uri="{FF2B5EF4-FFF2-40B4-BE49-F238E27FC236}">
                  <a16:creationId xmlns:a16="http://schemas.microsoft.com/office/drawing/2014/main" id="{62319EE6-7B1C-F0CB-30E3-11D237FF81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F62E9A3B-D721-0815-EF47-330F926F7808}"/>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35450314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A78DB-F3CE-C280-085D-2A7FADD68736}"/>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3600"/>
              <a:t>Identifying Areas for Improvement</a:t>
            </a:r>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3D652A28-D7A6-470F-84C2-BF026B202257}"/>
              </a:ext>
            </a:extLst>
          </p:cNvPr>
          <p:cNvPicPr>
            <a:picLocks noGrp="1" noChangeAspect="1"/>
          </p:cNvPicPr>
          <p:nvPr>
            <p:ph sz="half" idx="1"/>
          </p:nvPr>
        </p:nvPicPr>
        <p:blipFill>
          <a:blip r:embed="rId3"/>
          <a:srcRect l="4935" r="3711"/>
          <a:stretch/>
        </p:blipFill>
        <p:spPr>
          <a:xfrm>
            <a:off x="5518728" y="914400"/>
            <a:ext cx="6520872" cy="5353521"/>
          </a:xfrm>
          <a:prstGeom prst="rect">
            <a:avLst/>
          </a:prstGeom>
        </p:spPr>
      </p:pic>
      <p:sp>
        <p:nvSpPr>
          <p:cNvPr id="4" name="Content Placeholder 3">
            <a:extLst>
              <a:ext uri="{FF2B5EF4-FFF2-40B4-BE49-F238E27FC236}">
                <a16:creationId xmlns:a16="http://schemas.microsoft.com/office/drawing/2014/main" id="{BE86624F-BD0E-0946-A566-9DA94C29CF1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600" b="1" dirty="0"/>
              <a:t>Importance of Analysis</a:t>
            </a:r>
          </a:p>
          <a:p>
            <a:pPr marL="0" lvl="1" indent="0">
              <a:buNone/>
            </a:pPr>
            <a:r>
              <a:rPr lang="en-US" sz="1600" dirty="0"/>
              <a:t>Thorough analysis helps identify specific areas needing improvement to enhance performance effectively.</a:t>
            </a:r>
          </a:p>
          <a:p>
            <a:pPr marL="0" indent="0">
              <a:spcBef>
                <a:spcPts val="2500"/>
              </a:spcBef>
              <a:buNone/>
            </a:pPr>
            <a:r>
              <a:rPr lang="en-US" sz="1600" b="1" dirty="0"/>
              <a:t>Enhancing Application Performance</a:t>
            </a:r>
          </a:p>
          <a:p>
            <a:pPr marL="0" lvl="1" indent="0">
              <a:buNone/>
            </a:pPr>
            <a:r>
              <a:rPr lang="en-US" sz="1600" dirty="0"/>
              <a:t>Focusing on improvement areas is crucial for optimizing application performance and meeting user needs.</a:t>
            </a:r>
          </a:p>
          <a:p>
            <a:pPr marL="0" indent="0">
              <a:spcBef>
                <a:spcPts val="2500"/>
              </a:spcBef>
              <a:buNone/>
            </a:pPr>
            <a:r>
              <a:rPr lang="en-US" sz="1600" b="1" dirty="0"/>
              <a:t>Meeting User Expectations</a:t>
            </a:r>
          </a:p>
          <a:p>
            <a:pPr marL="0" lvl="1" indent="0">
              <a:buNone/>
            </a:pPr>
            <a:r>
              <a:rPr lang="en-US" sz="1600" dirty="0"/>
              <a:t>Identifying improvement areas ensures that applications continually meet and exceed user expectations.</a:t>
            </a:r>
          </a:p>
        </p:txBody>
      </p:sp>
      <p:grpSp>
        <p:nvGrpSpPr>
          <p:cNvPr id="3" name="Group 2">
            <a:extLst>
              <a:ext uri="{FF2B5EF4-FFF2-40B4-BE49-F238E27FC236}">
                <a16:creationId xmlns:a16="http://schemas.microsoft.com/office/drawing/2014/main" id="{2EA2CD12-220B-F290-E6C0-1E97C016C782}"/>
              </a:ext>
            </a:extLst>
          </p:cNvPr>
          <p:cNvGrpSpPr>
            <a:grpSpLocks noChangeAspect="1"/>
          </p:cNvGrpSpPr>
          <p:nvPr/>
        </p:nvGrpSpPr>
        <p:grpSpPr>
          <a:xfrm>
            <a:off x="9854184" y="6222755"/>
            <a:ext cx="2185416" cy="586592"/>
            <a:chOff x="9563100" y="1673029"/>
            <a:chExt cx="1389888" cy="373063"/>
          </a:xfrm>
        </p:grpSpPr>
        <p:pic>
          <p:nvPicPr>
            <p:cNvPr id="6" name="Picture 5">
              <a:extLst>
                <a:ext uri="{FF2B5EF4-FFF2-40B4-BE49-F238E27FC236}">
                  <a16:creationId xmlns:a16="http://schemas.microsoft.com/office/drawing/2014/main" id="{5ADE90B9-57CC-5E73-27DC-28FDBF0021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B9DC4FA0-FCB1-56E1-D65F-0725F3EE1AC0}"/>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3166181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BE2A1-0304-0A1D-2E83-23A7EA736A8B}"/>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2800"/>
              <a:t>Creating Comprehensive Reports</a:t>
            </a:r>
          </a:p>
        </p:txBody>
      </p:sp>
      <p:pic>
        <p:nvPicPr>
          <p:cNvPr id="5" name="Content Placeholder 4" descr="A picture of an electromagnetic radiation">
            <a:extLst>
              <a:ext uri="{FF2B5EF4-FFF2-40B4-BE49-F238E27FC236}">
                <a16:creationId xmlns:a16="http://schemas.microsoft.com/office/drawing/2014/main" id="{DA8FE5DC-DA8B-4ADC-93E4-01C475879BE9}"/>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9234" r="9234"/>
          <a:stretch/>
        </p:blipFill>
        <p:spPr>
          <a:xfrm>
            <a:off x="5504873" y="914400"/>
            <a:ext cx="6520872" cy="5353521"/>
          </a:xfrm>
          <a:prstGeom prst="rect">
            <a:avLst/>
          </a:prstGeom>
        </p:spPr>
      </p:pic>
      <p:sp>
        <p:nvSpPr>
          <p:cNvPr id="4" name="Content Placeholder 3">
            <a:extLst>
              <a:ext uri="{FF2B5EF4-FFF2-40B4-BE49-F238E27FC236}">
                <a16:creationId xmlns:a16="http://schemas.microsoft.com/office/drawing/2014/main" id="{89C74F78-069C-95AC-1550-1FFCD53E6B0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600" b="1" dirty="0"/>
              <a:t>Importance of Detailed Reports</a:t>
            </a:r>
          </a:p>
          <a:p>
            <a:pPr marL="0" lvl="1" indent="0">
              <a:buNone/>
            </a:pPr>
            <a:r>
              <a:rPr lang="en-US" sz="1600" dirty="0"/>
              <a:t>Detailed reports are crucial for effectively communicating testing results and findings to all stakeholders involved.</a:t>
            </a:r>
          </a:p>
          <a:p>
            <a:pPr marL="0" indent="0">
              <a:spcBef>
                <a:spcPts val="2500"/>
              </a:spcBef>
              <a:buNone/>
            </a:pPr>
            <a:r>
              <a:rPr lang="en-US" sz="1600" b="1" dirty="0"/>
              <a:t>Highlighting Key Issues</a:t>
            </a:r>
          </a:p>
          <a:p>
            <a:pPr marL="0" lvl="1" indent="0">
              <a:buNone/>
            </a:pPr>
            <a:r>
              <a:rPr lang="en-US" sz="1600" dirty="0"/>
              <a:t>Reports should focus on key issues identified during testing to ensure stakeholders understand critical areas that need attention.</a:t>
            </a:r>
          </a:p>
          <a:p>
            <a:pPr marL="0" indent="0">
              <a:spcBef>
                <a:spcPts val="2500"/>
              </a:spcBef>
              <a:buNone/>
            </a:pPr>
            <a:r>
              <a:rPr lang="en-US" sz="1600" b="1" dirty="0"/>
              <a:t>Recommendations for Improvement</a:t>
            </a:r>
          </a:p>
          <a:p>
            <a:pPr marL="0" lvl="1" indent="0">
              <a:buNone/>
            </a:pPr>
            <a:r>
              <a:rPr lang="en-US" sz="1600" dirty="0"/>
              <a:t>Including actionable recommendations in reports helps stakeholders make informed decisions for future improvements.</a:t>
            </a:r>
          </a:p>
        </p:txBody>
      </p:sp>
      <p:grpSp>
        <p:nvGrpSpPr>
          <p:cNvPr id="3" name="Group 2">
            <a:extLst>
              <a:ext uri="{FF2B5EF4-FFF2-40B4-BE49-F238E27FC236}">
                <a16:creationId xmlns:a16="http://schemas.microsoft.com/office/drawing/2014/main" id="{03F1CB27-5531-C2E7-1FDA-739A03454BD6}"/>
              </a:ext>
            </a:extLst>
          </p:cNvPr>
          <p:cNvGrpSpPr>
            <a:grpSpLocks noChangeAspect="1"/>
          </p:cNvGrpSpPr>
          <p:nvPr/>
        </p:nvGrpSpPr>
        <p:grpSpPr>
          <a:xfrm>
            <a:off x="9840329" y="6267921"/>
            <a:ext cx="2185416" cy="586592"/>
            <a:chOff x="9563100" y="1673029"/>
            <a:chExt cx="1389888" cy="373063"/>
          </a:xfrm>
        </p:grpSpPr>
        <p:pic>
          <p:nvPicPr>
            <p:cNvPr id="6" name="Picture 5">
              <a:extLst>
                <a:ext uri="{FF2B5EF4-FFF2-40B4-BE49-F238E27FC236}">
                  <a16:creationId xmlns:a16="http://schemas.microsoft.com/office/drawing/2014/main" id="{67876790-2B41-5295-C5BC-6C4550313B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83436C8C-B127-0CC6-1DA9-57E6D41E1426}"/>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13334571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4D5F74-0D02-B27B-DBA0-AEAD2BF89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4802A-9380-1F03-8C0F-EEBF047AD54F}"/>
              </a:ext>
            </a:extLst>
          </p:cNvPr>
          <p:cNvSpPr>
            <a:spLocks noGrp="1"/>
          </p:cNvSpPr>
          <p:nvPr>
            <p:ph type="title"/>
          </p:nvPr>
        </p:nvSpPr>
        <p:spPr>
          <a:xfrm>
            <a:off x="598516" y="595746"/>
            <a:ext cx="10014065" cy="761999"/>
          </a:xfrm>
        </p:spPr>
        <p:txBody>
          <a:bodyPr vert="horz" lIns="91440" tIns="45720" rIns="91440" bIns="45720" rtlCol="0" anchor="t">
            <a:noAutofit/>
          </a:bodyPr>
          <a:lstStyle/>
          <a:p>
            <a:pPr algn="ctr">
              <a:lnSpc>
                <a:spcPct val="90000"/>
              </a:lnSpc>
            </a:pPr>
            <a:r>
              <a:rPr lang="en-US" sz="3600" b="1" dirty="0">
                <a:solidFill>
                  <a:srgbClr val="7030A0"/>
                </a:solidFill>
              </a:rPr>
              <a:t>Quiz- Practical Questions</a:t>
            </a:r>
          </a:p>
        </p:txBody>
      </p:sp>
      <p:sp>
        <p:nvSpPr>
          <p:cNvPr id="4" name="Content Placeholder 3">
            <a:extLst>
              <a:ext uri="{FF2B5EF4-FFF2-40B4-BE49-F238E27FC236}">
                <a16:creationId xmlns:a16="http://schemas.microsoft.com/office/drawing/2014/main" id="{604D4B94-7D45-8D66-EFE5-7E5CD2DB4A5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0976" y="1625601"/>
            <a:ext cx="11399242" cy="5288267"/>
          </a:xfrm>
        </p:spPr>
        <p:txBody>
          <a:bodyPr>
            <a:normAutofit/>
          </a:bodyPr>
          <a:lstStyle/>
          <a:p>
            <a:r>
              <a:rPr lang="en-US" sz="2400" b="1" dirty="0">
                <a:solidFill>
                  <a:srgbClr val="7030A0"/>
                </a:solidFill>
              </a:rPr>
              <a:t>What is the role of benchmarking in performance test analysis?</a:t>
            </a:r>
          </a:p>
          <a:p>
            <a:r>
              <a:rPr lang="en-US" sz="2400" dirty="0">
                <a:solidFill>
                  <a:srgbClr val="7030A0"/>
                </a:solidFill>
              </a:rPr>
              <a:t>A) To compare system performance against industry standards</a:t>
            </a:r>
          </a:p>
          <a:p>
            <a:r>
              <a:rPr lang="en-US" sz="2400" dirty="0">
                <a:solidFill>
                  <a:srgbClr val="7030A0"/>
                </a:solidFill>
              </a:rPr>
              <a:t>B) To identify security vulnerabilities</a:t>
            </a:r>
          </a:p>
          <a:p>
            <a:r>
              <a:rPr lang="en-US" sz="2400" dirty="0">
                <a:solidFill>
                  <a:srgbClr val="7030A0"/>
                </a:solidFill>
              </a:rPr>
              <a:t>C) To validate user interface design</a:t>
            </a:r>
          </a:p>
          <a:p>
            <a:r>
              <a:rPr lang="en-US" sz="2400" dirty="0">
                <a:solidFill>
                  <a:srgbClr val="7030A0"/>
                </a:solidFill>
              </a:rPr>
              <a:t>D) To reduce system errors</a:t>
            </a:r>
          </a:p>
          <a:p>
            <a:endParaRPr lang="en-US" sz="2400" b="1" dirty="0">
              <a:solidFill>
                <a:srgbClr val="7030A0"/>
              </a:solidFill>
            </a:endParaRPr>
          </a:p>
          <a:p>
            <a:r>
              <a:rPr lang="en-US" sz="2400" b="1" dirty="0">
                <a:solidFill>
                  <a:srgbClr val="7030A0"/>
                </a:solidFill>
              </a:rPr>
              <a:t>Which of the following is a best practice for performance test reporting?</a:t>
            </a:r>
          </a:p>
          <a:p>
            <a:r>
              <a:rPr lang="en-US" sz="2400" dirty="0">
                <a:solidFill>
                  <a:srgbClr val="7030A0"/>
                </a:solidFill>
              </a:rPr>
              <a:t>A) Use technical jargon without explanation</a:t>
            </a:r>
          </a:p>
          <a:p>
            <a:r>
              <a:rPr lang="en-US" sz="2400" dirty="0">
                <a:solidFill>
                  <a:srgbClr val="7030A0"/>
                </a:solidFill>
              </a:rPr>
              <a:t>B) Provide clear and concise summaries of findings</a:t>
            </a:r>
          </a:p>
          <a:p>
            <a:r>
              <a:rPr lang="en-US" sz="2400" dirty="0">
                <a:solidFill>
                  <a:srgbClr val="7030A0"/>
                </a:solidFill>
              </a:rPr>
              <a:t>C) Exclude recommendations for improvement</a:t>
            </a:r>
          </a:p>
          <a:p>
            <a:r>
              <a:rPr lang="en-US" sz="2400" dirty="0">
                <a:solidFill>
                  <a:srgbClr val="7030A0"/>
                </a:solidFill>
              </a:rPr>
              <a:t>D) Avoid using visual aids like graphs</a:t>
            </a:r>
          </a:p>
          <a:p>
            <a:endParaRPr lang="en-US" sz="2400" dirty="0">
              <a:solidFill>
                <a:srgbClr val="7030A0"/>
              </a:solidFill>
            </a:endParaRPr>
          </a:p>
        </p:txBody>
      </p:sp>
      <p:grpSp>
        <p:nvGrpSpPr>
          <p:cNvPr id="3" name="Group 2">
            <a:extLst>
              <a:ext uri="{FF2B5EF4-FFF2-40B4-BE49-F238E27FC236}">
                <a16:creationId xmlns:a16="http://schemas.microsoft.com/office/drawing/2014/main" id="{57F3E51E-8E0F-6EB9-B06F-80B7BEE3008F}"/>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68889A04-97E6-B1E1-E7C1-588CBFE92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737971A0-7D66-B58D-8DB4-DBE1C5D7CB64}"/>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6715651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20877-D336-F036-8973-77A44097115C}"/>
              </a:ext>
            </a:extLst>
          </p:cNvPr>
          <p:cNvSpPr>
            <a:spLocks noGrp="1"/>
          </p:cNvSpPr>
          <p:nvPr>
            <p:ph type="ctrTitle"/>
          </p:nvPr>
        </p:nvSpPr>
        <p:spPr>
          <a:xfrm>
            <a:off x="960999" y="826227"/>
            <a:ext cx="10704527" cy="2602773"/>
          </a:xfrm>
        </p:spPr>
        <p:txBody>
          <a:bodyPr anchor="b">
            <a:normAutofit/>
          </a:bodyPr>
          <a:lstStyle/>
          <a:p>
            <a:r>
              <a:rPr lang="en-US" sz="6500" dirty="0"/>
              <a:t>Continuous Improvement and Maintenance</a:t>
            </a:r>
          </a:p>
        </p:txBody>
      </p:sp>
      <p:sp>
        <p:nvSpPr>
          <p:cNvPr id="3" name="Title 1">
            <a:extLst>
              <a:ext uri="{FF2B5EF4-FFF2-40B4-BE49-F238E27FC236}">
                <a16:creationId xmlns:a16="http://schemas.microsoft.com/office/drawing/2014/main" id="{328CA5A1-0EE2-CD58-3A54-21B0E1409F37}"/>
              </a:ext>
            </a:extLst>
          </p:cNvPr>
          <p:cNvSpPr txBox="1">
            <a:spLocks/>
          </p:cNvSpPr>
          <p:nvPr/>
        </p:nvSpPr>
        <p:spPr>
          <a:xfrm>
            <a:off x="960998" y="4364182"/>
            <a:ext cx="10704527" cy="109955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300" b="1" dirty="0"/>
              <a:t>Performance testing is not a one-time process. Continuous improvement and maintenance ensure that applications remain performant as technology and user needs evolve.</a:t>
            </a:r>
          </a:p>
        </p:txBody>
      </p:sp>
      <p:grpSp>
        <p:nvGrpSpPr>
          <p:cNvPr id="4" name="Group 3">
            <a:extLst>
              <a:ext uri="{FF2B5EF4-FFF2-40B4-BE49-F238E27FC236}">
                <a16:creationId xmlns:a16="http://schemas.microsoft.com/office/drawing/2014/main" id="{C7151049-1B2D-7188-8413-C335B3BDB803}"/>
              </a:ext>
            </a:extLst>
          </p:cNvPr>
          <p:cNvGrpSpPr>
            <a:grpSpLocks noChangeAspect="1"/>
          </p:cNvGrpSpPr>
          <p:nvPr/>
        </p:nvGrpSpPr>
        <p:grpSpPr>
          <a:xfrm>
            <a:off x="9826702" y="5979230"/>
            <a:ext cx="2185416" cy="586592"/>
            <a:chOff x="9563100" y="1673029"/>
            <a:chExt cx="1389888" cy="373063"/>
          </a:xfrm>
        </p:grpSpPr>
        <p:pic>
          <p:nvPicPr>
            <p:cNvPr id="5" name="Picture 4">
              <a:extLst>
                <a:ext uri="{FF2B5EF4-FFF2-40B4-BE49-F238E27FC236}">
                  <a16:creationId xmlns:a16="http://schemas.microsoft.com/office/drawing/2014/main" id="{90E9AEB2-AC48-5D86-3004-5023CE3D6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6" name="Freeform 5">
              <a:extLst>
                <a:ext uri="{FF2B5EF4-FFF2-40B4-BE49-F238E27FC236}">
                  <a16:creationId xmlns:a16="http://schemas.microsoft.com/office/drawing/2014/main" id="{79D37690-ABEC-CF8C-37E5-56F770400A7A}"/>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3108467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500"/>
                                  </p:stCondLst>
                                  <p:iterate type="lt">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08351-CEBD-DE2D-8E1A-8BCFBC2E34EC}"/>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Implementing Performance Improvements</a:t>
            </a:r>
          </a:p>
        </p:txBody>
      </p:sp>
      <p:pic>
        <p:nvPicPr>
          <p:cNvPr id="5" name="Content Placeholder 4" descr="Three people wearing glasses smiling and looking at two tablets">
            <a:extLst>
              <a:ext uri="{FF2B5EF4-FFF2-40B4-BE49-F238E27FC236}">
                <a16:creationId xmlns:a16="http://schemas.microsoft.com/office/drawing/2014/main" id="{3B00504C-6E26-4B97-ADF6-BB3CE07EFD92}"/>
              </a:ext>
            </a:extLst>
          </p:cNvPr>
          <p:cNvPicPr>
            <a:picLocks noGrp="1" noChangeAspect="1"/>
          </p:cNvPicPr>
          <p:nvPr>
            <p:ph sz="half" idx="1"/>
          </p:nvPr>
        </p:nvPicPr>
        <p:blipFill>
          <a:blip r:embed="rId3"/>
          <a:srcRect l="32217" r="12717" b="2"/>
          <a:stretch/>
        </p:blipFill>
        <p:spPr>
          <a:xfrm>
            <a:off x="97002" y="914400"/>
            <a:ext cx="4416532" cy="5353523"/>
          </a:xfrm>
          <a:prstGeom prst="rect">
            <a:avLst/>
          </a:prstGeom>
        </p:spPr>
      </p:pic>
      <p:sp>
        <p:nvSpPr>
          <p:cNvPr id="4" name="Content Placeholder 3">
            <a:extLst>
              <a:ext uri="{FF2B5EF4-FFF2-40B4-BE49-F238E27FC236}">
                <a16:creationId xmlns:a16="http://schemas.microsoft.com/office/drawing/2014/main" id="{029AEFE2-BC1C-49D3-A92B-9540E42736D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600" b="1" dirty="0"/>
              <a:t>Importance of Performance Improvements</a:t>
            </a:r>
          </a:p>
          <a:p>
            <a:pPr marL="0" lvl="1" indent="0">
              <a:buNone/>
            </a:pPr>
            <a:r>
              <a:rPr lang="en-US" sz="1600" dirty="0"/>
              <a:t>Implementing performance enhancements is essential to address test findings and improve overall system functionality.</a:t>
            </a:r>
          </a:p>
          <a:p>
            <a:pPr marL="0" indent="0">
              <a:spcBef>
                <a:spcPts val="2500"/>
              </a:spcBef>
              <a:buNone/>
            </a:pPr>
            <a:r>
              <a:rPr lang="en-US" sz="1600" b="1" dirty="0"/>
              <a:t>User Experience Elevation</a:t>
            </a:r>
          </a:p>
          <a:p>
            <a:pPr marL="0" lvl="1" indent="0">
              <a:buNone/>
            </a:pPr>
            <a:r>
              <a:rPr lang="en-US" sz="1600" dirty="0"/>
              <a:t>Enhancements play a significant role in elevating user experience, leading to higher satisfaction and engagement.</a:t>
            </a:r>
          </a:p>
          <a:p>
            <a:pPr marL="0" indent="0">
              <a:spcBef>
                <a:spcPts val="2500"/>
              </a:spcBef>
              <a:buNone/>
            </a:pPr>
            <a:r>
              <a:rPr lang="en-US" sz="1600" b="1" dirty="0"/>
              <a:t>Application Efficiency</a:t>
            </a:r>
          </a:p>
          <a:p>
            <a:pPr marL="0" lvl="1" indent="0">
              <a:buNone/>
            </a:pPr>
            <a:r>
              <a:rPr lang="en-US" sz="1600" dirty="0"/>
              <a:t>Improving performance directly contributes to application efficiency, optimizing resource usage and response time.</a:t>
            </a:r>
          </a:p>
        </p:txBody>
      </p:sp>
      <p:grpSp>
        <p:nvGrpSpPr>
          <p:cNvPr id="3" name="Group 2">
            <a:extLst>
              <a:ext uri="{FF2B5EF4-FFF2-40B4-BE49-F238E27FC236}">
                <a16:creationId xmlns:a16="http://schemas.microsoft.com/office/drawing/2014/main" id="{B60DA928-5285-3F2B-ABCA-765D91B969CA}"/>
              </a:ext>
            </a:extLst>
          </p:cNvPr>
          <p:cNvGrpSpPr>
            <a:grpSpLocks noChangeAspect="1"/>
          </p:cNvGrpSpPr>
          <p:nvPr/>
        </p:nvGrpSpPr>
        <p:grpSpPr>
          <a:xfrm>
            <a:off x="9826702" y="5979230"/>
            <a:ext cx="2185416" cy="586592"/>
            <a:chOff x="9563100" y="1673029"/>
            <a:chExt cx="1389888" cy="373063"/>
          </a:xfrm>
        </p:grpSpPr>
        <p:pic>
          <p:nvPicPr>
            <p:cNvPr id="6" name="Picture 5">
              <a:extLst>
                <a:ext uri="{FF2B5EF4-FFF2-40B4-BE49-F238E27FC236}">
                  <a16:creationId xmlns:a16="http://schemas.microsoft.com/office/drawing/2014/main" id="{726D5464-A6BF-86B7-1F85-49366CAE0F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990EC8A4-0A93-3699-9A81-84B4E79C59A9}"/>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3205984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9269C4-C06D-9108-FEA6-BA68B8D053E2}"/>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b="1"/>
              <a:t>Essential Tools for Performance Testing</a:t>
            </a:r>
          </a:p>
        </p:txBody>
      </p:sp>
      <p:pic>
        <p:nvPicPr>
          <p:cNvPr id="5" name="Content Placeholder 4" descr="Document with repair tools symbol on blue abstract background">
            <a:extLst>
              <a:ext uri="{FF2B5EF4-FFF2-40B4-BE49-F238E27FC236}">
                <a16:creationId xmlns:a16="http://schemas.microsoft.com/office/drawing/2014/main" id="{C0A42FC6-5333-4A34-BA01-6BF8B4FA0BF4}"/>
              </a:ext>
            </a:extLst>
          </p:cNvPr>
          <p:cNvPicPr>
            <a:picLocks noGrp="1" noChangeAspect="1"/>
          </p:cNvPicPr>
          <p:nvPr>
            <p:ph sz="half" idx="1"/>
          </p:nvPr>
        </p:nvPicPr>
        <p:blipFill>
          <a:blip r:embed="rId3"/>
          <a:srcRect l="14477" r="15573" b="-2"/>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F56084F-3A30-1D39-9567-E5DE92C15209}"/>
              </a:ext>
            </a:extLst>
          </p:cNvPr>
          <p:cNvSpPr>
            <a:spLocks noGrp="1"/>
          </p:cNvSpPr>
          <p:nvPr>
            <p:ph sz="half" idx="2"/>
          </p:nvPr>
        </p:nvSpPr>
        <p:spPr>
          <a:xfrm>
            <a:off x="7269905" y="2116904"/>
            <a:ext cx="4261104" cy="4181020"/>
          </a:xfrm>
        </p:spPr>
        <p:txBody>
          <a:bodyPr vert="horz" lIns="91440" tIns="45720" rIns="91440" bIns="45720" rtlCol="0">
            <a:normAutofit fontScale="92500" lnSpcReduction="20000"/>
          </a:bodyPr>
          <a:lstStyle/>
          <a:p>
            <a:pPr algn="l">
              <a:spcBef>
                <a:spcPts val="375"/>
              </a:spcBef>
              <a:spcAft>
                <a:spcPts val="375"/>
              </a:spcAft>
            </a:pPr>
            <a:r>
              <a:rPr lang="en-US" sz="1600" b="1" i="0" dirty="0">
                <a:effectLst/>
                <a:latin typeface="Segoe UI" panose="020B0502040204020203" pitchFamily="34" charset="0"/>
              </a:rPr>
              <a:t>Scripting Tools:</a:t>
            </a:r>
            <a:endParaRPr lang="en-US" sz="1600" b="0" i="0" dirty="0">
              <a:effectLst/>
              <a:latin typeface="Segoe UI" panose="020B0502040204020203" pitchFamily="34" charset="0"/>
            </a:endParaRPr>
          </a:p>
          <a:p>
            <a:pPr algn="l">
              <a:buFont typeface="Arial" panose="020B0604020202020204" pitchFamily="34" charset="0"/>
              <a:buChar char="•"/>
            </a:pPr>
            <a:r>
              <a:rPr lang="en-US" sz="1600" b="0" i="0" dirty="0">
                <a:effectLst/>
                <a:latin typeface="Segoe UI" panose="020B0502040204020203" pitchFamily="34" charset="0"/>
              </a:rPr>
              <a:t>JMeter</a:t>
            </a:r>
          </a:p>
          <a:p>
            <a:pPr algn="l">
              <a:buFont typeface="Arial" panose="020B0604020202020204" pitchFamily="34" charset="0"/>
              <a:buChar char="•"/>
            </a:pPr>
            <a:r>
              <a:rPr lang="en-US" sz="1600" b="0" i="0" dirty="0">
                <a:effectLst/>
                <a:latin typeface="Segoe UI" panose="020B0502040204020203" pitchFamily="34" charset="0"/>
              </a:rPr>
              <a:t>LoadRunner</a:t>
            </a:r>
          </a:p>
          <a:p>
            <a:pPr algn="l">
              <a:buFont typeface="Arial" panose="020B0604020202020204" pitchFamily="34" charset="0"/>
              <a:buChar char="•"/>
            </a:pPr>
            <a:r>
              <a:rPr lang="en-US" sz="1600" b="0" i="0" dirty="0">
                <a:effectLst/>
                <a:latin typeface="Segoe UI" panose="020B0502040204020203" pitchFamily="34" charset="0"/>
              </a:rPr>
              <a:t>Gatling</a:t>
            </a:r>
          </a:p>
          <a:p>
            <a:pPr algn="l">
              <a:buFont typeface="Arial" panose="020B0604020202020204" pitchFamily="34" charset="0"/>
              <a:buChar char="•"/>
            </a:pPr>
            <a:r>
              <a:rPr lang="en-US" sz="1600" b="0" i="0" dirty="0">
                <a:effectLst/>
                <a:latin typeface="Segoe UI" panose="020B0502040204020203" pitchFamily="34" charset="0"/>
              </a:rPr>
              <a:t>Neoload</a:t>
            </a:r>
          </a:p>
          <a:p>
            <a:pPr marL="0" indent="0" algn="l">
              <a:buNone/>
            </a:pPr>
            <a:endParaRPr lang="en-US" sz="1600" b="0" i="0" dirty="0">
              <a:effectLst/>
              <a:latin typeface="Segoe UI" panose="020B0502040204020203" pitchFamily="34" charset="0"/>
            </a:endParaRPr>
          </a:p>
          <a:p>
            <a:r>
              <a:rPr lang="en-US" sz="1600" b="1" i="0" dirty="0">
                <a:effectLst/>
                <a:latin typeface="Segoe UI" panose="020B0502040204020203" pitchFamily="34" charset="0"/>
              </a:rPr>
              <a:t>Execution Tools:</a:t>
            </a:r>
            <a:endParaRPr lang="en-US" sz="1600" b="0" i="0" dirty="0">
              <a:effectLst/>
              <a:latin typeface="Segoe UI" panose="020B0502040204020203" pitchFamily="34" charset="0"/>
            </a:endParaRPr>
          </a:p>
          <a:p>
            <a:pPr algn="l">
              <a:buFont typeface="Arial" panose="020B0604020202020204" pitchFamily="34" charset="0"/>
              <a:buChar char="•"/>
            </a:pPr>
            <a:r>
              <a:rPr lang="en-US" sz="1600" b="0" i="0" dirty="0">
                <a:effectLst/>
                <a:latin typeface="Segoe UI" panose="020B0502040204020203" pitchFamily="34" charset="0"/>
              </a:rPr>
              <a:t>Performance Center</a:t>
            </a:r>
          </a:p>
          <a:p>
            <a:pPr algn="l">
              <a:buFont typeface="Arial" panose="020B0604020202020204" pitchFamily="34" charset="0"/>
              <a:buChar char="•"/>
            </a:pPr>
            <a:r>
              <a:rPr lang="en-US" sz="1600" dirty="0">
                <a:latin typeface="Segoe UI" panose="020B0502040204020203" pitchFamily="34" charset="0"/>
              </a:rPr>
              <a:t>Load Runner Cloud(SRL)</a:t>
            </a:r>
          </a:p>
          <a:p>
            <a:pPr marL="0" indent="0" algn="l">
              <a:buNone/>
            </a:pPr>
            <a:endParaRPr lang="en-US" sz="1600" b="0" i="0" dirty="0">
              <a:effectLst/>
              <a:latin typeface="Segoe UI" panose="020B0502040204020203" pitchFamily="34" charset="0"/>
            </a:endParaRPr>
          </a:p>
          <a:p>
            <a:pPr algn="l">
              <a:spcBef>
                <a:spcPts val="375"/>
              </a:spcBef>
              <a:spcAft>
                <a:spcPts val="375"/>
              </a:spcAft>
            </a:pPr>
            <a:r>
              <a:rPr lang="en-US" sz="1600" b="1" i="0" dirty="0">
                <a:effectLst/>
                <a:latin typeface="Segoe UI" panose="020B0502040204020203" pitchFamily="34" charset="0"/>
              </a:rPr>
              <a:t>Monitoring Tools:</a:t>
            </a:r>
            <a:endParaRPr lang="en-US" sz="1600" b="0" i="0" dirty="0">
              <a:effectLst/>
              <a:latin typeface="Segoe UI" panose="020B0502040204020203" pitchFamily="34" charset="0"/>
            </a:endParaRPr>
          </a:p>
          <a:p>
            <a:pPr algn="l">
              <a:buFont typeface="Arial" panose="020B0604020202020204" pitchFamily="34" charset="0"/>
              <a:buChar char="•"/>
            </a:pPr>
            <a:r>
              <a:rPr lang="en-US" sz="1600" b="0" i="0" dirty="0">
                <a:effectLst/>
                <a:latin typeface="Segoe UI" panose="020B0502040204020203" pitchFamily="34" charset="0"/>
              </a:rPr>
              <a:t>Dynatrace</a:t>
            </a:r>
          </a:p>
          <a:p>
            <a:pPr algn="l">
              <a:buFont typeface="Arial" panose="020B0604020202020204" pitchFamily="34" charset="0"/>
              <a:buChar char="•"/>
            </a:pPr>
            <a:r>
              <a:rPr lang="en-US" sz="1600" b="0" i="0" dirty="0">
                <a:effectLst/>
                <a:latin typeface="Segoe UI" panose="020B0502040204020203" pitchFamily="34" charset="0"/>
              </a:rPr>
              <a:t>New Relic</a:t>
            </a:r>
          </a:p>
          <a:p>
            <a:pPr algn="l">
              <a:buFont typeface="Arial" panose="020B0604020202020204" pitchFamily="34" charset="0"/>
              <a:buChar char="•"/>
            </a:pPr>
            <a:r>
              <a:rPr lang="en-US" sz="1600" b="0" i="0" dirty="0">
                <a:effectLst/>
                <a:latin typeface="Segoe UI" panose="020B0502040204020203" pitchFamily="34" charset="0"/>
              </a:rPr>
              <a:t>AppDynamics</a:t>
            </a:r>
          </a:p>
        </p:txBody>
      </p:sp>
      <p:grpSp>
        <p:nvGrpSpPr>
          <p:cNvPr id="3" name="Group 2">
            <a:extLst>
              <a:ext uri="{FF2B5EF4-FFF2-40B4-BE49-F238E27FC236}">
                <a16:creationId xmlns:a16="http://schemas.microsoft.com/office/drawing/2014/main" id="{BE0775CB-6A7D-4408-02CB-5AC2F458F7DE}"/>
              </a:ext>
            </a:extLst>
          </p:cNvPr>
          <p:cNvGrpSpPr>
            <a:grpSpLocks noChangeAspect="1"/>
          </p:cNvGrpSpPr>
          <p:nvPr/>
        </p:nvGrpSpPr>
        <p:grpSpPr>
          <a:xfrm>
            <a:off x="9826702" y="5979230"/>
            <a:ext cx="2185416" cy="586592"/>
            <a:chOff x="9563100" y="1673029"/>
            <a:chExt cx="1389888" cy="373063"/>
          </a:xfrm>
        </p:grpSpPr>
        <p:pic>
          <p:nvPicPr>
            <p:cNvPr id="6" name="Picture 5">
              <a:extLst>
                <a:ext uri="{FF2B5EF4-FFF2-40B4-BE49-F238E27FC236}">
                  <a16:creationId xmlns:a16="http://schemas.microsoft.com/office/drawing/2014/main" id="{C29B8AFC-2615-4768-3004-CAE6684D8B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680F629E-2D4F-3FDC-89DC-741C6783422E}"/>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FF00"/>
                </a:solidFill>
                <a:effectLst/>
                <a:uLnTx/>
                <a:uFillTx/>
              </a:endParaRPr>
            </a:p>
          </p:txBody>
        </p:sp>
      </p:grpSp>
    </p:spTree>
    <p:extLst>
      <p:ext uri="{BB962C8B-B14F-4D97-AF65-F5344CB8AC3E}">
        <p14:creationId xmlns:p14="http://schemas.microsoft.com/office/powerpoint/2010/main" val="4245081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59E9ED-B6B9-4A4B-B1C2-E7A70A832CE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464EB7-C20D-BE24-0319-2B809FF7DAF4}"/>
              </a:ext>
            </a:extLst>
          </p:cNvPr>
          <p:cNvSpPr>
            <a:spLocks noGrp="1"/>
          </p:cNvSpPr>
          <p:nvPr>
            <p:ph type="title"/>
          </p:nvPr>
        </p:nvSpPr>
        <p:spPr>
          <a:xfrm>
            <a:off x="638882" y="3577456"/>
            <a:ext cx="10909640" cy="1687814"/>
          </a:xfrm>
        </p:spPr>
        <p:txBody>
          <a:bodyPr vert="horz" lIns="91440" tIns="45720" rIns="91440" bIns="45720" rtlCol="0" anchor="b">
            <a:normAutofit/>
          </a:bodyPr>
          <a:lstStyle/>
          <a:p>
            <a:pPr algn="ctr"/>
            <a:r>
              <a:rPr lang="en-US" sz="6600" kern="1200" dirty="0">
                <a:solidFill>
                  <a:schemeClr val="tx1"/>
                </a:solidFill>
                <a:latin typeface="+mj-lt"/>
                <a:ea typeface="+mj-ea"/>
                <a:cs typeface="+mj-cs"/>
              </a:rPr>
              <a:t>Thank You</a:t>
            </a:r>
          </a:p>
        </p:txBody>
      </p:sp>
      <p:sp>
        <p:nvSpPr>
          <p:cNvPr id="14"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6AC5A581-A3A0-DAAA-42D5-9152F6A68C35}"/>
              </a:ext>
            </a:extLst>
          </p:cNvPr>
          <p:cNvGrpSpPr>
            <a:grpSpLocks noChangeAspect="1"/>
          </p:cNvGrpSpPr>
          <p:nvPr/>
        </p:nvGrpSpPr>
        <p:grpSpPr>
          <a:xfrm>
            <a:off x="2873908" y="1098445"/>
            <a:ext cx="6439588" cy="1728464"/>
            <a:chOff x="9563100" y="1673029"/>
            <a:chExt cx="1389888" cy="373063"/>
          </a:xfrm>
        </p:grpSpPr>
        <p:pic>
          <p:nvPicPr>
            <p:cNvPr id="6" name="Picture 5">
              <a:extLst>
                <a:ext uri="{FF2B5EF4-FFF2-40B4-BE49-F238E27FC236}">
                  <a16:creationId xmlns:a16="http://schemas.microsoft.com/office/drawing/2014/main" id="{6729C3C2-0BAF-A15B-4D6C-A172DC42C8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7" name="Freeform 5">
              <a:extLst>
                <a:ext uri="{FF2B5EF4-FFF2-40B4-BE49-F238E27FC236}">
                  <a16:creationId xmlns:a16="http://schemas.microsoft.com/office/drawing/2014/main" id="{7DEB9865-532E-37E8-60E8-F1CC507C3EE0}"/>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7900BF"/>
            </a:solidFill>
            <a:ln w="9525">
              <a:solidFill>
                <a:srgbClr val="7900BF"/>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FF00"/>
                </a:solidFill>
                <a:effectLst/>
                <a:uLnTx/>
                <a:uFillTx/>
              </a:endParaRPr>
            </a:p>
          </p:txBody>
        </p:sp>
      </p:grpSp>
    </p:spTree>
    <p:extLst>
      <p:ext uri="{BB962C8B-B14F-4D97-AF65-F5344CB8AC3E}">
        <p14:creationId xmlns:p14="http://schemas.microsoft.com/office/powerpoint/2010/main" val="2191263437"/>
      </p:ext>
    </p:extLst>
  </p:cSld>
  <p:clrMapOvr>
    <a:masterClrMapping/>
  </p:clrMapOvr>
  <p:transition>
    <p:fade/>
  </p:transition>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bfa236d-8472-42aa-9a40-ab46036c5596}" enabled="1" method="Privileged" siteId="{e0793d39-0939-496d-b129-198edd916feb}" contentBits="0" removed="0"/>
</clbl:labelList>
</file>

<file path=docProps/app.xml><?xml version="1.0" encoding="utf-8"?>
<Properties xmlns="http://schemas.openxmlformats.org/officeDocument/2006/extended-properties" xmlns:vt="http://schemas.openxmlformats.org/officeDocument/2006/docPropsVTypes">
  <Template>Office 2013 - 2022 Theme</Template>
  <TotalTime>68</TotalTime>
  <Words>2235</Words>
  <Application>Microsoft Office PowerPoint</Application>
  <PresentationFormat>Widescreen</PresentationFormat>
  <Paragraphs>240</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Arial</vt:lpstr>
      <vt:lpstr>Calibri</vt:lpstr>
      <vt:lpstr>Calibri Light</vt:lpstr>
      <vt:lpstr>Segoe UI</vt:lpstr>
      <vt:lpstr>Office 2013 - 2022 Theme</vt:lpstr>
      <vt:lpstr>Performance Testing: Overview and Lifecycle</vt:lpstr>
      <vt:lpstr>Agenda Overview</vt:lpstr>
      <vt:lpstr>Introduction to Performance Testing</vt:lpstr>
      <vt:lpstr>Definition and Importance</vt:lpstr>
      <vt:lpstr>Types of Performance Testing</vt:lpstr>
      <vt:lpstr>Quiz</vt:lpstr>
      <vt:lpstr>Key Performance Metrics</vt:lpstr>
      <vt:lpstr>Planning and Preparation</vt:lpstr>
      <vt:lpstr>Defining Objectives and Scope</vt:lpstr>
      <vt:lpstr>Selecting Tools and Environments</vt:lpstr>
      <vt:lpstr>Quiz</vt:lpstr>
      <vt:lpstr>Designing Test Cases</vt:lpstr>
      <vt:lpstr>Creating Test Scenarios</vt:lpstr>
      <vt:lpstr>Determining Test Data Requirements</vt:lpstr>
      <vt:lpstr>Defining Test Scripts and Automation</vt:lpstr>
      <vt:lpstr>Quiz- Practical Questions</vt:lpstr>
      <vt:lpstr>Test Execution and Monitoring</vt:lpstr>
      <vt:lpstr>Executing Tests and Collecting Data</vt:lpstr>
      <vt:lpstr>Handling Performance Issues and Bottlenecks</vt:lpstr>
      <vt:lpstr>Analyzing Results and Reporting</vt:lpstr>
      <vt:lpstr>Interpreting Performance Data</vt:lpstr>
      <vt:lpstr>Identifying Areas for Improvement</vt:lpstr>
      <vt:lpstr>Creating Comprehensive Reports</vt:lpstr>
      <vt:lpstr>Quiz- Practical Questions</vt:lpstr>
      <vt:lpstr>Continuous Improvement and Maintenance</vt:lpstr>
      <vt:lpstr>Implementing Performance Improvements</vt:lpstr>
      <vt:lpstr>Essential Tools for Performance Testing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Khisti, Yamini</dc:creator>
  <cp:lastModifiedBy>Mutalikdesai, Suma</cp:lastModifiedBy>
  <cp:revision>4</cp:revision>
  <dcterms:created xsi:type="dcterms:W3CDTF">2025-04-01T17:02:33Z</dcterms:created>
  <dcterms:modified xsi:type="dcterms:W3CDTF">2026-10-12T10:13:55Z</dcterms:modified>
</cp:coreProperties>
</file>